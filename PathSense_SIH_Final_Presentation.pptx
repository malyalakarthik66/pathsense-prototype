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imes New Roman Bold" charset="1" panose="02020803070505020304"/>
      <p:regular r:id="rId16"/>
    </p:embeddedFont>
    <p:embeddedFont>
      <p:font typeface="Garamond Bold" charset="1" panose="02020804030307010803"/>
      <p:regular r:id="rId17"/>
    </p:embeddedFont>
    <p:embeddedFont>
      <p:font typeface="Arial Bold" charset="1" panose="020B0704020202020204"/>
      <p:regular r:id="rId18"/>
    </p:embeddedFon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Calibri (MS)" charset="1" panose="020F0502020204030204"/>
      <p:regular r:id="rId21"/>
    </p:embeddedFont>
    <p:embeddedFont>
      <p:font typeface="Arial" charset="1" panose="020B06040202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jpe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8.jp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9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jpg"/><Relationship Id="rId15" Type="http://schemas.openxmlformats.org/officeDocument/2006/relationships/image" Target="../media/image29.png"/><Relationship Id="rId16" Type="http://schemas.openxmlformats.org/officeDocument/2006/relationships/image" Target="../media/image30.png"/><Relationship Id="rId17" Type="http://schemas.openxmlformats.org/officeDocument/2006/relationships/image" Target="../media/image31.png"/><Relationship Id="rId18" Type="http://schemas.openxmlformats.org/officeDocument/2006/relationships/image" Target="../media/image32.png"/><Relationship Id="rId19" Type="http://schemas.openxmlformats.org/officeDocument/2006/relationships/image" Target="../media/image33.png"/><Relationship Id="rId20" Type="http://schemas.openxmlformats.org/officeDocument/2006/relationships/image" Target="../media/image34.png"/><Relationship Id="rId21" Type="http://schemas.openxmlformats.org/officeDocument/2006/relationships/image" Target="../media/image35.png"/><Relationship Id="rId22" Type="http://schemas.openxmlformats.org/officeDocument/2006/relationships/image" Target="../media/image36.png"/><Relationship Id="rId23" Type="http://schemas.openxmlformats.org/officeDocument/2006/relationships/image" Target="../media/image37.png"/><Relationship Id="rId24" Type="http://schemas.openxmlformats.org/officeDocument/2006/relationships/image" Target="../media/image38.png"/><Relationship Id="rId25" Type="http://schemas.openxmlformats.org/officeDocument/2006/relationships/image" Target="../media/image3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20.png"/><Relationship Id="rId5" Type="http://schemas.openxmlformats.org/officeDocument/2006/relationships/image" Target="../media/image40.jpg"/><Relationship Id="rId6" Type="http://schemas.openxmlformats.org/officeDocument/2006/relationships/image" Target="../media/image41.jpg"/><Relationship Id="rId7" Type="http://schemas.openxmlformats.org/officeDocument/2006/relationships/image" Target="../media/image42.jpg"/><Relationship Id="rId8" Type="http://schemas.openxmlformats.org/officeDocument/2006/relationships/image" Target="../media/image21.png"/><Relationship Id="rId9" Type="http://schemas.openxmlformats.org/officeDocument/2006/relationships/image" Target="../media/image43.jpg"/><Relationship Id="rId10" Type="http://schemas.openxmlformats.org/officeDocument/2006/relationships/image" Target="../media/image44.jpg"/><Relationship Id="rId11" Type="http://schemas.openxmlformats.org/officeDocument/2006/relationships/image" Target="../media/image45.png"/><Relationship Id="rId12" Type="http://schemas.openxmlformats.org/officeDocument/2006/relationships/hyperlink" Target="https://github.com/MalyalaKarthik66/pathsense-prototype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46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48.png"/><Relationship Id="rId5" Type="http://schemas.openxmlformats.org/officeDocument/2006/relationships/image" Target="../media/image26.png"/><Relationship Id="rId6" Type="http://schemas.openxmlformats.org/officeDocument/2006/relationships/image" Target="../media/image49.png"/><Relationship Id="rId7" Type="http://schemas.openxmlformats.org/officeDocument/2006/relationships/image" Target="../media/image18.png"/><Relationship Id="rId8" Type="http://schemas.openxmlformats.org/officeDocument/2006/relationships/image" Target="../media/image47.png"/><Relationship Id="rId9" Type="http://schemas.openxmlformats.org/officeDocument/2006/relationships/image" Target="../media/image50.png"/><Relationship Id="rId10" Type="http://schemas.openxmlformats.org/officeDocument/2006/relationships/image" Target="../media/image19.png"/><Relationship Id="rId11" Type="http://schemas.openxmlformats.org/officeDocument/2006/relationships/image" Target="../media/image5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46.png"/><Relationship Id="rId5" Type="http://schemas.openxmlformats.org/officeDocument/2006/relationships/image" Target="../media/image50.png"/><Relationship Id="rId6" Type="http://schemas.openxmlformats.org/officeDocument/2006/relationships/image" Target="../media/image52.jpg"/><Relationship Id="rId7" Type="http://schemas.openxmlformats.org/officeDocument/2006/relationships/image" Target="../media/image51.png"/><Relationship Id="rId8" Type="http://schemas.openxmlformats.org/officeDocument/2006/relationships/image" Target="../media/image53.jpg"/><Relationship Id="rId9" Type="http://schemas.openxmlformats.org/officeDocument/2006/relationships/image" Target="../media/image49.png"/><Relationship Id="rId10" Type="http://schemas.openxmlformats.org/officeDocument/2006/relationships/image" Target="../media/image54.jpg"/><Relationship Id="rId11" Type="http://schemas.openxmlformats.org/officeDocument/2006/relationships/image" Target="../media/image19.png"/><Relationship Id="rId12" Type="http://schemas.openxmlformats.org/officeDocument/2006/relationships/image" Target="../media/image55.jpg"/><Relationship Id="rId13" Type="http://schemas.openxmlformats.org/officeDocument/2006/relationships/image" Target="../media/image47.png"/><Relationship Id="rId14" Type="http://schemas.openxmlformats.org/officeDocument/2006/relationships/image" Target="../media/image56.jpg"/><Relationship Id="rId15" Type="http://schemas.openxmlformats.org/officeDocument/2006/relationships/image" Target="../media/image48.png"/><Relationship Id="rId16" Type="http://schemas.openxmlformats.org/officeDocument/2006/relationships/image" Target="../media/image26.png"/><Relationship Id="rId17" Type="http://schemas.openxmlformats.org/officeDocument/2006/relationships/image" Target="../media/image25.png"/><Relationship Id="rId18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61.png"/><Relationship Id="rId10" Type="http://schemas.openxmlformats.org/officeDocument/2006/relationships/image" Target="../media/image62.png"/><Relationship Id="rId11" Type="http://schemas.openxmlformats.org/officeDocument/2006/relationships/image" Target="../media/image63.png"/><Relationship Id="rId12" Type="http://schemas.openxmlformats.org/officeDocument/2006/relationships/image" Target="../media/image64.png"/><Relationship Id="rId13" Type="http://schemas.openxmlformats.org/officeDocument/2006/relationships/image" Target="../media/image6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46.png"/><Relationship Id="rId5" Type="http://schemas.openxmlformats.org/officeDocument/2006/relationships/image" Target="../media/image66.png"/><Relationship Id="rId6" Type="http://schemas.openxmlformats.org/officeDocument/2006/relationships/image" Target="../media/image51.png"/><Relationship Id="rId7" Type="http://schemas.openxmlformats.org/officeDocument/2006/relationships/image" Target="../media/image18.png"/><Relationship Id="rId8" Type="http://schemas.openxmlformats.org/officeDocument/2006/relationships/image" Target="../media/image25.png"/><Relationship Id="rId9" Type="http://schemas.openxmlformats.org/officeDocument/2006/relationships/image" Target="../media/image23.png"/><Relationship Id="rId10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47.png"/><Relationship Id="rId5" Type="http://schemas.openxmlformats.org/officeDocument/2006/relationships/image" Target="../media/image24.png"/><Relationship Id="rId6" Type="http://schemas.openxmlformats.org/officeDocument/2006/relationships/hyperlink" Target="https://arxiv.org/abs/1604.07446" TargetMode="External"/><Relationship Id="rId7" Type="http://schemas.openxmlformats.org/officeDocument/2006/relationships/image" Target="../media/image9.png"/><Relationship Id="rId8" Type="http://schemas.openxmlformats.org/officeDocument/2006/relationships/hyperlink" Target="https://arxiv.org/abs/1506.02640" TargetMode="External"/><Relationship Id="rId9" Type="http://schemas.openxmlformats.org/officeDocument/2006/relationships/image" Target="../media/image22.png"/><Relationship Id="rId10" Type="http://schemas.openxmlformats.org/officeDocument/2006/relationships/hyperlink" Target="https://arxiv.org/abs/2110.06864" TargetMode="External"/><Relationship Id="rId11" Type="http://schemas.openxmlformats.org/officeDocument/2006/relationships/image" Target="../media/image19.png"/><Relationship Id="rId12" Type="http://schemas.openxmlformats.org/officeDocument/2006/relationships/hyperlink" Target="https://arxiv.org/abs/2406.09414" TargetMode="External"/><Relationship Id="rId13" Type="http://schemas.openxmlformats.org/officeDocument/2006/relationships/image" Target="../media/image23.png"/><Relationship Id="rId14" Type="http://schemas.openxmlformats.org/officeDocument/2006/relationships/hyperlink" Target="https://openaccess.thecvf.com" TargetMode="External"/><Relationship Id="rId15" Type="http://schemas.openxmlformats.org/officeDocument/2006/relationships/image" Target="../media/image49.png"/><Relationship Id="rId16" Type="http://schemas.openxmlformats.org/officeDocument/2006/relationships/hyperlink" Target="https://idd.insaan.iiit.ac.in" TargetMode="External"/><Relationship Id="rId17" Type="http://schemas.openxmlformats.org/officeDocument/2006/relationships/image" Target="../media/image46.png"/><Relationship Id="rId18" Type="http://schemas.openxmlformats.org/officeDocument/2006/relationships/hyperlink" Target="https://sih.gov.in" TargetMode="External"/><Relationship Id="rId19" Type="http://schemas.openxmlformats.org/officeDocument/2006/relationships/image" Target="../media/image26.png"/><Relationship Id="rId20" Type="http://schemas.openxmlformats.org/officeDocument/2006/relationships/hyperlink" Target="https://morth.nic.in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2333" y="2573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59969" y="990067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-827303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087600" y="8075"/>
            <a:ext cx="3051136" cy="1443918"/>
          </a:xfrm>
          <a:custGeom>
            <a:avLst/>
            <a:gdLst/>
            <a:ahLst/>
            <a:cxnLst/>
            <a:rect r="r" b="b" t="t" l="l"/>
            <a:pathLst>
              <a:path h="1443918" w="3051136">
                <a:moveTo>
                  <a:pt x="0" y="0"/>
                </a:moveTo>
                <a:lnTo>
                  <a:pt x="3051136" y="0"/>
                </a:lnTo>
                <a:lnTo>
                  <a:pt x="3051136" y="1443918"/>
                </a:lnTo>
                <a:lnTo>
                  <a:pt x="0" y="14439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88369" y="2834640"/>
            <a:ext cx="8703945" cy="6991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</a:pPr>
          </a:p>
          <a:p>
            <a:pPr algn="l" marL="651510" indent="-325755" lvl="1">
              <a:lnSpc>
                <a:spcPct val="100000"/>
              </a:lnSpc>
              <a:spcAft>
                <a:spcPts val="1600"/>
              </a:spcAft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</a:t>
            </a:r>
            <a:r>
              <a:rPr lang="en-US" b="0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SIH26037</a:t>
            </a:r>
          </a:p>
          <a:p>
            <a:pPr algn="l" marL="651510" indent="-325755" lvl="1">
              <a:lnSpc>
                <a:spcPct val="100000"/>
              </a:lnSpc>
              <a:spcAft>
                <a:spcPts val="1600"/>
              </a:spcAft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– </a:t>
            </a:r>
            <a:r>
              <a:rPr lang="en-US" b="0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Adaptive Path Planning and Collision Avoidance for Autonomous Vehicles on Unstructured Indian Roads</a:t>
            </a:r>
          </a:p>
          <a:p>
            <a:pPr algn="l" marL="651510" indent="-325755" lvl="1">
              <a:lnSpc>
                <a:spcPct val="100000"/>
              </a:lnSpc>
              <a:spcAft>
                <a:spcPts val="1600"/>
              </a:spcAft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 – </a:t>
            </a:r>
            <a:r>
              <a:rPr lang="en-US" b="0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 Vehicles</a:t>
            </a:r>
          </a:p>
          <a:p>
            <a:pPr algn="l" marL="651510" indent="-325755" lvl="1">
              <a:lnSpc>
                <a:spcPct val="100000"/>
              </a:lnSpc>
              <a:spcAft>
                <a:spcPts val="1600"/>
              </a:spcAft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 – </a:t>
            </a:r>
            <a:r>
              <a:rPr lang="en-US" b="0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</a:p>
          <a:p>
            <a:pPr algn="l" marL="651510" indent="-325755" lvl="1">
              <a:lnSpc>
                <a:spcPct val="100000"/>
              </a:lnSpc>
              <a:spcAft>
                <a:spcPts val="1600"/>
              </a:spcAft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 – </a:t>
            </a:r>
            <a:r>
              <a:rPr lang="en-US" b="0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161638</a:t>
            </a:r>
          </a:p>
          <a:p>
            <a:pPr algn="l" marL="651510" indent="-325755" lvl="1">
              <a:lnSpc>
                <a:spcPct val="100000"/>
              </a:lnSpc>
              <a:spcAft>
                <a:spcPts val="1600"/>
              </a:spcAft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– </a:t>
            </a:r>
            <a:r>
              <a:rPr lang="en-US" b="0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Ctrl Alt Elite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4501" y="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PATHSENSE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Ctrl Alt Elite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5003633" y="135291"/>
            <a:ext cx="3051136" cy="1443918"/>
          </a:xfrm>
          <a:custGeom>
            <a:avLst/>
            <a:gdLst/>
            <a:ahLst/>
            <a:cxnLst/>
            <a:rect r="r" b="b" t="t" l="l"/>
            <a:pathLst>
              <a:path h="1443918" w="3051136">
                <a:moveTo>
                  <a:pt x="0" y="0"/>
                </a:moveTo>
                <a:lnTo>
                  <a:pt x="3051136" y="0"/>
                </a:lnTo>
                <a:lnTo>
                  <a:pt x="3051136" y="1443918"/>
                </a:lnTo>
                <a:lnTo>
                  <a:pt x="0" y="14439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17" name="TextBox 16"/>
          <p:cNvSpPr txBox="1"/>
          <p:nvPr/>
        </p:nvSpPr>
        <p:spPr>
          <a:xfrm>
            <a:off x="2926080" y="1371600"/>
            <a:ext cx="12435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0B7468"/>
                </a:solidFill>
                <a:latin typeface="Arial"/>
              </a:rPr>
              <a:t>Adaptive Path Planning &amp; Collision Avoidance for Unstructured Indian Roads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187451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bo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965960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33856" y="1856231"/>
            <a:ext cx="76443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u="none">
                <a:solidFill>
                  <a:srgbClr val="1B2A41"/>
                </a:solidFill>
                <a:latin typeface="Arial"/>
              </a:rPr>
              <a:t>PROPOSED 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2148839"/>
            <a:ext cx="76443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 u="none">
                <a:solidFill>
                  <a:srgbClr val="1F497D"/>
                </a:solidFill>
                <a:latin typeface="Arial"/>
              </a:rPr>
              <a:t>Proposed Solution (Describe your Idea/Solution/Prototype) · Detailed explanation of the proposed solution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514600"/>
            <a:ext cx="8229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670048"/>
            <a:ext cx="50749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1" i="0" u="none">
                <a:solidFill>
                  <a:srgbClr val="0B7468"/>
                </a:solidFill>
                <a:latin typeface="Arial"/>
              </a:rPr>
              <a:t>PathSense</a:t>
            </a:r>
            <a:r>
              <a:rPr sz="1200" b="0" i="0" u="none">
                <a:solidFill>
                  <a:srgbClr val="243044"/>
                </a:solidFill>
                <a:latin typeface="Arial"/>
              </a:rPr>
              <a:t> is an adaptive path-planning and collision-avoidance system for autonomous vehicles on unstructured Indian roads.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0" i="0" u="none">
                <a:solidFill>
                  <a:srgbClr val="243044"/>
                </a:solidFill>
                <a:latin typeface="Arial"/>
              </a:rPr>
              <a:t>It reasons about </a:t>
            </a:r>
            <a:r>
              <a:rPr sz="1200" b="1" i="0" u="none">
                <a:solidFill>
                  <a:srgbClr val="243044"/>
                </a:solidFill>
                <a:latin typeface="Arial"/>
              </a:rPr>
              <a:t>mixed traffic</a:t>
            </a:r>
            <a:r>
              <a:rPr sz="1200" b="0" i="0" u="none">
                <a:solidFill>
                  <a:srgbClr val="243044"/>
                </a:solidFill>
                <a:latin typeface="Arial"/>
              </a:rPr>
              <a:t> — pedestrians, motorcycles, auto-rickshaws, cars, buses, trucks and animals — on roads with </a:t>
            </a:r>
            <a:r>
              <a:rPr sz="1200" b="1" i="0" u="none">
                <a:solidFill>
                  <a:srgbClr val="243044"/>
                </a:solidFill>
                <a:latin typeface="Arial"/>
              </a:rPr>
              <a:t>missing or unclear lane markings</a:t>
            </a:r>
            <a:r>
              <a:rPr sz="1200" b="0" i="0" u="none">
                <a:solidFill>
                  <a:srgbClr val="243044"/>
                </a:solidFill>
                <a:latin typeface="Arial"/>
              </a:rPr>
              <a:t>, informal merges, sudden direction changes, wrong-way movement and temporary obstacles.</a:t>
            </a:r>
          </a:p>
        </p:txBody>
      </p:sp>
      <p:pic>
        <p:nvPicPr>
          <p:cNvPr id="24" name="Picture 23" descr="idea_mixe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2651760"/>
            <a:ext cx="2651760" cy="1828800"/>
          </a:xfrm>
          <a:prstGeom prst="rect">
            <a:avLst/>
          </a:prstGeom>
          <a:ln w="12700">
            <a:solidFill>
              <a:srgbClr val="D3DCE6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5989320" y="4498848"/>
            <a:ext cx="26517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 u="none">
                <a:solidFill>
                  <a:srgbClr val="5B6778"/>
                </a:solidFill>
                <a:latin typeface="Arial"/>
              </a:rPr>
              <a:t>concept illustration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8006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warning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892040"/>
            <a:ext cx="274320" cy="274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33856" y="4782312"/>
            <a:ext cx="76443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u="none">
                <a:solidFill>
                  <a:srgbClr val="1B2A41"/>
                </a:solidFill>
                <a:latin typeface="Arial"/>
              </a:rPr>
              <a:t>PROBLEMS IT ADDRESSES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" y="5074920"/>
            <a:ext cx="76443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 u="none">
                <a:solidFill>
                  <a:srgbClr val="1F497D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440680"/>
            <a:ext cx="4059936" cy="658368"/>
          </a:xfrm>
          <a:prstGeom prst="roundRect">
            <a:avLst>
              <a:gd name="adj" fmla="val 16666"/>
            </a:avLst>
          </a:prstGeom>
          <a:solidFill>
            <a:srgbClr val="F2FAF8"/>
          </a:solidFill>
          <a:ln w="12700">
            <a:solidFill>
              <a:srgbClr val="CF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440680"/>
            <a:ext cx="3840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u="none">
                <a:solidFill>
                  <a:srgbClr val="0F9E8E"/>
                </a:solidFill>
                <a:latin typeface="Arial"/>
              </a:rPr>
              <a:t>01</a:t>
            </a:r>
          </a:p>
        </p:txBody>
      </p:sp>
      <p:pic>
        <p:nvPicPr>
          <p:cNvPr id="32" name="Picture 31" descr="route_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704" y="5596128"/>
            <a:ext cx="347472" cy="34747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499616" y="5513832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 u="none">
                <a:solidFill>
                  <a:srgbClr val="1B2A41"/>
                </a:solidFill>
                <a:latin typeface="Arial"/>
              </a:rPr>
              <a:t>Unmarked / Unstructured Roads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99616" y="5788152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u="none">
                <a:solidFill>
                  <a:srgbClr val="5B6778"/>
                </a:solidFill>
                <a:latin typeface="Arial"/>
              </a:rPr>
              <a:t>Plans in the drivable corridor, not painted lanes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18303" y="5440680"/>
            <a:ext cx="4059936" cy="658368"/>
          </a:xfrm>
          <a:prstGeom prst="roundRect">
            <a:avLst>
              <a:gd name="adj" fmla="val 16666"/>
            </a:avLst>
          </a:prstGeom>
          <a:solidFill>
            <a:srgbClr val="F2FAF8"/>
          </a:solidFill>
          <a:ln w="12700">
            <a:solidFill>
              <a:srgbClr val="CF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28031" y="5440680"/>
            <a:ext cx="3840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u="none">
                <a:solidFill>
                  <a:srgbClr val="0F9E8E"/>
                </a:solidFill>
                <a:latin typeface="Arial"/>
              </a:rPr>
              <a:t>02</a:t>
            </a:r>
          </a:p>
        </p:txBody>
      </p:sp>
      <p:pic>
        <p:nvPicPr>
          <p:cNvPr id="37" name="Picture 36" descr="car_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0367" y="5596128"/>
            <a:ext cx="347472" cy="34747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669279" y="5513832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 u="none">
                <a:solidFill>
                  <a:srgbClr val="1B2A41"/>
                </a:solidFill>
                <a:latin typeface="Arial"/>
              </a:rPr>
              <a:t>Mixed Traffic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79" y="5788152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u="none">
                <a:solidFill>
                  <a:srgbClr val="5B6778"/>
                </a:solidFill>
                <a:latin typeface="Arial"/>
              </a:rPr>
              <a:t>Cars, buses, trucks, 2W, autos, people, animals together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6190488"/>
            <a:ext cx="4059936" cy="658368"/>
          </a:xfrm>
          <a:prstGeom prst="roundRect">
            <a:avLst>
              <a:gd name="adj" fmla="val 16666"/>
            </a:avLst>
          </a:prstGeom>
          <a:solidFill>
            <a:srgbClr val="F2FAF8"/>
          </a:solidFill>
          <a:ln w="12700">
            <a:solidFill>
              <a:srgbClr val="CF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6190488"/>
            <a:ext cx="3840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u="none">
                <a:solidFill>
                  <a:srgbClr val="0F9E8E"/>
                </a:solidFill>
                <a:latin typeface="Arial"/>
              </a:rPr>
              <a:t>03</a:t>
            </a:r>
          </a:p>
        </p:txBody>
      </p:sp>
      <p:pic>
        <p:nvPicPr>
          <p:cNvPr id="42" name="Picture 41" descr="brain_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0704" y="6345936"/>
            <a:ext cx="347472" cy="34747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499616" y="626364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 u="none">
                <a:solidFill>
                  <a:srgbClr val="1B2A41"/>
                </a:solidFill>
                <a:latin typeface="Arial"/>
              </a:rPr>
              <a:t>Irregular Road-User Behaviour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99616" y="653796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u="none">
                <a:solidFill>
                  <a:srgbClr val="5B6778"/>
                </a:solidFill>
                <a:latin typeface="Arial"/>
              </a:rPr>
              <a:t>Reads intent from short-term motion history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718303" y="6190488"/>
            <a:ext cx="4059936" cy="658368"/>
          </a:xfrm>
          <a:prstGeom prst="roundRect">
            <a:avLst>
              <a:gd name="adj" fmla="val 16666"/>
            </a:avLst>
          </a:prstGeom>
          <a:solidFill>
            <a:srgbClr val="F2FAF8"/>
          </a:solidFill>
          <a:ln w="12700">
            <a:solidFill>
              <a:srgbClr val="CF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28031" y="6190488"/>
            <a:ext cx="3840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u="none">
                <a:solidFill>
                  <a:srgbClr val="0F9E8E"/>
                </a:solidFill>
                <a:latin typeface="Arial"/>
              </a:rPr>
              <a:t>04</a:t>
            </a:r>
          </a:p>
        </p:txBody>
      </p:sp>
      <p:pic>
        <p:nvPicPr>
          <p:cNvPr id="47" name="Picture 46" descr="walk_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0367" y="6345936"/>
            <a:ext cx="347472" cy="34747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669279" y="626364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 u="none">
                <a:solidFill>
                  <a:srgbClr val="1B2A41"/>
                </a:solidFill>
                <a:latin typeface="Arial"/>
              </a:rPr>
              <a:t>Pedestrian &amp; Cyclist Interaction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79" y="653796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u="none">
                <a:solidFill>
                  <a:srgbClr val="5B6778"/>
                </a:solidFill>
                <a:latin typeface="Arial"/>
              </a:rPr>
              <a:t>Acts on people entering the path, not the footpath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6940296"/>
            <a:ext cx="4059936" cy="658368"/>
          </a:xfrm>
          <a:prstGeom prst="roundRect">
            <a:avLst>
              <a:gd name="adj" fmla="val 16666"/>
            </a:avLst>
          </a:prstGeom>
          <a:solidFill>
            <a:srgbClr val="F2FAF8"/>
          </a:solidFill>
          <a:ln w="12700">
            <a:solidFill>
              <a:srgbClr val="CF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" y="6940296"/>
            <a:ext cx="3840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u="none">
                <a:solidFill>
                  <a:srgbClr val="0F9E8E"/>
                </a:solidFill>
                <a:latin typeface="Arial"/>
              </a:rPr>
              <a:t>05</a:t>
            </a:r>
          </a:p>
        </p:txBody>
      </p:sp>
      <p:pic>
        <p:nvPicPr>
          <p:cNvPr id="52" name="Picture 51" descr="merge_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0704" y="7095744"/>
            <a:ext cx="347472" cy="34747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499616" y="7013448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 u="none">
                <a:solidFill>
                  <a:srgbClr val="1B2A41"/>
                </a:solidFill>
                <a:latin typeface="Arial"/>
              </a:rPr>
              <a:t>Wrong-Way / Informal Movement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99616" y="7287768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u="none">
                <a:solidFill>
                  <a:srgbClr val="5B6778"/>
                </a:solidFill>
                <a:latin typeface="Arial"/>
              </a:rPr>
              <a:t>Flags movement that enters the ego path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18303" y="6940296"/>
            <a:ext cx="4059936" cy="658368"/>
          </a:xfrm>
          <a:prstGeom prst="roundRect">
            <a:avLst>
              <a:gd name="adj" fmla="val 16666"/>
            </a:avLst>
          </a:prstGeom>
          <a:solidFill>
            <a:srgbClr val="F2FAF8"/>
          </a:solidFill>
          <a:ln w="12700">
            <a:solidFill>
              <a:srgbClr val="CF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28031" y="6940296"/>
            <a:ext cx="3840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u="none">
                <a:solidFill>
                  <a:srgbClr val="0F9E8E"/>
                </a:solidFill>
                <a:latin typeface="Arial"/>
              </a:rPr>
              <a:t>06</a:t>
            </a:r>
          </a:p>
        </p:txBody>
      </p:sp>
      <p:pic>
        <p:nvPicPr>
          <p:cNvPr id="57" name="Picture 56" descr="cow_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30367" y="7095744"/>
            <a:ext cx="347472" cy="34747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669279" y="7013448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 u="none">
                <a:solidFill>
                  <a:srgbClr val="1B2A41"/>
                </a:solidFill>
                <a:latin typeface="Arial"/>
              </a:rPr>
              <a:t>Animal &amp; Temporary Obstacles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79" y="7287768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u="none">
                <a:solidFill>
                  <a:srgbClr val="5B6778"/>
                </a:solidFill>
                <a:latin typeface="Arial"/>
              </a:rPr>
              <a:t>Plans around cattle, carts and work zones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7690104"/>
            <a:ext cx="4059936" cy="658368"/>
          </a:xfrm>
          <a:prstGeom prst="roundRect">
            <a:avLst>
              <a:gd name="adj" fmla="val 16666"/>
            </a:avLst>
          </a:prstGeom>
          <a:solidFill>
            <a:srgbClr val="F2FAF8"/>
          </a:solidFill>
          <a:ln w="12700">
            <a:solidFill>
              <a:srgbClr val="CF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" y="7690104"/>
            <a:ext cx="3840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u="none">
                <a:solidFill>
                  <a:srgbClr val="0F9E8E"/>
                </a:solidFill>
                <a:latin typeface="Arial"/>
              </a:rPr>
              <a:t>07</a:t>
            </a:r>
          </a:p>
        </p:txBody>
      </p:sp>
      <p:pic>
        <p:nvPicPr>
          <p:cNvPr id="62" name="Picture 61" descr="warning_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0704" y="7845552"/>
            <a:ext cx="347472" cy="34747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499616" y="7763256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 u="none">
                <a:solidFill>
                  <a:srgbClr val="1B2A41"/>
                </a:solidFill>
                <a:latin typeface="Arial"/>
              </a:rPr>
              <a:t>Sudden Direction Changes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9616" y="8037576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u="none">
                <a:solidFill>
                  <a:srgbClr val="5B6778"/>
                </a:solidFill>
                <a:latin typeface="Arial"/>
              </a:rPr>
              <a:t>Re-evaluates every road user every frame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718303" y="7690104"/>
            <a:ext cx="4059936" cy="658368"/>
          </a:xfrm>
          <a:prstGeom prst="roundRect">
            <a:avLst>
              <a:gd name="adj" fmla="val 16666"/>
            </a:avLst>
          </a:prstGeom>
          <a:solidFill>
            <a:srgbClr val="F2FAF8"/>
          </a:solidFill>
          <a:ln w="12700">
            <a:solidFill>
              <a:srgbClr val="CF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28031" y="7690104"/>
            <a:ext cx="3840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u="none">
                <a:solidFill>
                  <a:srgbClr val="0F9E8E"/>
                </a:solidFill>
                <a:latin typeface="Arial"/>
              </a:rPr>
              <a:t>08</a:t>
            </a:r>
          </a:p>
        </p:txBody>
      </p:sp>
      <p:pic>
        <p:nvPicPr>
          <p:cNvPr id="67" name="Picture 66" descr="loop_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30367" y="7845552"/>
            <a:ext cx="347472" cy="347472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5669279" y="7763256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 u="none">
                <a:solidFill>
                  <a:srgbClr val="1B2A41"/>
                </a:solidFill>
                <a:latin typeface="Arial"/>
              </a:rPr>
              <a:t>Dynamic Path Replanning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79" y="8037576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u="none">
                <a:solidFill>
                  <a:srgbClr val="5B6778"/>
                </a:solidFill>
                <a:latin typeface="Arial"/>
              </a:rPr>
              <a:t>Keeps choosing a new safe path as the scene changes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098280" y="187451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rocket_w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89719" y="1965960"/>
            <a:ext cx="274320" cy="27432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9683496" y="1856231"/>
            <a:ext cx="80558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u="none">
                <a:solidFill>
                  <a:srgbClr val="1B2A41"/>
                </a:solidFill>
                <a:latin typeface="Arial"/>
              </a:rPr>
              <a:t>DIFFERENTIATION &amp; KEY VALUE PROPOSITION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3496" y="2148839"/>
            <a:ext cx="80558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 u="none">
                <a:solidFill>
                  <a:srgbClr val="1F497D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098280" y="2514600"/>
            <a:ext cx="425196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262872" y="2697480"/>
            <a:ext cx="566928" cy="566928"/>
          </a:xfrm>
          <a:prstGeom prst="roundRect">
            <a:avLst>
              <a:gd name="adj" fmla="val 2258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262872" y="269748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59" y="266090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 u="none">
                <a:solidFill>
                  <a:srgbClr val="1B2A41"/>
                </a:solidFill>
                <a:latin typeface="Arial"/>
              </a:rPr>
              <a:t>Ego-Path-Centric Risk Assessment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66959" y="3118104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B6778"/>
                </a:solidFill>
                <a:latin typeface="Arial"/>
              </a:rPr>
              <a:t>Judges the threat to the vehicle’s own path — not mere proximity.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3487400" y="2514600"/>
            <a:ext cx="425196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13651992" y="2697480"/>
            <a:ext cx="566928" cy="566928"/>
          </a:xfrm>
          <a:prstGeom prst="roundRect">
            <a:avLst>
              <a:gd name="adj" fmla="val 22580"/>
            </a:avLst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3651992" y="269748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4356080" y="266090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 u="none">
                <a:solidFill>
                  <a:srgbClr val="1B2A41"/>
                </a:solidFill>
                <a:latin typeface="Arial"/>
              </a:rPr>
              <a:t>Indian Mixed-Traffic Awareness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356080" y="3118104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B6778"/>
                </a:solidFill>
                <a:latin typeface="Arial"/>
              </a:rPr>
              <a:t>Built for autos, two-wheelers, pedestrians and animals.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098280" y="3977639"/>
            <a:ext cx="425196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9262872" y="4160520"/>
            <a:ext cx="566928" cy="566928"/>
          </a:xfrm>
          <a:prstGeom prst="roundRect">
            <a:avLst>
              <a:gd name="adj" fmla="val 2258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262872" y="416052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966959" y="412394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 u="none">
                <a:solidFill>
                  <a:srgbClr val="1B2A41"/>
                </a:solidFill>
                <a:latin typeface="Arial"/>
              </a:rPr>
              <a:t>Short-Term Motion Understanding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966959" y="4581144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B6778"/>
                </a:solidFill>
                <a:latin typeface="Arial"/>
              </a:rPr>
              <a:t>Tracks each road user’s motion to anticipate conflicts.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3487400" y="3977639"/>
            <a:ext cx="425196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13651992" y="4160520"/>
            <a:ext cx="566928" cy="566928"/>
          </a:xfrm>
          <a:prstGeom prst="roundRect">
            <a:avLst>
              <a:gd name="adj" fmla="val 22580"/>
            </a:avLst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3651992" y="416052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4356080" y="412394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 u="none">
                <a:solidFill>
                  <a:srgbClr val="1B2A41"/>
                </a:solidFill>
                <a:latin typeface="Arial"/>
              </a:rPr>
              <a:t>Adaptive Trajectory Generation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4356080" y="4581144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B6778"/>
                </a:solidFill>
                <a:latin typeface="Arial"/>
              </a:rPr>
              <a:t>Samples kinematically feasible candidate paths every frame.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098280" y="5440680"/>
            <a:ext cx="425196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9262872" y="5623560"/>
            <a:ext cx="566928" cy="566928"/>
          </a:xfrm>
          <a:prstGeom prst="roundRect">
            <a:avLst>
              <a:gd name="adj" fmla="val 2258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262872" y="562356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966959" y="558698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 u="none">
                <a:solidFill>
                  <a:srgbClr val="1B2A41"/>
                </a:solidFill>
                <a:latin typeface="Arial"/>
              </a:rPr>
              <a:t>Lane-Independent Planning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966959" y="6044184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B6778"/>
                </a:solidFill>
                <a:latin typeface="Arial"/>
              </a:rPr>
              <a:t>Works where lane markings are faded, partial or absent.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3487400" y="5440680"/>
            <a:ext cx="425196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13651992" y="5623560"/>
            <a:ext cx="566928" cy="566928"/>
          </a:xfrm>
          <a:prstGeom prst="roundRect">
            <a:avLst>
              <a:gd name="adj" fmla="val 22580"/>
            </a:avLst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3651992" y="562356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4356080" y="558698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 u="none">
                <a:solidFill>
                  <a:srgbClr val="1B2A41"/>
                </a:solidFill>
                <a:latin typeface="Arial"/>
              </a:rPr>
              <a:t>Safety-Oriented Decision Making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4356080" y="6044184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B6778"/>
                </a:solidFill>
                <a:latin typeface="Arial"/>
              </a:rPr>
              <a:t>GO → SLOW → STEER → BRAKE → NO SAFE PATH, each with a reason.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098280" y="6903720"/>
            <a:ext cx="425196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9262872" y="7086600"/>
            <a:ext cx="566928" cy="566928"/>
          </a:xfrm>
          <a:prstGeom prst="roundRect">
            <a:avLst>
              <a:gd name="adj" fmla="val 2258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262872" y="70866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966959" y="705002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 u="none">
                <a:solidFill>
                  <a:srgbClr val="1B2A41"/>
                </a:solidFill>
                <a:latin typeface="Arial"/>
              </a:rPr>
              <a:t>Dynamic Replanning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966959" y="7507224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B6778"/>
                </a:solidFill>
                <a:latin typeface="Arial"/>
              </a:rPr>
              <a:t>Re-plans continuously as traffic and obstacles change.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3487400" y="6903720"/>
            <a:ext cx="425196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13651992" y="7086600"/>
            <a:ext cx="566928" cy="566928"/>
          </a:xfrm>
          <a:prstGeom prst="roundRect">
            <a:avLst>
              <a:gd name="adj" fmla="val 22580"/>
            </a:avLst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3651992" y="70866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4356080" y="705002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 u="none">
                <a:solidFill>
                  <a:srgbClr val="1B2A41"/>
                </a:solidFill>
                <a:latin typeface="Arial"/>
              </a:rPr>
              <a:t>Scalable Multi-Sensor Roadmap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4356080" y="7507224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B6778"/>
                </a:solidFill>
                <a:latin typeface="Arial"/>
              </a:rPr>
              <a:t>Camera-first today; radar, LiDAR and vehicle-state inputs later.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48640" y="850392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u="none">
                <a:solidFill>
                  <a:srgbClr val="0B7468"/>
                </a:solidFill>
                <a:latin typeface="Arial"/>
              </a:rPr>
              <a:t>CORE</a:t>
            </a:r>
          </a:p>
          <a:p>
            <a:pPr algn="l"/>
            <a:r>
              <a:rPr sz="1300" b="1" i="0" u="none">
                <a:solidFill>
                  <a:srgbClr val="0B7468"/>
                </a:solidFill>
                <a:latin typeface="Arial"/>
              </a:rPr>
              <a:t>IDEA</a:t>
            </a:r>
          </a:p>
        </p:txBody>
      </p:sp>
      <p:sp>
        <p:nvSpPr>
          <p:cNvPr id="115" name="Pentagon 114"/>
          <p:cNvSpPr/>
          <p:nvPr/>
        </p:nvSpPr>
        <p:spPr>
          <a:xfrm>
            <a:off x="1874519" y="8503920"/>
            <a:ext cx="2441970" cy="731520"/>
          </a:xfrm>
          <a:prstGeom prst="homePlate">
            <a:avLst>
              <a:gd name="adj" fmla="val 28000"/>
            </a:avLst>
          </a:prstGeom>
          <a:solidFill>
            <a:srgbClr val="1F49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011679" y="8503920"/>
            <a:ext cx="205426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Arial"/>
              </a:rPr>
              <a:t>Perceive</a:t>
            </a:r>
          </a:p>
          <a:p>
            <a:pPr algn="ctr"/>
            <a:r>
              <a:rPr sz="900" b="0" i="0" u="none">
                <a:solidFill>
                  <a:srgbClr val="FFFFFF"/>
                </a:solidFill>
                <a:latin typeface="Arial"/>
              </a:rPr>
              <a:t>road scene</a:t>
            </a:r>
          </a:p>
        </p:txBody>
      </p:sp>
      <p:sp>
        <p:nvSpPr>
          <p:cNvPr id="117" name="Chevron 116"/>
          <p:cNvSpPr/>
          <p:nvPr/>
        </p:nvSpPr>
        <p:spPr>
          <a:xfrm>
            <a:off x="4111664" y="8503920"/>
            <a:ext cx="2441970" cy="731520"/>
          </a:xfrm>
          <a:prstGeom prst="chevron">
            <a:avLst>
              <a:gd name="adj" fmla="val 28000"/>
            </a:avLst>
          </a:prstGeom>
          <a:solidFill>
            <a:srgbClr val="245C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389642" y="8503920"/>
            <a:ext cx="1913447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Arial"/>
              </a:rPr>
              <a:t>Understand</a:t>
            </a:r>
          </a:p>
          <a:p>
            <a:pPr algn="ctr"/>
            <a:r>
              <a:rPr sz="900" b="0" i="0" u="none">
                <a:solidFill>
                  <a:srgbClr val="FFFFFF"/>
                </a:solidFill>
                <a:latin typeface="Arial"/>
              </a:rPr>
              <a:t>road users</a:t>
            </a:r>
          </a:p>
        </p:txBody>
      </p:sp>
      <p:sp>
        <p:nvSpPr>
          <p:cNvPr id="119" name="Chevron 118"/>
          <p:cNvSpPr/>
          <p:nvPr/>
        </p:nvSpPr>
        <p:spPr>
          <a:xfrm>
            <a:off x="6348809" y="8503920"/>
            <a:ext cx="2441970" cy="731520"/>
          </a:xfrm>
          <a:prstGeom prst="chevron">
            <a:avLst>
              <a:gd name="adj" fmla="val 28000"/>
            </a:avLst>
          </a:prstGeom>
          <a:solidFill>
            <a:srgbClr val="2A6FB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626787" y="8503920"/>
            <a:ext cx="1913447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Arial"/>
              </a:rPr>
              <a:t>Estimate</a:t>
            </a:r>
          </a:p>
          <a:p>
            <a:pPr algn="ctr"/>
            <a:r>
              <a:rPr sz="900" b="0" i="0" u="none">
                <a:solidFill>
                  <a:srgbClr val="FFFFFF"/>
                </a:solidFill>
                <a:latin typeface="Arial"/>
              </a:rPr>
              <a:t>short-term movement</a:t>
            </a:r>
          </a:p>
        </p:txBody>
      </p:sp>
      <p:sp>
        <p:nvSpPr>
          <p:cNvPr id="121" name="Chevron 120"/>
          <p:cNvSpPr/>
          <p:nvPr/>
        </p:nvSpPr>
        <p:spPr>
          <a:xfrm>
            <a:off x="8585954" y="8503920"/>
            <a:ext cx="2441970" cy="731520"/>
          </a:xfrm>
          <a:prstGeom prst="chevron">
            <a:avLst>
              <a:gd name="adj" fmla="val 28000"/>
            </a:avLst>
          </a:prstGeom>
          <a:solidFill>
            <a:srgbClr val="1B82A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863932" y="8503920"/>
            <a:ext cx="1913447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Arial"/>
              </a:rPr>
              <a:t>Identify</a:t>
            </a:r>
          </a:p>
          <a:p>
            <a:pPr algn="ctr"/>
            <a:r>
              <a:rPr sz="900" b="0" i="0" u="none">
                <a:solidFill>
                  <a:srgbClr val="FFFFFF"/>
                </a:solidFill>
                <a:latin typeface="Arial"/>
              </a:rPr>
              <a:t>ego-path threats</a:t>
            </a:r>
          </a:p>
        </p:txBody>
      </p:sp>
      <p:sp>
        <p:nvSpPr>
          <p:cNvPr id="123" name="Chevron 122"/>
          <p:cNvSpPr/>
          <p:nvPr/>
        </p:nvSpPr>
        <p:spPr>
          <a:xfrm>
            <a:off x="10823099" y="8503920"/>
            <a:ext cx="2441970" cy="731520"/>
          </a:xfrm>
          <a:prstGeom prst="chevron">
            <a:avLst>
              <a:gd name="adj" fmla="val 28000"/>
            </a:avLst>
          </a:prstGeom>
          <a:solidFill>
            <a:srgbClr val="118F9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101077" y="8503920"/>
            <a:ext cx="1913447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Arial"/>
              </a:rPr>
              <a:t>Generate</a:t>
            </a:r>
          </a:p>
          <a:p>
            <a:pPr algn="ctr"/>
            <a:r>
              <a:rPr sz="900" b="0" i="0" u="none">
                <a:solidFill>
                  <a:srgbClr val="FFFFFF"/>
                </a:solidFill>
                <a:latin typeface="Arial"/>
              </a:rPr>
              <a:t>candidate trajectories</a:t>
            </a:r>
          </a:p>
        </p:txBody>
      </p:sp>
      <p:sp>
        <p:nvSpPr>
          <p:cNvPr id="125" name="Chevron 124"/>
          <p:cNvSpPr/>
          <p:nvPr/>
        </p:nvSpPr>
        <p:spPr>
          <a:xfrm>
            <a:off x="13060244" y="8503920"/>
            <a:ext cx="2441970" cy="731520"/>
          </a:xfrm>
          <a:prstGeom prst="chevron">
            <a:avLst>
              <a:gd name="adj" fmla="val 28000"/>
            </a:avLst>
          </a:prstGeom>
          <a:solidFill>
            <a:srgbClr val="0F9E8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3338222" y="8503920"/>
            <a:ext cx="1913447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Arial"/>
              </a:rPr>
              <a:t>Select</a:t>
            </a:r>
          </a:p>
          <a:p>
            <a:pPr algn="ctr"/>
            <a:r>
              <a:rPr sz="900" b="0" i="0" u="none">
                <a:solidFill>
                  <a:srgbClr val="FFFFFF"/>
                </a:solidFill>
                <a:latin typeface="Arial"/>
              </a:rPr>
              <a:t>a safe trajectory</a:t>
            </a:r>
          </a:p>
        </p:txBody>
      </p:sp>
      <p:sp>
        <p:nvSpPr>
          <p:cNvPr id="127" name="Chevron 126"/>
          <p:cNvSpPr/>
          <p:nvPr/>
        </p:nvSpPr>
        <p:spPr>
          <a:xfrm>
            <a:off x="15297389" y="8503920"/>
            <a:ext cx="2441970" cy="731520"/>
          </a:xfrm>
          <a:prstGeom prst="chevron">
            <a:avLst>
              <a:gd name="adj" fmla="val 28000"/>
            </a:avLst>
          </a:prstGeom>
          <a:solidFill>
            <a:srgbClr val="0B8A7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5575367" y="8503920"/>
            <a:ext cx="1913447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Arial"/>
              </a:rPr>
              <a:t>Re-plan</a:t>
            </a:r>
          </a:p>
          <a:p>
            <a:pPr algn="ctr"/>
            <a:r>
              <a:rPr sz="900" b="0" i="0" u="none">
                <a:solidFill>
                  <a:srgbClr val="FFFFFF"/>
                </a:solidFill>
                <a:latin typeface="Arial"/>
              </a:rPr>
              <a:t>continuously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2625" y="126621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Ctrl Alt Elite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4703684" y="164502"/>
            <a:ext cx="3290239" cy="1557071"/>
          </a:xfrm>
          <a:custGeom>
            <a:avLst/>
            <a:gdLst/>
            <a:ahLst/>
            <a:cxnLst/>
            <a:rect r="r" b="b" t="t" l="l"/>
            <a:pathLst>
              <a:path h="1557071" w="3290239">
                <a:moveTo>
                  <a:pt x="0" y="0"/>
                </a:moveTo>
                <a:lnTo>
                  <a:pt x="3290239" y="0"/>
                </a:lnTo>
                <a:lnTo>
                  <a:pt x="3290239" y="1557071"/>
                </a:lnTo>
                <a:lnTo>
                  <a:pt x="0" y="15570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17" name="Rounded Rectangle 16"/>
          <p:cNvSpPr/>
          <p:nvPr/>
        </p:nvSpPr>
        <p:spPr>
          <a:xfrm>
            <a:off x="548640" y="187451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ay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965960"/>
            <a:ext cx="274320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33856" y="1856231"/>
            <a:ext cx="107533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u="none">
                <a:solidFill>
                  <a:srgbClr val="1B2A41"/>
                </a:solidFill>
                <a:latin typeface="Arial"/>
              </a:rPr>
              <a:t>METHODOLOGY &amp;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2148839"/>
            <a:ext cx="107533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 u="none">
                <a:solidFill>
                  <a:srgbClr val="1F497D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514600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A6FB0"/>
                </a:solidFill>
                <a:latin typeface="Arial"/>
              </a:rPr>
              <a:t>SENSE &amp; UNDERSTAND  </a:t>
            </a:r>
            <a:r>
              <a:rPr sz="950" b="0" i="0" u="none">
                <a:solidFill>
                  <a:srgbClr val="5B6778"/>
                </a:solidFill>
                <a:latin typeface="Arial"/>
              </a:rPr>
              <a:t>→ row 1</a:t>
            </a:r>
            <a:r>
              <a:rPr sz="1050" b="1" i="0" u="none">
                <a:solidFill>
                  <a:srgbClr val="0B7468"/>
                </a:solidFill>
                <a:latin typeface="Arial"/>
              </a:rPr>
              <a:t>          PLAN &amp; DECIDE  </a:t>
            </a:r>
            <a:r>
              <a:rPr sz="950" b="0" i="0" u="none">
                <a:solidFill>
                  <a:srgbClr val="5B6778"/>
                </a:solidFill>
                <a:latin typeface="Arial"/>
              </a:rPr>
              <a:t>→ row 2 (right to left)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926080"/>
            <a:ext cx="199339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6656" y="3063240"/>
            <a:ext cx="420624" cy="420624"/>
          </a:xfrm>
          <a:prstGeom prst="roundRect">
            <a:avLst>
              <a:gd name="adj" fmla="val 21999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amera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0" y="3147364"/>
            <a:ext cx="252374" cy="25237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8368" y="2944368"/>
            <a:ext cx="1810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u="none">
                <a:solidFill>
                  <a:srgbClr val="1F497D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19" y="3044952"/>
            <a:ext cx="12618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1B2A41"/>
                </a:solidFill>
                <a:latin typeface="Arial"/>
              </a:rPr>
              <a:t>Camera / Road Scene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" y="3621024"/>
            <a:ext cx="17647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u="none">
                <a:solidFill>
                  <a:srgbClr val="5B6778"/>
                </a:solidFill>
                <a:latin typeface="Arial"/>
              </a:rPr>
              <a:t>front view of mixed traffic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80360" y="2926080"/>
            <a:ext cx="199339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245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008376" y="3063240"/>
            <a:ext cx="420624" cy="420624"/>
          </a:xfrm>
          <a:prstGeom prst="roundRect">
            <a:avLst>
              <a:gd name="adj" fmla="val 21999"/>
            </a:avLst>
          </a:prstGeom>
          <a:solidFill>
            <a:srgbClr val="245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visibilit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2500" y="3147364"/>
            <a:ext cx="252374" cy="25237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990088" y="2944368"/>
            <a:ext cx="1810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u="none">
                <a:solidFill>
                  <a:srgbClr val="245C93"/>
                </a:solidFill>
                <a:latin typeface="Arial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3044952"/>
            <a:ext cx="12618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1B2A41"/>
                </a:solidFill>
                <a:latin typeface="Arial"/>
              </a:rPr>
              <a:t>Perception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08376" y="3621024"/>
            <a:ext cx="17647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u="none">
                <a:solidFill>
                  <a:srgbClr val="5B6778"/>
                </a:solidFill>
                <a:latin typeface="Arial"/>
              </a:rPr>
              <a:t>per-frame scene analysis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12080" y="2926080"/>
            <a:ext cx="199339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2A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340096" y="3063240"/>
            <a:ext cx="420624" cy="420624"/>
          </a:xfrm>
          <a:prstGeom prst="roundRect">
            <a:avLst>
              <a:gd name="adj" fmla="val 21999"/>
            </a:avLst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warning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4220" y="3147364"/>
            <a:ext cx="252374" cy="25237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321808" y="2944368"/>
            <a:ext cx="1810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u="none">
                <a:solidFill>
                  <a:srgbClr val="2A6FB0"/>
                </a:solidFill>
                <a:latin typeface="Arial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3044952"/>
            <a:ext cx="12618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1B2A41"/>
                </a:solidFill>
                <a:latin typeface="Arial"/>
              </a:rPr>
              <a:t>Object Detection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0096" y="3621024"/>
            <a:ext cx="17647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u="none">
                <a:solidFill>
                  <a:srgbClr val="5B6778"/>
                </a:solidFill>
                <a:latin typeface="Arial"/>
              </a:rPr>
              <a:t>vehicles, people, animals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43800" y="2926080"/>
            <a:ext cx="199339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1B8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671816" y="3063240"/>
            <a:ext cx="420624" cy="420624"/>
          </a:xfrm>
          <a:prstGeom prst="roundRect">
            <a:avLst>
              <a:gd name="adj" fmla="val 21999"/>
            </a:avLst>
          </a:prstGeom>
          <a:solidFill>
            <a:srgbClr val="1B8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timelin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5940" y="3147364"/>
            <a:ext cx="252374" cy="25237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653527" y="2944368"/>
            <a:ext cx="1810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u="none">
                <a:solidFill>
                  <a:srgbClr val="1B82A0"/>
                </a:solidFill>
                <a:latin typeface="Arial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79" y="3044952"/>
            <a:ext cx="12618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1B2A41"/>
                </a:solidFill>
                <a:latin typeface="Arial"/>
              </a:rPr>
              <a:t>Multi-Object Tracking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71816" y="3621024"/>
            <a:ext cx="17647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u="none">
                <a:solidFill>
                  <a:srgbClr val="5B6778"/>
                </a:solidFill>
                <a:latin typeface="Arial"/>
              </a:rPr>
              <a:t>identities &amp; motion history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875520" y="2926080"/>
            <a:ext cx="199339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118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003536" y="3063240"/>
            <a:ext cx="420624" cy="420624"/>
          </a:xfrm>
          <a:prstGeom prst="roundRect">
            <a:avLst>
              <a:gd name="adj" fmla="val 21999"/>
            </a:avLst>
          </a:prstGeom>
          <a:solidFill>
            <a:srgbClr val="118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lay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7660" y="3147364"/>
            <a:ext cx="252374" cy="25237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985248" y="2944368"/>
            <a:ext cx="1810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u="none">
                <a:solidFill>
                  <a:srgbClr val="118F95"/>
                </a:solidFill>
                <a:latin typeface="Arial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3044952"/>
            <a:ext cx="12618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1B2A41"/>
                </a:solidFill>
                <a:latin typeface="Arial"/>
              </a:rPr>
              <a:t>Depth / Scene Understanding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03536" y="3621024"/>
            <a:ext cx="17647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u="none">
                <a:solidFill>
                  <a:srgbClr val="5B6778"/>
                </a:solidFill>
                <a:latin typeface="Arial"/>
              </a:rPr>
              <a:t>distance &amp; free space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875520" y="4572000"/>
            <a:ext cx="199339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0F9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0003536" y="4709160"/>
            <a:ext cx="420624" cy="420624"/>
          </a:xfrm>
          <a:prstGeom prst="roundRect">
            <a:avLst>
              <a:gd name="adj" fmla="val 21999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brain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87660" y="4793284"/>
            <a:ext cx="252374" cy="252374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9985248" y="4590288"/>
            <a:ext cx="1810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u="none">
                <a:solidFill>
                  <a:srgbClr val="0F9E8E"/>
                </a:solidFill>
                <a:latin typeface="Arial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4690872"/>
            <a:ext cx="12618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1B2A41"/>
                </a:solidFill>
                <a:latin typeface="Arial"/>
              </a:rPr>
              <a:t>Motion &amp; Threat Estimation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03536" y="5266944"/>
            <a:ext cx="17647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u="none">
                <a:solidFill>
                  <a:srgbClr val="5B6778"/>
                </a:solidFill>
                <a:latin typeface="Arial"/>
              </a:rPr>
              <a:t>who is moving where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543800" y="4572000"/>
            <a:ext cx="199339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0F9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671816" y="4709160"/>
            <a:ext cx="420624" cy="420624"/>
          </a:xfrm>
          <a:prstGeom prst="roundRect">
            <a:avLst>
              <a:gd name="adj" fmla="val 21999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route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55940" y="4793284"/>
            <a:ext cx="252374" cy="252374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7653527" y="4590288"/>
            <a:ext cx="1810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u="none">
                <a:solidFill>
                  <a:srgbClr val="0F9E8E"/>
                </a:solidFill>
                <a:latin typeface="Arial"/>
              </a:rPr>
              <a:t>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83879" y="4690872"/>
            <a:ext cx="12618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1B2A41"/>
                </a:solidFill>
                <a:latin typeface="Arial"/>
              </a:rPr>
              <a:t>Ego-Path / Drivable Corridor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71816" y="5266944"/>
            <a:ext cx="17647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u="none">
                <a:solidFill>
                  <a:srgbClr val="5B6778"/>
                </a:solidFill>
                <a:latin typeface="Arial"/>
              </a:rPr>
              <a:t>the vehicle’s real corridor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212080" y="4572000"/>
            <a:ext cx="199339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0B7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340096" y="4709160"/>
            <a:ext cx="420624" cy="420624"/>
          </a:xfrm>
          <a:prstGeom prst="roundRect">
            <a:avLst>
              <a:gd name="adj" fmla="val 21999"/>
            </a:avLst>
          </a:prstGeom>
          <a:solidFill>
            <a:srgbClr val="0B7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loop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24220" y="4793284"/>
            <a:ext cx="252374" cy="252374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5321808" y="4590288"/>
            <a:ext cx="1810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u="none">
                <a:solidFill>
                  <a:srgbClr val="0B7468"/>
                </a:solidFill>
                <a:latin typeface="Arial"/>
              </a:rPr>
              <a:t>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52160" y="4690872"/>
            <a:ext cx="12618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1B2A41"/>
                </a:solidFill>
                <a:latin typeface="Arial"/>
              </a:rPr>
              <a:t>Candidate Trajectories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40096" y="5266944"/>
            <a:ext cx="17647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u="none">
                <a:solidFill>
                  <a:srgbClr val="5B6778"/>
                </a:solidFill>
                <a:latin typeface="Arial"/>
              </a:rPr>
              <a:t>kinematic path set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880360" y="4572000"/>
            <a:ext cx="199339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0B7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008376" y="4709160"/>
            <a:ext cx="420624" cy="420624"/>
          </a:xfrm>
          <a:prstGeom prst="roundRect">
            <a:avLst>
              <a:gd name="adj" fmla="val 21999"/>
            </a:avLst>
          </a:prstGeom>
          <a:solidFill>
            <a:srgbClr val="0B7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shield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92500" y="4793284"/>
            <a:ext cx="252374" cy="252374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2990088" y="4590288"/>
            <a:ext cx="1810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u="none">
                <a:solidFill>
                  <a:srgbClr val="0B7468"/>
                </a:solidFill>
                <a:latin typeface="Arial"/>
              </a:rPr>
              <a:t>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20440" y="4690872"/>
            <a:ext cx="12618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1B2A41"/>
                </a:solidFill>
                <a:latin typeface="Arial"/>
              </a:rPr>
              <a:t>Risk-Aware Path Selection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008376" y="5266944"/>
            <a:ext cx="17647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u="none">
                <a:solidFill>
                  <a:srgbClr val="5B6778"/>
                </a:solidFill>
                <a:latin typeface="Arial"/>
              </a:rPr>
              <a:t>reject conflicting paths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48640" y="4572000"/>
            <a:ext cx="199339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76656" y="4709160"/>
            <a:ext cx="420624" cy="420624"/>
          </a:xfrm>
          <a:prstGeom prst="roundRect">
            <a:avLst>
              <a:gd name="adj" fmla="val 21999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speed_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0780" y="4793284"/>
            <a:ext cx="252374" cy="252374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658368" y="4590288"/>
            <a:ext cx="1810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u="none">
                <a:solidFill>
                  <a:srgbClr val="16A34A"/>
                </a:solidFill>
                <a:latin typeface="Arial"/>
              </a:rPr>
              <a:t>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88719" y="4690872"/>
            <a:ext cx="12618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1B2A41"/>
                </a:solidFill>
                <a:latin typeface="Arial"/>
              </a:rPr>
              <a:t>Steering / Decision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6656" y="5266944"/>
            <a:ext cx="17647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u="none">
                <a:solidFill>
                  <a:srgbClr val="5B6778"/>
                </a:solidFill>
                <a:latin typeface="Arial"/>
              </a:rPr>
              <a:t>path + action + reason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2560320" y="3497580"/>
            <a:ext cx="301752" cy="0"/>
          </a:xfrm>
          <a:prstGeom prst="line">
            <a:avLst/>
          </a:prstGeom>
          <a:ln w="25400">
            <a:solidFill>
              <a:srgbClr val="2A6F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892040" y="3497580"/>
            <a:ext cx="301752" cy="0"/>
          </a:xfrm>
          <a:prstGeom prst="line">
            <a:avLst/>
          </a:prstGeom>
          <a:ln w="25400">
            <a:solidFill>
              <a:srgbClr val="2A6F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223760" y="3497580"/>
            <a:ext cx="301752" cy="0"/>
          </a:xfrm>
          <a:prstGeom prst="line">
            <a:avLst/>
          </a:prstGeom>
          <a:ln w="25400">
            <a:solidFill>
              <a:srgbClr val="2A6F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9555480" y="3497580"/>
            <a:ext cx="301752" cy="0"/>
          </a:xfrm>
          <a:prstGeom prst="line">
            <a:avLst/>
          </a:prstGeom>
          <a:ln w="25400">
            <a:solidFill>
              <a:srgbClr val="2A6F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872216" y="4087368"/>
            <a:ext cx="0" cy="466344"/>
          </a:xfrm>
          <a:prstGeom prst="line">
            <a:avLst/>
          </a:prstGeom>
          <a:ln w="25400">
            <a:solidFill>
              <a:srgbClr val="2A6F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9555480" y="5143500"/>
            <a:ext cx="301752" cy="0"/>
          </a:xfrm>
          <a:prstGeom prst="line">
            <a:avLst/>
          </a:prstGeom>
          <a:ln w="25400">
            <a:solidFill>
              <a:srgbClr val="0F9E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7223760" y="5143500"/>
            <a:ext cx="301752" cy="0"/>
          </a:xfrm>
          <a:prstGeom prst="line">
            <a:avLst/>
          </a:prstGeom>
          <a:ln w="25400">
            <a:solidFill>
              <a:srgbClr val="0F9E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>
            <a:off x="4892040" y="5143500"/>
            <a:ext cx="301752" cy="0"/>
          </a:xfrm>
          <a:prstGeom prst="line">
            <a:avLst/>
          </a:prstGeom>
          <a:ln w="25400">
            <a:solidFill>
              <a:srgbClr val="0F9E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2560320" y="5143500"/>
            <a:ext cx="301752" cy="0"/>
          </a:xfrm>
          <a:prstGeom prst="line">
            <a:avLst/>
          </a:prstGeom>
          <a:ln w="25400">
            <a:solidFill>
              <a:srgbClr val="0F9E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ectangle 90"/>
          <p:cNvSpPr/>
          <p:nvPr/>
        </p:nvSpPr>
        <p:spPr>
          <a:xfrm>
            <a:off x="1545336" y="5907024"/>
            <a:ext cx="2331720" cy="18288"/>
          </a:xfrm>
          <a:prstGeom prst="rect">
            <a:avLst/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 flipV="1">
            <a:off x="1545336" y="5733288"/>
            <a:ext cx="0" cy="182880"/>
          </a:xfrm>
          <a:prstGeom prst="line">
            <a:avLst/>
          </a:prstGeom>
          <a:ln w="25400">
            <a:solidFill>
              <a:srgbClr val="0F9E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1682495" y="59618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B7468"/>
                </a:solidFill>
                <a:latin typeface="Arial"/>
              </a:rPr>
              <a:t>↺ continuous re-planning as the scene changes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48640" y="6355080"/>
            <a:ext cx="55321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77240" y="64465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 u="none">
                <a:solidFill>
                  <a:srgbClr val="1B2A41"/>
                </a:solidFill>
                <a:latin typeface="Arial"/>
              </a:rPr>
              <a:t>DECISION LAYER — escalates with the threat to the ego path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77240" y="681228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77240" y="6812280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Arial"/>
              </a:rPr>
              <a:t>GO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514600" y="6812280"/>
            <a:ext cx="3429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 u="none">
                <a:solidFill>
                  <a:srgbClr val="243044"/>
                </a:solidFill>
                <a:latin typeface="Arial"/>
              </a:rPr>
              <a:t>path clear, or traffic stays on its own side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77240" y="7287768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77240" y="7287768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Arial"/>
              </a:rPr>
              <a:t>SLOW DOWN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514600" y="7287768"/>
            <a:ext cx="3429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 u="none">
                <a:solidFill>
                  <a:srgbClr val="243044"/>
                </a:solidFill>
                <a:latin typeface="Arial"/>
              </a:rPr>
              <a:t>a road user is approaching the path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77240" y="7763256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77240" y="7763256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Arial"/>
              </a:rPr>
              <a:t>STEER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514600" y="7763256"/>
            <a:ext cx="3429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 u="none">
                <a:solidFill>
                  <a:srgbClr val="243044"/>
                </a:solidFill>
                <a:latin typeface="Arial"/>
              </a:rPr>
              <a:t>a safer offset trajectory exists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777240" y="8238744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77240" y="8238744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Arial"/>
              </a:rPr>
              <a:t>BRAKE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514600" y="8238744"/>
            <a:ext cx="3429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 u="none">
                <a:solidFill>
                  <a:srgbClr val="243044"/>
                </a:solidFill>
                <a:latin typeface="Arial"/>
              </a:rPr>
              <a:t>a road user is entering / in the path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77240" y="8714232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77240" y="8714232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Arial"/>
              </a:rPr>
              <a:t>NO SAFE PATH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514600" y="8714232"/>
            <a:ext cx="3429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 u="none">
                <a:solidFill>
                  <a:srgbClr val="243044"/>
                </a:solidFill>
                <a:latin typeface="Arial"/>
              </a:rPr>
              <a:t>every candidate path is blocked → stop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309359" y="6355080"/>
            <a:ext cx="557784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2" name="Picture 111" descr="tech_fan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6520" y="6473952"/>
            <a:ext cx="5303520" cy="2304288"/>
          </a:xfrm>
          <a:prstGeom prst="rect">
            <a:avLst/>
          </a:prstGeom>
          <a:ln w="12700">
            <a:solidFill>
              <a:srgbClr val="D3DCE6"/>
            </a:solidFill>
          </a:ln>
        </p:spPr>
      </p:pic>
      <p:sp>
        <p:nvSpPr>
          <p:cNvPr id="113" name="TextBox 112"/>
          <p:cNvSpPr txBox="1"/>
          <p:nvPr/>
        </p:nvSpPr>
        <p:spPr>
          <a:xfrm>
            <a:off x="6446520" y="885139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 u="none">
                <a:solidFill>
                  <a:srgbClr val="5B6778"/>
                </a:solidFill>
                <a:latin typeface="Arial"/>
              </a:rPr>
              <a:t>Candidate trajectories: conflicting paths (red) rejected, safe path (teal) kept — concept illustration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2298680" y="187451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5" name="Picture 114" descr="tune_w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390119" y="1965960"/>
            <a:ext cx="274320" cy="274320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12883896" y="1856231"/>
            <a:ext cx="48554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u="none">
                <a:solidFill>
                  <a:srgbClr val="1B2A41"/>
                </a:solidFill>
                <a:latin typeface="Arial"/>
              </a:rPr>
              <a:t>TECH STACK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2883896" y="2148839"/>
            <a:ext cx="48554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 u="none">
                <a:solidFill>
                  <a:srgbClr val="1F497D"/>
                </a:solidFill>
                <a:latin typeface="Arial"/>
              </a:rPr>
              <a:t>Technologies to be used (e.g. programming languages, frameworks, hardware)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2298680" y="2560320"/>
            <a:ext cx="2633472" cy="123444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9" name="Picture 118" descr="pytho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481559" y="2852927"/>
            <a:ext cx="640080" cy="640080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13258800" y="2834639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 u="none">
                <a:solidFill>
                  <a:srgbClr val="1B2A41"/>
                </a:solidFill>
                <a:latin typeface="Arial"/>
              </a:rPr>
              <a:t>Python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3258800" y="3218687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u="none">
                <a:solidFill>
                  <a:srgbClr val="5B6778"/>
                </a:solidFill>
                <a:latin typeface="Arial"/>
              </a:rPr>
              <a:t>core language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5041880" y="2560320"/>
            <a:ext cx="2633472" cy="123444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3" name="Picture 122" descr="opencv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224759" y="2852927"/>
            <a:ext cx="640080" cy="640080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16002000" y="2834639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 u="none">
                <a:solidFill>
                  <a:srgbClr val="1B2A41"/>
                </a:solidFill>
                <a:latin typeface="Arial"/>
              </a:rPr>
              <a:t>OpenCV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6002000" y="3218687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u="none">
                <a:solidFill>
                  <a:srgbClr val="5B6778"/>
                </a:solidFill>
                <a:latin typeface="Arial"/>
              </a:rPr>
              <a:t>video &amp; vision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2298680" y="3904487"/>
            <a:ext cx="2633472" cy="123444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7" name="Picture 126" descr="ultralytics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481559" y="4197096"/>
            <a:ext cx="640080" cy="640080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13258800" y="4178807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 u="none">
                <a:solidFill>
                  <a:srgbClr val="1B2A41"/>
                </a:solidFill>
                <a:latin typeface="Arial"/>
              </a:rPr>
              <a:t>YOLO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3258800" y="4562855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u="none">
                <a:solidFill>
                  <a:srgbClr val="5B6778"/>
                </a:solidFill>
                <a:latin typeface="Arial"/>
              </a:rPr>
              <a:t>object detection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15041880" y="3904487"/>
            <a:ext cx="2633472" cy="123444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1" name="Picture 130" descr="pytorch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224759" y="4197096"/>
            <a:ext cx="640080" cy="640080"/>
          </a:xfrm>
          <a:prstGeom prst="rect">
            <a:avLst/>
          </a:prstGeom>
        </p:spPr>
      </p:pic>
      <p:sp>
        <p:nvSpPr>
          <p:cNvPr id="132" name="TextBox 131"/>
          <p:cNvSpPr txBox="1"/>
          <p:nvPr/>
        </p:nvSpPr>
        <p:spPr>
          <a:xfrm>
            <a:off x="16002000" y="4178807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 u="none">
                <a:solidFill>
                  <a:srgbClr val="1B2A41"/>
                </a:solidFill>
                <a:latin typeface="Arial"/>
              </a:rPr>
              <a:t>PyTorch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6002000" y="4562855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u="none">
                <a:solidFill>
                  <a:srgbClr val="5B6778"/>
                </a:solidFill>
                <a:latin typeface="Arial"/>
              </a:rPr>
              <a:t>deep-learning runtime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12298680" y="5248656"/>
            <a:ext cx="2633472" cy="123444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12481559" y="5541264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6" name="Picture 135" descr="timelin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09576" y="5669280"/>
            <a:ext cx="384048" cy="384048"/>
          </a:xfrm>
          <a:prstGeom prst="rect">
            <a:avLst/>
          </a:prstGeom>
        </p:spPr>
      </p:pic>
      <p:sp>
        <p:nvSpPr>
          <p:cNvPr id="137" name="TextBox 136"/>
          <p:cNvSpPr txBox="1"/>
          <p:nvPr/>
        </p:nvSpPr>
        <p:spPr>
          <a:xfrm>
            <a:off x="13258800" y="5522976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 u="none">
                <a:solidFill>
                  <a:srgbClr val="1B2A41"/>
                </a:solidFill>
                <a:latin typeface="Arial"/>
              </a:rPr>
              <a:t>ByteTrack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3258800" y="5907024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u="none">
                <a:solidFill>
                  <a:srgbClr val="5B6778"/>
                </a:solidFill>
                <a:latin typeface="Arial"/>
              </a:rPr>
              <a:t>multi-object tracking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15041880" y="5248656"/>
            <a:ext cx="2633472" cy="123444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15224759" y="5541264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1" name="Picture 140" descr="lay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52776" y="5669280"/>
            <a:ext cx="384048" cy="384048"/>
          </a:xfrm>
          <a:prstGeom prst="rect">
            <a:avLst/>
          </a:prstGeom>
        </p:spPr>
      </p:pic>
      <p:sp>
        <p:nvSpPr>
          <p:cNvPr id="142" name="TextBox 141"/>
          <p:cNvSpPr txBox="1"/>
          <p:nvPr/>
        </p:nvSpPr>
        <p:spPr>
          <a:xfrm>
            <a:off x="16002000" y="5522976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u="none">
                <a:solidFill>
                  <a:srgbClr val="1B2A41"/>
                </a:solidFill>
                <a:latin typeface="Arial"/>
              </a:rPr>
              <a:t>Depth Anything V2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6002000" y="5907024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u="none">
                <a:solidFill>
                  <a:srgbClr val="5B6778"/>
                </a:solidFill>
                <a:latin typeface="Arial"/>
              </a:rPr>
              <a:t>monocular depth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12298680" y="6592824"/>
            <a:ext cx="2633472" cy="123444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5" name="Picture 144" descr="numpy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481559" y="6885432"/>
            <a:ext cx="640080" cy="640080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13258800" y="6867144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 u="none">
                <a:solidFill>
                  <a:srgbClr val="1B2A41"/>
                </a:solidFill>
                <a:latin typeface="Arial"/>
              </a:rPr>
              <a:t>NumPy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3258800" y="7251192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u="none">
                <a:solidFill>
                  <a:srgbClr val="5B6778"/>
                </a:solidFill>
                <a:latin typeface="Arial"/>
              </a:rPr>
              <a:t>planning &amp; geometry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5041880" y="6592824"/>
            <a:ext cx="2633472" cy="123444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9" name="Picture 148" descr="nvidia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224759" y="6885432"/>
            <a:ext cx="640080" cy="640080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16002000" y="6867144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 u="none">
                <a:solidFill>
                  <a:srgbClr val="1B2A41"/>
                </a:solidFill>
                <a:latin typeface="Arial"/>
              </a:rPr>
              <a:t>CUDA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6002000" y="7251192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u="none">
                <a:solidFill>
                  <a:srgbClr val="5B6778"/>
                </a:solidFill>
                <a:latin typeface="Arial"/>
              </a:rPr>
              <a:t>GPU acceleration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2298680" y="7936992"/>
            <a:ext cx="2633472" cy="123444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" name="Picture 152" descr="flas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481559" y="8229600"/>
            <a:ext cx="640080" cy="640080"/>
          </a:xfrm>
          <a:prstGeom prst="rect">
            <a:avLst/>
          </a:prstGeom>
        </p:spPr>
      </p:pic>
      <p:sp>
        <p:nvSpPr>
          <p:cNvPr id="154" name="TextBox 153"/>
          <p:cNvSpPr txBox="1"/>
          <p:nvPr/>
        </p:nvSpPr>
        <p:spPr>
          <a:xfrm>
            <a:off x="13258800" y="8211312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 u="none">
                <a:solidFill>
                  <a:srgbClr val="1B2A41"/>
                </a:solidFill>
                <a:latin typeface="Arial"/>
              </a:rPr>
              <a:t>Flask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3258800" y="859536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u="none">
                <a:solidFill>
                  <a:srgbClr val="5B6778"/>
                </a:solidFill>
                <a:latin typeface="Arial"/>
              </a:rPr>
              <a:t>demo web server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5041880" y="7936992"/>
            <a:ext cx="2633472" cy="123444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7" name="Picture 156" descr="html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169896" y="8348471"/>
            <a:ext cx="347472" cy="347472"/>
          </a:xfrm>
          <a:prstGeom prst="rect">
            <a:avLst/>
          </a:prstGeom>
        </p:spPr>
      </p:pic>
      <p:pic>
        <p:nvPicPr>
          <p:cNvPr id="158" name="Picture 157" descr="css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5553944" y="8348471"/>
            <a:ext cx="347472" cy="347472"/>
          </a:xfrm>
          <a:prstGeom prst="rect">
            <a:avLst/>
          </a:prstGeom>
        </p:spPr>
      </p:pic>
      <p:pic>
        <p:nvPicPr>
          <p:cNvPr id="159" name="Picture 158" descr="javascript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5937992" y="8348471"/>
            <a:ext cx="347472" cy="347472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16367759" y="8211312"/>
            <a:ext cx="1234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u="none">
                <a:solidFill>
                  <a:srgbClr val="1B2A41"/>
                </a:solidFill>
                <a:latin typeface="Arial"/>
              </a:rPr>
              <a:t>HTML / CSS / JS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6367759" y="85953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u="none">
                <a:solidFill>
                  <a:srgbClr val="5B6778"/>
                </a:solidFill>
                <a:latin typeface="Arial"/>
              </a:rPr>
              <a:t>review interface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3" id="3"/>
          <p:cNvGrpSpPr/>
          <p:nvPr/>
        </p:nvGrpSpPr>
        <p:grpSpPr>
          <a:xfrm rot="0">
            <a:off x="6248400" y="9534525"/>
            <a:ext cx="5791200" cy="547688"/>
            <a:chOff x="0" y="0"/>
            <a:chExt cx="7721600" cy="7302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721600" cy="730250"/>
            </a:xfrm>
            <a:custGeom>
              <a:avLst/>
              <a:gdLst/>
              <a:ahLst/>
              <a:cxnLst/>
              <a:rect r="r" b="b" t="t" l="l"/>
              <a:pathLst>
                <a:path h="730250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033" r="0" b="-15603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7721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4384000" cy="1025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3" id="13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Ctrl Alt Elite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988565" y="0"/>
            <a:ext cx="3051136" cy="1443918"/>
          </a:xfrm>
          <a:custGeom>
            <a:avLst/>
            <a:gdLst/>
            <a:ahLst/>
            <a:cxnLst/>
            <a:rect r="r" b="b" t="t" l="l"/>
            <a:pathLst>
              <a:path h="1443918" w="3051136">
                <a:moveTo>
                  <a:pt x="0" y="0"/>
                </a:moveTo>
                <a:lnTo>
                  <a:pt x="3051136" y="0"/>
                </a:lnTo>
                <a:lnTo>
                  <a:pt x="3051136" y="1443918"/>
                </a:lnTo>
                <a:lnTo>
                  <a:pt x="0" y="14439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2625" y="126621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noFill/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PROTOTYPE</a:t>
              </a:r>
            </a:p>
          </p:txBody>
        </p:sp>
      </p:grpSp>
      <p:sp>
        <p:nvSpPr>
          <p:cNvPr id="16" name="Rounded Rectangle 15"/>
          <p:cNvSpPr/>
          <p:nvPr/>
        </p:nvSpPr>
        <p:spPr>
          <a:xfrm>
            <a:off x="548640" y="187451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amera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965960"/>
            <a:ext cx="274320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33856" y="1856231"/>
            <a:ext cx="166055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u="none">
                <a:solidFill>
                  <a:srgbClr val="1B2A41"/>
                </a:solidFill>
                <a:latin typeface="Arial"/>
              </a:rPr>
              <a:t>FROM CAMERA VIEW TO 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2148839"/>
            <a:ext cx="16605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 u="none">
                <a:solidFill>
                  <a:srgbClr val="1F497D"/>
                </a:solidFill>
                <a:latin typeface="Arial"/>
              </a:rPr>
              <a:t>Actual output frames from the processed demo video — New BEL Road, Bengaluru (consecutive moments)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542032"/>
            <a:ext cx="5440680" cy="402336"/>
          </a:xfrm>
          <a:prstGeom prst="roundRect">
            <a:avLst>
              <a:gd name="adj" fmla="val 18181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542032"/>
            <a:ext cx="51663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Arial"/>
              </a:rPr>
              <a:t>1  </a:t>
            </a:r>
            <a:r>
              <a:rPr sz="1300" b="1" i="0" u="none">
                <a:solidFill>
                  <a:srgbClr val="FFFFFF"/>
                </a:solidFill>
                <a:latin typeface="Arial"/>
              </a:rPr>
              <a:t>GO STRAIGHT</a:t>
            </a:r>
          </a:p>
        </p:txBody>
      </p:sp>
      <p:pic>
        <p:nvPicPr>
          <p:cNvPr id="22" name="Picture 21" descr="proto_seq1_g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980944"/>
            <a:ext cx="5440680" cy="2312289"/>
          </a:xfrm>
          <a:prstGeom prst="rect">
            <a:avLst/>
          </a:prstGeom>
          <a:ln w="12700">
            <a:solidFill>
              <a:srgbClr val="16A34A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548640" y="5366385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u="none">
                <a:solidFill>
                  <a:srgbClr val="243044"/>
                </a:solidFill>
                <a:latin typeface="Arial"/>
              </a:rPr>
              <a:t>Oncoming car stays on its own side — ego path clear, keep going.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44183" y="4137088"/>
            <a:ext cx="310897" cy="0"/>
          </a:xfrm>
          <a:prstGeom prst="line">
            <a:avLst/>
          </a:prstGeom>
          <a:ln w="31750">
            <a:solidFill>
              <a:srgbClr val="1B2A4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00800" y="2542032"/>
            <a:ext cx="5440680" cy="402336"/>
          </a:xfrm>
          <a:prstGeom prst="roundRect">
            <a:avLst>
              <a:gd name="adj" fmla="val 18181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2542032"/>
            <a:ext cx="51663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Arial"/>
              </a:rPr>
              <a:t>2  </a:t>
            </a:r>
            <a:r>
              <a:rPr sz="1300" b="1" i="0" u="none">
                <a:solidFill>
                  <a:srgbClr val="FFFFFF"/>
                </a:solidFill>
                <a:latin typeface="Arial"/>
              </a:rPr>
              <a:t>SLOW DOWN</a:t>
            </a:r>
          </a:p>
        </p:txBody>
      </p:sp>
      <p:pic>
        <p:nvPicPr>
          <p:cNvPr id="27" name="Picture 26" descr="proto_seq2_slow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980944"/>
            <a:ext cx="5440680" cy="2312289"/>
          </a:xfrm>
          <a:prstGeom prst="rect">
            <a:avLst/>
          </a:prstGeom>
          <a:ln w="12700">
            <a:solidFill>
              <a:srgbClr val="D97706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6400800" y="5366385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u="none">
                <a:solidFill>
                  <a:srgbClr val="243044"/>
                </a:solidFill>
                <a:latin typeface="Arial"/>
              </a:rPr>
              <a:t>Oncoming vehicle starts entering the ego path — threat approaching.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1896344" y="4137088"/>
            <a:ext cx="310896" cy="0"/>
          </a:xfrm>
          <a:prstGeom prst="line">
            <a:avLst/>
          </a:prstGeom>
          <a:ln w="31750">
            <a:solidFill>
              <a:srgbClr val="1B2A4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2252960" y="2542032"/>
            <a:ext cx="5440680" cy="402336"/>
          </a:xfrm>
          <a:prstGeom prst="roundRect">
            <a:avLst>
              <a:gd name="adj" fmla="val 18181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90120" y="2542032"/>
            <a:ext cx="51663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Arial"/>
              </a:rPr>
              <a:t>3  </a:t>
            </a:r>
            <a:r>
              <a:rPr sz="1300" b="1" i="0" u="none">
                <a:solidFill>
                  <a:srgbClr val="FFFFFF"/>
                </a:solidFill>
                <a:latin typeface="Arial"/>
              </a:rPr>
              <a:t>BRAKE</a:t>
            </a:r>
          </a:p>
        </p:txBody>
      </p:sp>
      <p:pic>
        <p:nvPicPr>
          <p:cNvPr id="32" name="Picture 31" descr="proto_seq3_brak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52960" y="2980944"/>
            <a:ext cx="5440680" cy="2312289"/>
          </a:xfrm>
          <a:prstGeom prst="rect">
            <a:avLst/>
          </a:prstGeom>
          <a:ln w="12700">
            <a:solidFill>
              <a:srgbClr val="DC2626"/>
            </a:solidFill>
          </a:ln>
        </p:spPr>
      </p:pic>
      <p:sp>
        <p:nvSpPr>
          <p:cNvPr id="33" name="TextBox 32"/>
          <p:cNvSpPr txBox="1"/>
          <p:nvPr/>
        </p:nvSpPr>
        <p:spPr>
          <a:xfrm>
            <a:off x="12252960" y="5366385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u="none">
                <a:solidFill>
                  <a:srgbClr val="243044"/>
                </a:solidFill>
                <a:latin typeface="Arial"/>
              </a:rPr>
              <a:t>Pedestrian in the ego path — collision risk, brake.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9893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visibility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6080759"/>
            <a:ext cx="274320" cy="274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133856" y="5971032"/>
            <a:ext cx="80101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u="none">
                <a:solidFill>
                  <a:srgbClr val="1B2A41"/>
                </a:solidFill>
                <a:latin typeface="Arial"/>
              </a:rPr>
              <a:t>BEFORE vs AFTER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" y="6263640"/>
            <a:ext cx="80101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 u="none">
                <a:solidFill>
                  <a:srgbClr val="1F497D"/>
                </a:solidFill>
                <a:latin typeface="Arial"/>
              </a:rPr>
              <a:t>Same instant — raw camera frame vs. PathSense output (Nandidurga Road, Bengaluru)</a:t>
            </a:r>
          </a:p>
        </p:txBody>
      </p:sp>
      <p:pic>
        <p:nvPicPr>
          <p:cNvPr id="38" name="Picture 37" descr="proto_before_mixed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675120"/>
            <a:ext cx="4206240" cy="1787651"/>
          </a:xfrm>
          <a:prstGeom prst="rect">
            <a:avLst/>
          </a:prstGeom>
          <a:ln w="12700">
            <a:solidFill>
              <a:srgbClr val="5B6778"/>
            </a:solidFill>
          </a:ln>
        </p:spPr>
      </p:pic>
      <p:sp>
        <p:nvSpPr>
          <p:cNvPr id="39" name="TextBox 38"/>
          <p:cNvSpPr txBox="1"/>
          <p:nvPr/>
        </p:nvSpPr>
        <p:spPr>
          <a:xfrm>
            <a:off x="548640" y="8517636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5B6778"/>
                </a:solidFill>
                <a:latin typeface="Arial"/>
              </a:rPr>
              <a:t>BEFORE — raw camera view</a:t>
            </a:r>
          </a:p>
        </p:txBody>
      </p:sp>
      <p:pic>
        <p:nvPicPr>
          <p:cNvPr id="40" name="Picture 39" descr="proto_after_mixed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79" y="6675120"/>
            <a:ext cx="4206240" cy="1787651"/>
          </a:xfrm>
          <a:prstGeom prst="rect">
            <a:avLst/>
          </a:prstGeom>
          <a:ln w="12700">
            <a:solidFill>
              <a:srgbClr val="16A34A"/>
            </a:solidFill>
          </a:ln>
        </p:spPr>
      </p:pic>
      <p:sp>
        <p:nvSpPr>
          <p:cNvPr id="41" name="TextBox 40"/>
          <p:cNvSpPr txBox="1"/>
          <p:nvPr/>
        </p:nvSpPr>
        <p:spPr>
          <a:xfrm>
            <a:off x="4983479" y="8517636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Arial"/>
              </a:rPr>
              <a:t>AFTER — PathSense: road users tracked, path clear → GO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09760" y="5989320"/>
            <a:ext cx="8229600" cy="3291840"/>
          </a:xfrm>
          <a:prstGeom prst="roundRect">
            <a:avLst>
              <a:gd name="adj" fmla="val 3333"/>
            </a:avLst>
          </a:prstGeom>
          <a:solidFill>
            <a:srgbClr val="F2FAF8"/>
          </a:solidFill>
          <a:ln w="12700">
            <a:solidFill>
              <a:srgbClr val="CF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84080" y="6126480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B2A41"/>
                </a:solidFill>
                <a:latin typeface="Arial"/>
              </a:rPr>
              <a:t>CURRENT DEVELOPMENT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0" y="6492240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u="none">
                <a:solidFill>
                  <a:srgbClr val="0B7468"/>
                </a:solidFill>
                <a:latin typeface="Arial"/>
              </a:rPr>
              <a:t>Camera-based proof-of-concept demonstrating perception, threat assessment and adaptive path decisions on mixed Indian-road scenes.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7150608"/>
            <a:ext cx="47548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300"/>
              </a:spcAft>
              <a:buClr>
                <a:srgbClr val="0F9E8E"/>
              </a:buClr>
              <a:buFont typeface="Arial"/>
              <a:buChar char="•"/>
            </a:pPr>
            <a:r>
              <a:rPr sz="1050" b="0" i="0" u="none">
                <a:solidFill>
                  <a:srgbClr val="243044"/>
                </a:solidFill>
                <a:latin typeface="Arial"/>
              </a:rPr>
              <a:t>Detects and tracks cars, buses, two-wheelers, auto-rickshaws, pedestrians and animals</a:t>
            </a:r>
          </a:p>
          <a:p>
            <a:pPr algn="l" marL="182880" indent="-182880">
              <a:spcAft>
                <a:spcPts val="300"/>
              </a:spcAft>
              <a:buClr>
                <a:srgbClr val="0F9E8E"/>
              </a:buClr>
              <a:buFont typeface="Arial"/>
              <a:buChar char="•"/>
            </a:pPr>
            <a:r>
              <a:rPr sz="1050" b="0" i="0" u="none">
                <a:solidFill>
                  <a:srgbClr val="243044"/>
                </a:solidFill>
                <a:latin typeface="Arial"/>
              </a:rPr>
              <a:t>Separates traffic on its own side from threats entering the ego path</a:t>
            </a:r>
          </a:p>
          <a:p>
            <a:pPr algn="l" marL="182880" indent="-182880">
              <a:spcAft>
                <a:spcPts val="300"/>
              </a:spcAft>
              <a:buClr>
                <a:srgbClr val="0F9E8E"/>
              </a:buClr>
              <a:buFont typeface="Arial"/>
              <a:buChar char="•"/>
            </a:pPr>
            <a:r>
              <a:rPr sz="1050" b="0" i="0" u="none">
                <a:solidFill>
                  <a:srgbClr val="243044"/>
                </a:solidFill>
                <a:latin typeface="Arial"/>
              </a:rPr>
              <a:t>Plans around obstacles with candidate trajectories</a:t>
            </a:r>
          </a:p>
          <a:p>
            <a:pPr algn="l" marL="182880" indent="-182880">
              <a:spcAft>
                <a:spcPts val="300"/>
              </a:spcAft>
              <a:buClr>
                <a:srgbClr val="0F9E8E"/>
              </a:buClr>
              <a:buFont typeface="Arial"/>
              <a:buChar char="•"/>
            </a:pPr>
            <a:r>
              <a:rPr sz="1050" b="0" i="0" u="none">
                <a:solidFill>
                  <a:srgbClr val="243044"/>
                </a:solidFill>
                <a:latin typeface="Arial"/>
              </a:rPr>
              <a:t>Explains every decision and replays key moments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767559" y="7178040"/>
            <a:ext cx="2697480" cy="13716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githu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923008" y="7315200"/>
            <a:ext cx="384048" cy="38404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380208" y="729691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1B2A41"/>
                </a:solidFill>
                <a:latin typeface="Arial"/>
              </a:rPr>
              <a:t>Source code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923008" y="7772400"/>
            <a:ext cx="2468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u="sng">
                <a:solidFill>
                  <a:srgbClr val="1155CC"/>
                </a:solidFill>
                <a:latin typeface="Arial"/>
                <a:hlinkClick r:id="rId12"/>
              </a:rPr>
              <a:t>github.com/MalyalaKarthik66/pathsense-prototype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84080" y="877824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 u="none">
                <a:solidFill>
                  <a:srgbClr val="5B6778"/>
                </a:solidFill>
                <a:latin typeface="Arial"/>
              </a:rPr>
              <a:t>Frames are unedited pipeline output, cropped to the camera view. Source footage: L. Shyamal, Wikimedia Commons (CC0). Live demo shown separately.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9737" y="0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945600" cy="2324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00B05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Proof of Concept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248400" y="9534525"/>
            <a:ext cx="5791200" cy="547688"/>
            <a:chOff x="0" y="0"/>
            <a:chExt cx="77216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21600" cy="730250"/>
            </a:xfrm>
            <a:custGeom>
              <a:avLst/>
              <a:gdLst/>
              <a:ahLst/>
              <a:cxnLst/>
              <a:rect r="r" b="b" t="t" l="l"/>
              <a:pathLst>
                <a:path h="730250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033" r="0" b="-15603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7721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mo"/>
                  <a:ea typeface="Arimo"/>
                  <a:cs typeface="Arimo"/>
                  <a:sym typeface="Arimo"/>
                </a:rPr>
                <a:t>5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4384000" cy="1025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6" id="16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Ctrl Alt Elite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5011453" y="0"/>
            <a:ext cx="3051136" cy="1443918"/>
          </a:xfrm>
          <a:custGeom>
            <a:avLst/>
            <a:gdLst/>
            <a:ahLst/>
            <a:cxnLst/>
            <a:rect r="r" b="b" t="t" l="l"/>
            <a:pathLst>
              <a:path h="1443918" w="3051136">
                <a:moveTo>
                  <a:pt x="0" y="0"/>
                </a:moveTo>
                <a:lnTo>
                  <a:pt x="3051136" y="0"/>
                </a:lnTo>
                <a:lnTo>
                  <a:pt x="3051136" y="1443918"/>
                </a:lnTo>
                <a:lnTo>
                  <a:pt x="0" y="14439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19" name="Rounded Rectangle 18"/>
          <p:cNvSpPr/>
          <p:nvPr/>
        </p:nvSpPr>
        <p:spPr>
          <a:xfrm>
            <a:off x="548640" y="187451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lag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965960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33856" y="1856231"/>
            <a:ext cx="166055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u="none">
                <a:solidFill>
                  <a:srgbClr val="1B2A41"/>
                </a:solidFill>
                <a:latin typeface="Arial"/>
              </a:rPr>
              <a:t>PoC PROCESS — KEY 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2148839"/>
            <a:ext cx="16605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 u="none">
                <a:solidFill>
                  <a:srgbClr val="1F497D"/>
                </a:solidFill>
                <a:latin typeface="Arial"/>
              </a:rPr>
              <a:t>Define Problem &amp; Objective · Set Success Criteria · Plan Scope &amp; Resources · Build Prototype / Model · Test &amp; Validate · Decide Next Steps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606040"/>
            <a:ext cx="2670048" cy="2834640"/>
          </a:xfrm>
          <a:prstGeom prst="roundRect">
            <a:avLst>
              <a:gd name="adj" fmla="val 4109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2606040"/>
            <a:ext cx="2670048" cy="822960"/>
          </a:xfrm>
          <a:prstGeom prst="roundRect">
            <a:avLst>
              <a:gd name="adj" fmla="val 13333"/>
            </a:avLst>
          </a:prstGeom>
          <a:solidFill>
            <a:srgbClr val="245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154680"/>
            <a:ext cx="2670048" cy="274320"/>
          </a:xfrm>
          <a:prstGeom prst="rect">
            <a:avLst/>
          </a:prstGeom>
          <a:solidFill>
            <a:srgbClr val="245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2606040"/>
            <a:ext cx="548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pic>
        <p:nvPicPr>
          <p:cNvPr id="27" name="Picture 26" descr="warning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608" y="2807208"/>
            <a:ext cx="420624" cy="42062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31520" y="3611880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B2A41"/>
                </a:solidFill>
                <a:latin typeface="Arial"/>
              </a:rP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069080"/>
            <a:ext cx="2304288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 u="none">
                <a:solidFill>
                  <a:srgbClr val="243044"/>
                </a:solidFill>
                <a:latin typeface="Arial"/>
              </a:rPr>
              <a:t>Unstructured Indian roads make lane-based autonomous planning difficult.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236976" y="3017520"/>
            <a:ext cx="201168" cy="0"/>
          </a:xfrm>
          <a:prstGeom prst="line">
            <a:avLst/>
          </a:prstGeom>
          <a:ln w="25400">
            <a:solidFill>
              <a:srgbClr val="1B2A4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456432" y="2606040"/>
            <a:ext cx="2670048" cy="2834640"/>
          </a:xfrm>
          <a:prstGeom prst="roundRect">
            <a:avLst>
              <a:gd name="adj" fmla="val 4109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456432" y="2606040"/>
            <a:ext cx="2670048" cy="822960"/>
          </a:xfrm>
          <a:prstGeom prst="roundRect">
            <a:avLst>
              <a:gd name="adj" fmla="val 13333"/>
            </a:avLst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56432" y="3154680"/>
            <a:ext cx="2670048" cy="274320"/>
          </a:xfrm>
          <a:prstGeom prst="rect">
            <a:avLst/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39312" y="2606040"/>
            <a:ext cx="548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pic>
        <p:nvPicPr>
          <p:cNvPr id="35" name="Picture 34" descr="flag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399" y="2807208"/>
            <a:ext cx="420624" cy="42062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639312" y="3611880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B2A41"/>
                </a:solidFill>
                <a:latin typeface="Arial"/>
              </a:rPr>
              <a:t>OBJECTIVE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39312" y="4069080"/>
            <a:ext cx="2304288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 u="none">
                <a:solidFill>
                  <a:srgbClr val="243044"/>
                </a:solidFill>
                <a:latin typeface="Arial"/>
              </a:rPr>
              <a:t>Understand dynamic road interactions and generate safe adaptive paths.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144767" y="3017520"/>
            <a:ext cx="201169" cy="0"/>
          </a:xfrm>
          <a:prstGeom prst="line">
            <a:avLst/>
          </a:prstGeom>
          <a:ln w="25400">
            <a:solidFill>
              <a:srgbClr val="1B2A4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364223" y="2606040"/>
            <a:ext cx="2670048" cy="2834640"/>
          </a:xfrm>
          <a:prstGeom prst="roundRect">
            <a:avLst>
              <a:gd name="adj" fmla="val 4109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364223" y="2606040"/>
            <a:ext cx="2670048" cy="822960"/>
          </a:xfrm>
          <a:prstGeom prst="roundRect">
            <a:avLst>
              <a:gd name="adj" fmla="val 13333"/>
            </a:avLst>
          </a:prstGeom>
          <a:solidFill>
            <a:srgbClr val="1B8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64223" y="3154680"/>
            <a:ext cx="2670048" cy="274320"/>
          </a:xfrm>
          <a:prstGeom prst="rect">
            <a:avLst/>
          </a:prstGeom>
          <a:solidFill>
            <a:srgbClr val="1B8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47103" y="2606040"/>
            <a:ext cx="548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pic>
        <p:nvPicPr>
          <p:cNvPr id="43" name="Picture 42" descr="bo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2807208"/>
            <a:ext cx="420624" cy="42062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547103" y="3611880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B2A41"/>
                </a:solidFill>
                <a:latin typeface="Arial"/>
              </a:rPr>
              <a:t>PROTOTYPE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47103" y="4069080"/>
            <a:ext cx="2304288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 u="none">
                <a:solidFill>
                  <a:srgbClr val="243044"/>
                </a:solidFill>
                <a:latin typeface="Arial"/>
              </a:rPr>
              <a:t>Camera-based perception, tracking, motion understanding and path planning.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52559" y="3017520"/>
            <a:ext cx="201169" cy="0"/>
          </a:xfrm>
          <a:prstGeom prst="line">
            <a:avLst/>
          </a:prstGeom>
          <a:ln w="25400">
            <a:solidFill>
              <a:srgbClr val="1B2A4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9272015" y="2606040"/>
            <a:ext cx="2670048" cy="2834640"/>
          </a:xfrm>
          <a:prstGeom prst="roundRect">
            <a:avLst>
              <a:gd name="adj" fmla="val 4109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272015" y="2606040"/>
            <a:ext cx="2670048" cy="822960"/>
          </a:xfrm>
          <a:prstGeom prst="roundRect">
            <a:avLst>
              <a:gd name="adj" fmla="val 13333"/>
            </a:avLst>
          </a:prstGeom>
          <a:solidFill>
            <a:srgbClr val="118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72015" y="3154680"/>
            <a:ext cx="2670048" cy="274320"/>
          </a:xfrm>
          <a:prstGeom prst="rect">
            <a:avLst/>
          </a:prstGeom>
          <a:solidFill>
            <a:srgbClr val="118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54895" y="2606040"/>
            <a:ext cx="548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pic>
        <p:nvPicPr>
          <p:cNvPr id="51" name="Picture 50" descr="scienc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01984" y="2807208"/>
            <a:ext cx="420624" cy="42062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454895" y="3611880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B2A41"/>
                </a:solidFill>
                <a:latin typeface="Arial"/>
              </a:rPr>
              <a:t>TEST &amp; VALIDATE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54895" y="4069080"/>
            <a:ext cx="2304288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 u="none">
                <a:solidFill>
                  <a:srgbClr val="243044"/>
                </a:solidFill>
                <a:latin typeface="Arial"/>
              </a:rPr>
              <a:t>Scenario-based evaluation across diverse Indian-road conditions.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1960351" y="3017520"/>
            <a:ext cx="201168" cy="0"/>
          </a:xfrm>
          <a:prstGeom prst="line">
            <a:avLst/>
          </a:prstGeom>
          <a:ln w="25400">
            <a:solidFill>
              <a:srgbClr val="1B2A4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12179807" y="2606040"/>
            <a:ext cx="2670048" cy="2834640"/>
          </a:xfrm>
          <a:prstGeom prst="roundRect">
            <a:avLst>
              <a:gd name="adj" fmla="val 4109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2179807" y="2606040"/>
            <a:ext cx="2670048" cy="822960"/>
          </a:xfrm>
          <a:prstGeom prst="roundRect">
            <a:avLst>
              <a:gd name="adj" fmla="val 13333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2179807" y="3154680"/>
            <a:ext cx="2670048" cy="274320"/>
          </a:xfrm>
          <a:prstGeom prst="rect">
            <a:avLst/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362687" y="2606040"/>
            <a:ext cx="548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pic>
        <p:nvPicPr>
          <p:cNvPr id="59" name="Picture 58" descr="check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09776" y="2807208"/>
            <a:ext cx="420624" cy="420624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2362687" y="3611880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B2A41"/>
                </a:solidFill>
                <a:latin typeface="Arial"/>
              </a:rPr>
              <a:t>SUCCESS CRITERIA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362687" y="4069080"/>
            <a:ext cx="2304288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 u="none">
                <a:solidFill>
                  <a:srgbClr val="243044"/>
                </a:solidFill>
                <a:latin typeface="Arial"/>
              </a:rPr>
              <a:t>Appropriate path selection and risk response under changing traffic conditions.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4868143" y="3017520"/>
            <a:ext cx="201169" cy="0"/>
          </a:xfrm>
          <a:prstGeom prst="line">
            <a:avLst/>
          </a:prstGeom>
          <a:ln w="25400">
            <a:solidFill>
              <a:srgbClr val="1B2A4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15087600" y="2606040"/>
            <a:ext cx="2670048" cy="2834640"/>
          </a:xfrm>
          <a:prstGeom prst="roundRect">
            <a:avLst>
              <a:gd name="adj" fmla="val 4109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5087600" y="2606040"/>
            <a:ext cx="2670048" cy="822960"/>
          </a:xfrm>
          <a:prstGeom prst="roundRect">
            <a:avLst>
              <a:gd name="adj" fmla="val 13333"/>
            </a:avLst>
          </a:prstGeom>
          <a:solidFill>
            <a:srgbClr val="0B7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5087600" y="3154680"/>
            <a:ext cx="2670048" cy="274320"/>
          </a:xfrm>
          <a:prstGeom prst="rect">
            <a:avLst/>
          </a:prstGeom>
          <a:solidFill>
            <a:srgbClr val="0B7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5270480" y="2606040"/>
            <a:ext cx="548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 u="none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pic>
        <p:nvPicPr>
          <p:cNvPr id="67" name="Picture 66" descr="rocket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17568" y="2807208"/>
            <a:ext cx="420624" cy="420624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5270480" y="3611880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B2A41"/>
                </a:solidFill>
                <a:latin typeface="Arial"/>
              </a:rPr>
              <a:t>NEXT STEPS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270480" y="4069080"/>
            <a:ext cx="2304288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 u="none">
                <a:solidFill>
                  <a:srgbClr val="243044"/>
                </a:solidFill>
                <a:latin typeface="Arial"/>
              </a:rPr>
              <a:t>Sensor fusion, simulation / closed-loop validation and controlled vehicle integration.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48640" y="57607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ayers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5852159"/>
            <a:ext cx="274320" cy="27432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133856" y="5742432"/>
            <a:ext cx="166055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u="none">
                <a:solidFill>
                  <a:srgbClr val="1B2A41"/>
                </a:solidFill>
                <a:latin typeface="Arial"/>
              </a:rPr>
              <a:t>SCOPE &amp; RESOURCES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33856" y="6035040"/>
            <a:ext cx="16605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 u="none">
                <a:solidFill>
                  <a:srgbClr val="1F497D"/>
                </a:solidFill>
                <a:latin typeface="Arial"/>
              </a:rPr>
              <a:t>Plan Scope &amp; Resources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48640" y="6400800"/>
            <a:ext cx="5577840" cy="2880360"/>
          </a:xfrm>
          <a:prstGeom prst="roundRect">
            <a:avLst>
              <a:gd name="adj" fmla="val 3809"/>
            </a:avLst>
          </a:prstGeom>
          <a:solidFill>
            <a:srgbClr val="E8F6EC"/>
          </a:solidFill>
          <a:ln w="12700">
            <a:solidFill>
              <a:srgbClr val="E8F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77240" y="656539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6A34A"/>
                </a:solidFill>
                <a:latin typeface="Arial"/>
              </a:rPr>
              <a:t>IN SCOPE — proof of concept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7240" y="7059168"/>
            <a:ext cx="5120640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700"/>
              </a:spcAft>
              <a:buClr>
                <a:srgbClr val="16A34A"/>
              </a:buClr>
              <a:buFont typeface="Arial"/>
              <a:buChar char="•"/>
            </a:pPr>
            <a:r>
              <a:rPr sz="1350" b="0" i="0" u="none">
                <a:solidFill>
                  <a:srgbClr val="243044"/>
                </a:solidFill>
                <a:latin typeface="Arial"/>
              </a:rPr>
              <a:t>Camera-based perception of mixed Indian traffic</a:t>
            </a:r>
          </a:p>
          <a:p>
            <a:pPr algn="l" marL="182880" indent="-182880">
              <a:spcAft>
                <a:spcPts val="700"/>
              </a:spcAft>
              <a:buClr>
                <a:srgbClr val="16A34A"/>
              </a:buClr>
              <a:buFont typeface="Arial"/>
              <a:buChar char="•"/>
            </a:pPr>
            <a:r>
              <a:rPr sz="1350" b="0" i="0" u="none">
                <a:solidFill>
                  <a:srgbClr val="243044"/>
                </a:solidFill>
                <a:latin typeface="Arial"/>
              </a:rPr>
              <a:t>Multi-object tracking and short-term motion cues</a:t>
            </a:r>
          </a:p>
          <a:p>
            <a:pPr algn="l" marL="182880" indent="-182880">
              <a:spcAft>
                <a:spcPts val="700"/>
              </a:spcAft>
              <a:buClr>
                <a:srgbClr val="16A34A"/>
              </a:buClr>
              <a:buFont typeface="Arial"/>
              <a:buChar char="•"/>
            </a:pPr>
            <a:r>
              <a:rPr sz="1350" b="0" i="0" u="none">
                <a:solidFill>
                  <a:srgbClr val="243044"/>
                </a:solidFill>
                <a:latin typeface="Arial"/>
              </a:rPr>
              <a:t>Ego-path threat assessment and candidate-path planning</a:t>
            </a:r>
          </a:p>
          <a:p>
            <a:pPr algn="l" marL="182880" indent="-182880">
              <a:spcAft>
                <a:spcPts val="700"/>
              </a:spcAft>
              <a:buClr>
                <a:srgbClr val="16A34A"/>
              </a:buClr>
              <a:buFont typeface="Arial"/>
              <a:buChar char="•"/>
            </a:pPr>
            <a:r>
              <a:rPr sz="1350" b="0" i="0" u="none">
                <a:solidFill>
                  <a:srgbClr val="243044"/>
                </a:solidFill>
                <a:latin typeface="Arial"/>
              </a:rPr>
              <a:t>Explainable GO / SLOW / STEER / BRAKE decisions on recorded road video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355079" y="6400800"/>
            <a:ext cx="5577840" cy="2880360"/>
          </a:xfrm>
          <a:prstGeom prst="roundRect">
            <a:avLst>
              <a:gd name="adj" fmla="val 3809"/>
            </a:avLst>
          </a:prstGeom>
          <a:solidFill>
            <a:srgbClr val="FDF1E1"/>
          </a:solidFill>
          <a:ln w="12700">
            <a:solidFill>
              <a:srgbClr val="FDF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83679" y="656539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D97706"/>
                </a:solidFill>
                <a:latin typeface="Arial"/>
              </a:rPr>
              <a:t>LATER — pilot / production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83679" y="7059168"/>
            <a:ext cx="5120640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700"/>
              </a:spcAft>
              <a:buClr>
                <a:srgbClr val="D97706"/>
              </a:buClr>
              <a:buFont typeface="Arial"/>
              <a:buChar char="•"/>
            </a:pPr>
            <a:r>
              <a:rPr sz="1350" b="0" i="0" u="none">
                <a:solidFill>
                  <a:srgbClr val="243044"/>
                </a:solidFill>
                <a:latin typeface="Arial"/>
              </a:rPr>
              <a:t>Vehicle actuation and closed-loop control</a:t>
            </a:r>
          </a:p>
          <a:p>
            <a:pPr algn="l" marL="182880" indent="-182880">
              <a:spcAft>
                <a:spcPts val="700"/>
              </a:spcAft>
              <a:buClr>
                <a:srgbClr val="D97706"/>
              </a:buClr>
              <a:buFont typeface="Arial"/>
              <a:buChar char="•"/>
            </a:pPr>
            <a:r>
              <a:rPr sz="1350" b="0" i="0" u="none">
                <a:solidFill>
                  <a:srgbClr val="243044"/>
                </a:solidFill>
                <a:latin typeface="Arial"/>
              </a:rPr>
              <a:t>Radar / LiDAR and vehicle-state fusion</a:t>
            </a:r>
          </a:p>
          <a:p>
            <a:pPr algn="l" marL="182880" indent="-182880">
              <a:spcAft>
                <a:spcPts val="700"/>
              </a:spcAft>
              <a:buClr>
                <a:srgbClr val="D97706"/>
              </a:buClr>
              <a:buFont typeface="Arial"/>
              <a:buChar char="•"/>
            </a:pPr>
            <a:r>
              <a:rPr sz="1350" b="0" i="0" u="none">
                <a:solidFill>
                  <a:srgbClr val="243044"/>
                </a:solidFill>
                <a:latin typeface="Arial"/>
              </a:rPr>
              <a:t>Functional-safety engineering (ISO 26262 / SOTIF)</a:t>
            </a:r>
          </a:p>
          <a:p>
            <a:pPr algn="l" marL="182880" indent="-182880">
              <a:spcAft>
                <a:spcPts val="700"/>
              </a:spcAft>
              <a:buClr>
                <a:srgbClr val="D97706"/>
              </a:buClr>
              <a:buFont typeface="Arial"/>
              <a:buChar char="•"/>
            </a:pPr>
            <a:r>
              <a:rPr sz="1350" b="0" i="0" u="none">
                <a:solidFill>
                  <a:srgbClr val="243044"/>
                </a:solidFill>
                <a:latin typeface="Arial"/>
              </a:rPr>
              <a:t>Controlled field trials at scale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2161519" y="6400800"/>
            <a:ext cx="5577840" cy="2880360"/>
          </a:xfrm>
          <a:prstGeom prst="roundRect">
            <a:avLst>
              <a:gd name="adj" fmla="val 3809"/>
            </a:avLst>
          </a:prstGeom>
          <a:solidFill>
            <a:srgbClr val="E6EFF8"/>
          </a:solidFill>
          <a:ln w="12700">
            <a:solidFill>
              <a:srgbClr val="E6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2390119" y="656539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A6FB0"/>
                </a:solidFill>
                <a:latin typeface="Arial"/>
              </a:rPr>
              <a:t>RESOURCES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390119" y="7059168"/>
            <a:ext cx="5120640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700"/>
              </a:spcAft>
              <a:buClr>
                <a:srgbClr val="2A6FB0"/>
              </a:buClr>
              <a:buFont typeface="Arial"/>
              <a:buChar char="•"/>
            </a:pPr>
            <a:r>
              <a:rPr sz="1350" b="0" i="0" u="none">
                <a:solidFill>
                  <a:srgbClr val="243044"/>
                </a:solidFill>
                <a:latin typeface="Arial"/>
              </a:rPr>
              <a:t>Open pretrained models (YOLO, ByteTrack, Depth Anything V2)</a:t>
            </a:r>
          </a:p>
          <a:p>
            <a:pPr algn="l" marL="182880" indent="-182880">
              <a:spcAft>
                <a:spcPts val="700"/>
              </a:spcAft>
              <a:buClr>
                <a:srgbClr val="2A6FB0"/>
              </a:buClr>
              <a:buFont typeface="Arial"/>
              <a:buChar char="•"/>
            </a:pPr>
            <a:r>
              <a:rPr sz="1350" b="0" i="0" u="none">
                <a:solidFill>
                  <a:srgbClr val="243044"/>
                </a:solidFill>
                <a:latin typeface="Arial"/>
              </a:rPr>
              <a:t>Openly licensed Indian road-scene videos</a:t>
            </a:r>
          </a:p>
          <a:p>
            <a:pPr algn="l" marL="182880" indent="-182880">
              <a:spcAft>
                <a:spcPts val="700"/>
              </a:spcAft>
              <a:buClr>
                <a:srgbClr val="2A6FB0"/>
              </a:buClr>
              <a:buFont typeface="Arial"/>
              <a:buChar char="•"/>
            </a:pPr>
            <a:r>
              <a:rPr sz="1350" b="0" i="0" u="none">
                <a:solidFill>
                  <a:srgbClr val="243044"/>
                </a:solidFill>
                <a:latin typeface="Arial"/>
              </a:rPr>
              <a:t>Python / PyTorch stack on a laptop-class GPU</a:t>
            </a:r>
          </a:p>
          <a:p>
            <a:pPr algn="l" marL="182880" indent="-182880">
              <a:spcAft>
                <a:spcPts val="700"/>
              </a:spcAft>
              <a:buClr>
                <a:srgbClr val="2A6FB0"/>
              </a:buClr>
              <a:buFont typeface="Arial"/>
              <a:buChar char="•"/>
            </a:pPr>
            <a:r>
              <a:rPr sz="1350" b="0" i="0" u="none">
                <a:solidFill>
                  <a:srgbClr val="243044"/>
                </a:solidFill>
                <a:latin typeface="Arial"/>
              </a:rPr>
              <a:t>Simulation tools for the pilot stage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12721" y="-2362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Ctrl Alt Elite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4942787" y="111671"/>
            <a:ext cx="3051136" cy="1443918"/>
          </a:xfrm>
          <a:custGeom>
            <a:avLst/>
            <a:gdLst/>
            <a:ahLst/>
            <a:cxnLst/>
            <a:rect r="r" b="b" t="t" l="l"/>
            <a:pathLst>
              <a:path h="1443918" w="3051136">
                <a:moveTo>
                  <a:pt x="0" y="0"/>
                </a:moveTo>
                <a:lnTo>
                  <a:pt x="3051136" y="0"/>
                </a:lnTo>
                <a:lnTo>
                  <a:pt x="3051136" y="1443918"/>
                </a:lnTo>
                <a:lnTo>
                  <a:pt x="0" y="14439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18" name="Rounded Rectangle 17"/>
          <p:cNvSpPr/>
          <p:nvPr/>
        </p:nvSpPr>
        <p:spPr>
          <a:xfrm>
            <a:off x="548640" y="187451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965960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33856" y="1856231"/>
            <a:ext cx="49011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u="none">
                <a:solidFill>
                  <a:srgbClr val="1B2A41"/>
                </a:solidFill>
                <a:latin typeface="Arial"/>
              </a:rPr>
              <a:t>FEASIBILITY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2148839"/>
            <a:ext cx="49011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 u="none">
                <a:solidFill>
                  <a:srgbClr val="1F497D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514600"/>
            <a:ext cx="5486400" cy="3337560"/>
          </a:xfrm>
          <a:prstGeom prst="roundRect">
            <a:avLst>
              <a:gd name="adj" fmla="val 3287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697480"/>
            <a:ext cx="507492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 u="none">
                <a:solidFill>
                  <a:srgbClr val="0B7468"/>
                </a:solidFill>
                <a:latin typeface="Arial"/>
              </a:rPr>
              <a:t>Technology: </a:t>
            </a:r>
            <a:r>
              <a:rPr sz="1300" b="0" i="0" u="none">
                <a:solidFill>
                  <a:srgbClr val="243044"/>
                </a:solidFill>
                <a:latin typeface="Arial"/>
              </a:rPr>
              <a:t>Established computer-vision, object-tracking, depth-estimation and trajectory-planning techniques provide a practical development base.</a:t>
            </a:r>
          </a:p>
          <a:p>
            <a:pPr algn="l">
              <a:spcAft>
                <a:spcPts val="900"/>
              </a:spcAft>
            </a:pPr>
            <a:r>
              <a:rPr sz="1300" b="1" i="0" u="none">
                <a:solidFill>
                  <a:srgbClr val="0B7468"/>
                </a:solidFill>
                <a:latin typeface="Arial"/>
              </a:rPr>
              <a:t>Implementation: </a:t>
            </a:r>
            <a:r>
              <a:rPr sz="1300" b="0" i="0" u="none">
                <a:solidFill>
                  <a:srgbClr val="243044"/>
                </a:solidFill>
                <a:latin typeface="Arial"/>
              </a:rPr>
              <a:t>Modular perception → prediction → planning architecture enables incremental development and validation.</a:t>
            </a:r>
          </a:p>
          <a:p>
            <a:pPr algn="l">
              <a:spcAft>
                <a:spcPts val="900"/>
              </a:spcAft>
            </a:pPr>
            <a:r>
              <a:rPr sz="1300" b="1" i="0" u="none">
                <a:solidFill>
                  <a:srgbClr val="0B7468"/>
                </a:solidFill>
                <a:latin typeface="Arial"/>
              </a:rPr>
              <a:t>Integration: </a:t>
            </a:r>
            <a:r>
              <a:rPr sz="1300" b="0" i="0" u="none">
                <a:solidFill>
                  <a:srgbClr val="243044"/>
                </a:solidFill>
                <a:latin typeface="Arial"/>
              </a:rPr>
              <a:t>Can progressively incorporate vehicle-state, radar and LiDAR inputs.</a:t>
            </a:r>
          </a:p>
          <a:p>
            <a:pPr algn="l">
              <a:spcAft>
                <a:spcPts val="900"/>
              </a:spcAft>
            </a:pPr>
            <a:r>
              <a:rPr sz="1300" b="1" i="0" u="none">
                <a:solidFill>
                  <a:srgbClr val="0B7468"/>
                </a:solidFill>
                <a:latin typeface="Arial"/>
              </a:rPr>
              <a:t>Validation: </a:t>
            </a:r>
            <a:r>
              <a:rPr sz="1300" b="0" i="0" u="none">
                <a:solidFill>
                  <a:srgbClr val="243044"/>
                </a:solidFill>
                <a:latin typeface="Arial"/>
              </a:rPr>
              <a:t>Scenario-based testing progresses from recorded road scenes to simulation and controlled field trials.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187451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hiel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79" y="1965960"/>
            <a:ext cx="274320" cy="274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48855" y="1856231"/>
            <a:ext cx="5266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u="none">
                <a:solidFill>
                  <a:srgbClr val="1B2A41"/>
                </a:solidFill>
                <a:latin typeface="Arial"/>
              </a:rPr>
              <a:t>RISKS → MITIGATION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8855" y="2148839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 u="none">
                <a:solidFill>
                  <a:srgbClr val="1F497D"/>
                </a:solidFill>
                <a:latin typeface="Arial"/>
              </a:rPr>
              <a:t>Potential challenges and risks · Strategies for overcoming these challenges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2514600"/>
            <a:ext cx="2606040" cy="749808"/>
          </a:xfrm>
          <a:prstGeom prst="roundRect">
            <a:avLst>
              <a:gd name="adj" fmla="val 14634"/>
            </a:avLst>
          </a:prstGeom>
          <a:solidFill>
            <a:srgbClr val="FDECEC"/>
          </a:solidFill>
          <a:ln w="12700">
            <a:solidFill>
              <a:srgbClr val="F5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514600"/>
            <a:ext cx="23774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9B1C1C"/>
                </a:solidFill>
                <a:latin typeface="Arial"/>
              </a:rPr>
              <a:t>Unstructured road geometry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887968" y="2889504"/>
            <a:ext cx="301752" cy="0"/>
          </a:xfrm>
          <a:prstGeom prst="line">
            <a:avLst/>
          </a:prstGeom>
          <a:ln w="25400">
            <a:solidFill>
              <a:srgbClr val="1B2A4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217152" y="2514600"/>
            <a:ext cx="2898648" cy="749808"/>
          </a:xfrm>
          <a:prstGeom prst="roundRect">
            <a:avLst>
              <a:gd name="adj" fmla="val 14634"/>
            </a:avLst>
          </a:prstGeom>
          <a:solidFill>
            <a:srgbClr val="E3F4F1"/>
          </a:solidFill>
          <a:ln w="12700">
            <a:solidFill>
              <a:srgbClr val="CF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8" y="2514600"/>
            <a:ext cx="26974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 u="none">
                <a:solidFill>
                  <a:srgbClr val="243044"/>
                </a:solidFill>
                <a:latin typeface="Arial"/>
              </a:rPr>
              <a:t>Drivable-corridor and ego-path estimation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3364992"/>
            <a:ext cx="2606040" cy="749808"/>
          </a:xfrm>
          <a:prstGeom prst="roundRect">
            <a:avLst>
              <a:gd name="adj" fmla="val 14634"/>
            </a:avLst>
          </a:prstGeom>
          <a:solidFill>
            <a:srgbClr val="FDECEC"/>
          </a:solidFill>
          <a:ln w="12700">
            <a:solidFill>
              <a:srgbClr val="F5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364992"/>
            <a:ext cx="23774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9B1C1C"/>
                </a:solidFill>
                <a:latin typeface="Arial"/>
              </a:rPr>
              <a:t>Irregular road-user behaviour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887968" y="3739896"/>
            <a:ext cx="301752" cy="0"/>
          </a:xfrm>
          <a:prstGeom prst="line">
            <a:avLst/>
          </a:prstGeom>
          <a:ln w="25400">
            <a:solidFill>
              <a:srgbClr val="1B2A4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217152" y="3364992"/>
            <a:ext cx="2898648" cy="749808"/>
          </a:xfrm>
          <a:prstGeom prst="roundRect">
            <a:avLst>
              <a:gd name="adj" fmla="val 14634"/>
            </a:avLst>
          </a:prstGeom>
          <a:solidFill>
            <a:srgbClr val="E3F4F1"/>
          </a:solidFill>
          <a:ln w="12700">
            <a:solidFill>
              <a:srgbClr val="CF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45168" y="3364992"/>
            <a:ext cx="26974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 u="none">
                <a:solidFill>
                  <a:srgbClr val="243044"/>
                </a:solidFill>
                <a:latin typeface="Arial"/>
              </a:rPr>
              <a:t>Temporal tracking and short-term motion reasoning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4215384"/>
            <a:ext cx="2606040" cy="749808"/>
          </a:xfrm>
          <a:prstGeom prst="roundRect">
            <a:avLst>
              <a:gd name="adj" fmla="val 14634"/>
            </a:avLst>
          </a:prstGeom>
          <a:solidFill>
            <a:srgbClr val="FDECEC"/>
          </a:solidFill>
          <a:ln w="12700">
            <a:solidFill>
              <a:srgbClr val="F5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215384"/>
            <a:ext cx="23774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9B1C1C"/>
                </a:solidFill>
                <a:latin typeface="Arial"/>
              </a:rPr>
              <a:t>Perception uncertainty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887968" y="4590288"/>
            <a:ext cx="301752" cy="0"/>
          </a:xfrm>
          <a:prstGeom prst="line">
            <a:avLst/>
          </a:prstGeom>
          <a:ln w="25400">
            <a:solidFill>
              <a:srgbClr val="1B2A4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217152" y="4215384"/>
            <a:ext cx="2898648" cy="749808"/>
          </a:xfrm>
          <a:prstGeom prst="roundRect">
            <a:avLst>
              <a:gd name="adj" fmla="val 14634"/>
            </a:avLst>
          </a:prstGeom>
          <a:solidFill>
            <a:srgbClr val="E3F4F1"/>
          </a:solidFill>
          <a:ln w="12700">
            <a:solidFill>
              <a:srgbClr val="CF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45168" y="4215384"/>
            <a:ext cx="26974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 u="none">
                <a:solidFill>
                  <a:srgbClr val="243044"/>
                </a:solidFill>
                <a:latin typeface="Arial"/>
              </a:rPr>
              <a:t>Confidence-aware decisions and future sensor fusion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5065776"/>
            <a:ext cx="2606040" cy="749808"/>
          </a:xfrm>
          <a:prstGeom prst="roundRect">
            <a:avLst>
              <a:gd name="adj" fmla="val 14634"/>
            </a:avLst>
          </a:prstGeom>
          <a:solidFill>
            <a:srgbClr val="FDECEC"/>
          </a:solidFill>
          <a:ln w="12700">
            <a:solidFill>
              <a:srgbClr val="F5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5065776"/>
            <a:ext cx="23774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9B1C1C"/>
                </a:solidFill>
                <a:latin typeface="Arial"/>
              </a:rPr>
              <a:t>Real-world validation complexity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887968" y="5440680"/>
            <a:ext cx="301752" cy="0"/>
          </a:xfrm>
          <a:prstGeom prst="line">
            <a:avLst/>
          </a:prstGeom>
          <a:ln w="25400">
            <a:solidFill>
              <a:srgbClr val="1B2A4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9217152" y="5065776"/>
            <a:ext cx="2898648" cy="749808"/>
          </a:xfrm>
          <a:prstGeom prst="roundRect">
            <a:avLst>
              <a:gd name="adj" fmla="val 14634"/>
            </a:avLst>
          </a:prstGeom>
          <a:solidFill>
            <a:srgbClr val="E3F4F1"/>
          </a:solidFill>
          <a:ln w="12700">
            <a:solidFill>
              <a:srgbClr val="CF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45168" y="5065776"/>
            <a:ext cx="26974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 u="none">
                <a:solidFill>
                  <a:srgbClr val="243044"/>
                </a:solidFill>
                <a:latin typeface="Arial"/>
              </a:rPr>
              <a:t>Progressive scenario-based simulation and controlled testing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344400" y="187451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map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35840" y="1965960"/>
            <a:ext cx="274320" cy="27432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2929616" y="1856231"/>
            <a:ext cx="48097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u="none">
                <a:solidFill>
                  <a:srgbClr val="1B2A41"/>
                </a:solidFill>
                <a:latin typeface="Arial"/>
              </a:rPr>
              <a:t>DATA-DRIVEN / OPERATIONAL VIABILITY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2344400" y="2514600"/>
            <a:ext cx="5394960" cy="201168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545568" y="265176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u="none">
                <a:solidFill>
                  <a:srgbClr val="0B7468"/>
                </a:solidFill>
                <a:latin typeface="Arial"/>
              </a:rPr>
              <a:t>Data Foundation: </a:t>
            </a:r>
            <a:r>
              <a:rPr sz="1200" b="0" i="0" u="none">
                <a:solidFill>
                  <a:srgbClr val="243044"/>
                </a:solidFill>
                <a:latin typeface="Arial"/>
              </a:rPr>
              <a:t>road video, traffic observations, map / context information and future multi-sensor inputs.</a:t>
            </a:r>
          </a:p>
          <a:p>
            <a:pPr algn="l">
              <a:spcAft>
                <a:spcPts val="600"/>
              </a:spcAft>
            </a:pPr>
            <a:r>
              <a:rPr sz="1200" b="1" i="0" u="none">
                <a:solidFill>
                  <a:srgbClr val="0B7468"/>
                </a:solidFill>
                <a:latin typeface="Arial"/>
              </a:rPr>
              <a:t>Operational Value: </a:t>
            </a:r>
            <a:r>
              <a:rPr sz="1200" b="0" i="0" u="none">
                <a:solidFill>
                  <a:srgbClr val="243044"/>
                </a:solidFill>
                <a:latin typeface="Arial"/>
              </a:rPr>
              <a:t>adaptive navigation in mixed and unstructured road environments.</a:t>
            </a:r>
          </a:p>
          <a:p>
            <a:pPr algn="l">
              <a:spcAft>
                <a:spcPts val="600"/>
              </a:spcAft>
            </a:pPr>
            <a:r>
              <a:rPr sz="1200" b="1" i="0" u="none">
                <a:solidFill>
                  <a:srgbClr val="0B7468"/>
                </a:solidFill>
                <a:latin typeface="Arial"/>
              </a:rPr>
              <a:t>Scalability: </a:t>
            </a:r>
            <a:r>
              <a:rPr sz="1200" b="0" i="0" u="none">
                <a:solidFill>
                  <a:srgbClr val="243044"/>
                </a:solidFill>
                <a:latin typeface="Arial"/>
              </a:rPr>
              <a:t>prototype → pilot → production deployment pathway.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2344400" y="4645152"/>
            <a:ext cx="5394960" cy="1207008"/>
          </a:xfrm>
          <a:prstGeom prst="roundRect">
            <a:avLst>
              <a:gd name="adj" fmla="val 9090"/>
            </a:avLst>
          </a:prstGeom>
          <a:solidFill>
            <a:srgbClr val="E6EFF8"/>
          </a:solidFill>
          <a:ln w="12700">
            <a:solidFill>
              <a:srgbClr val="E6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545568" y="470916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A6FB0"/>
                </a:solidFill>
                <a:latin typeface="Arial"/>
              </a:rPr>
              <a:t>WHY IT MATTERS — India, 2022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545568" y="49834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1B2A41"/>
                </a:solidFill>
                <a:latin typeface="Arial"/>
              </a:rPr>
              <a:t>4,61,312</a:t>
            </a:r>
            <a:r>
              <a:rPr sz="1100" b="0" i="0" u="none">
                <a:solidFill>
                  <a:srgbClr val="243044"/>
                </a:solidFill>
                <a:latin typeface="Arial"/>
              </a:rPr>
              <a:t>  road accidents   </a:t>
            </a:r>
            <a:r>
              <a:rPr sz="2000" b="1" i="0" u="none">
                <a:solidFill>
                  <a:srgbClr val="DC2626"/>
                </a:solidFill>
                <a:latin typeface="Arial"/>
              </a:rPr>
              <a:t>1,68,491</a:t>
            </a:r>
            <a:r>
              <a:rPr sz="1100" b="0" i="0" u="none">
                <a:solidFill>
                  <a:srgbClr val="243044"/>
                </a:solidFill>
                <a:latin typeface="Arial"/>
              </a:rPr>
              <a:t>  deaths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545568" y="550468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 u="none">
                <a:solidFill>
                  <a:srgbClr val="5B6778"/>
                </a:solidFill>
                <a:latin typeface="Arial"/>
              </a:rPr>
              <a:t>Source: MoRTH, Road Accidents in India 2022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48640" y="6080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rocke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6172200"/>
            <a:ext cx="274320" cy="27432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133856" y="6062472"/>
            <a:ext cx="109362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u="none">
                <a:solidFill>
                  <a:srgbClr val="1B2A41"/>
                </a:solidFill>
                <a:latin typeface="Arial"/>
              </a:rPr>
              <a:t>PROTOTYPE → PILOT → PRODUCTION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" y="6355080"/>
            <a:ext cx="109362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 u="none">
                <a:solidFill>
                  <a:srgbClr val="1F497D"/>
                </a:solidFill>
                <a:latin typeface="Arial"/>
              </a:rPr>
              <a:t>Development roadmap</a:t>
            </a:r>
          </a:p>
        </p:txBody>
      </p:sp>
      <p:sp>
        <p:nvSpPr>
          <p:cNvPr id="61" name="Pentagon 60"/>
          <p:cNvSpPr/>
          <p:nvPr/>
        </p:nvSpPr>
        <p:spPr>
          <a:xfrm>
            <a:off x="548640" y="6720840"/>
            <a:ext cx="3977639" cy="2514600"/>
          </a:xfrm>
          <a:prstGeom prst="homePlate">
            <a:avLst>
              <a:gd name="adj" fmla="val 13000"/>
            </a:avLst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7240" y="6949440"/>
            <a:ext cx="33375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Arial"/>
              </a:rPr>
              <a:t>PROTOTYPE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7240" y="7452360"/>
            <a:ext cx="3291839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 u="none">
                <a:solidFill>
                  <a:srgbClr val="FFFFFF"/>
                </a:solidFill>
                <a:latin typeface="Arial"/>
              </a:rPr>
              <a:t>Camera-based proof-of-concept for perception, tracking and adaptive path planning.</a:t>
            </a:r>
          </a:p>
        </p:txBody>
      </p:sp>
      <p:sp>
        <p:nvSpPr>
          <p:cNvPr id="64" name="Chevron 63"/>
          <p:cNvSpPr/>
          <p:nvPr/>
        </p:nvSpPr>
        <p:spPr>
          <a:xfrm>
            <a:off x="4315967" y="6720840"/>
            <a:ext cx="3977639" cy="2514600"/>
          </a:xfrm>
          <a:prstGeom prst="chevron">
            <a:avLst>
              <a:gd name="adj" fmla="val 13000"/>
            </a:avLst>
          </a:prstGeom>
          <a:solidFill>
            <a:srgbClr val="118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818887" y="6949440"/>
            <a:ext cx="30632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Arial"/>
              </a:rPr>
              <a:t>PILOT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18887" y="7452360"/>
            <a:ext cx="30175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 u="none">
                <a:solidFill>
                  <a:srgbClr val="FFFFFF"/>
                </a:solidFill>
                <a:latin typeface="Arial"/>
              </a:rPr>
              <a:t>Broader scenario validation, sensor expansion, simulation and controlled road trials.</a:t>
            </a:r>
          </a:p>
        </p:txBody>
      </p:sp>
      <p:sp>
        <p:nvSpPr>
          <p:cNvPr id="67" name="Chevron 66"/>
          <p:cNvSpPr/>
          <p:nvPr/>
        </p:nvSpPr>
        <p:spPr>
          <a:xfrm>
            <a:off x="8083295" y="6720840"/>
            <a:ext cx="3977639" cy="2514600"/>
          </a:xfrm>
          <a:prstGeom prst="chevron">
            <a:avLst>
              <a:gd name="adj" fmla="val 13000"/>
            </a:avLst>
          </a:prstGeom>
          <a:solidFill>
            <a:srgbClr val="0B7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86215" y="6949440"/>
            <a:ext cx="30632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Arial"/>
              </a:rPr>
              <a:t>PRODUCTION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86215" y="7452360"/>
            <a:ext cx="30175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 u="none">
                <a:solidFill>
                  <a:srgbClr val="FFFFFF"/>
                </a:solidFill>
                <a:latin typeface="Arial"/>
              </a:rPr>
              <a:t>Vehicle-grade multi-sensor perception, closed-loop validation and automotive safety engineering.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2344400" y="6080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scienc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35840" y="6172200"/>
            <a:ext cx="274320" cy="27432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2929616" y="6062472"/>
            <a:ext cx="48097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u="none">
                <a:solidFill>
                  <a:srgbClr val="1B2A41"/>
                </a:solidFill>
                <a:latin typeface="Arial"/>
              </a:rPr>
              <a:t>POTENTIAL COLLABORATIONS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929616" y="6355080"/>
            <a:ext cx="4809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 u="none">
                <a:solidFill>
                  <a:srgbClr val="1F497D"/>
                </a:solidFill>
                <a:latin typeface="Arial"/>
              </a:rPr>
              <a:t>Industry · academia · government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2344400" y="6720840"/>
            <a:ext cx="26517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2454128" y="6876288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car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41910" y="6964070"/>
            <a:ext cx="263347" cy="263347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2984480" y="6720840"/>
            <a:ext cx="193852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1B2A41"/>
                </a:solidFill>
                <a:latin typeface="Arial"/>
              </a:rPr>
              <a:t>Automotive OEMs &amp; Tier-1 suppliers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5069312" y="6720840"/>
            <a:ext cx="26517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5179040" y="6876288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scienc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66822" y="6964070"/>
            <a:ext cx="263347" cy="263347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15709392" y="6720840"/>
            <a:ext cx="193852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1B2A41"/>
                </a:solidFill>
                <a:latin typeface="Arial"/>
              </a:rPr>
              <a:t>Research labs (IITs, IISc)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2344400" y="7571231"/>
            <a:ext cx="26517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12454128" y="7726679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layers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41910" y="7814462"/>
            <a:ext cx="263347" cy="263347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12984480" y="7571231"/>
            <a:ext cx="193852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1B2A41"/>
                </a:solidFill>
                <a:latin typeface="Arial"/>
              </a:rPr>
              <a:t>Simulation-tool partners (e.g. MathWorks)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5069312" y="7571231"/>
            <a:ext cx="26517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15179040" y="7726679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shiel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66822" y="7814462"/>
            <a:ext cx="263347" cy="263347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5709392" y="7571231"/>
            <a:ext cx="193852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1B2A41"/>
                </a:solidFill>
                <a:latin typeface="Arial"/>
              </a:rPr>
              <a:t>Transport &amp; road-safety departments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2344400" y="8421624"/>
            <a:ext cx="26517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12454128" y="8577072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Picture 91" descr="bus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41910" y="8664854"/>
            <a:ext cx="263347" cy="263347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2984480" y="8421624"/>
            <a:ext cx="193852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1B2A41"/>
                </a:solidFill>
                <a:latin typeface="Arial"/>
              </a:rPr>
              <a:t>Fleet &amp; public-transport operators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5069312" y="8421624"/>
            <a:ext cx="26517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15179040" y="8577072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rocke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66822" y="8664854"/>
            <a:ext cx="263347" cy="263347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15709392" y="8421624"/>
            <a:ext cx="193852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u="none">
                <a:solidFill>
                  <a:srgbClr val="1B2A41"/>
                </a:solidFill>
                <a:latin typeface="Arial"/>
              </a:rPr>
              <a:t>Mobility startups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5700" y="-67356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7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Ctrl Alt Elite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4933150" y="203226"/>
            <a:ext cx="3051136" cy="1443918"/>
          </a:xfrm>
          <a:custGeom>
            <a:avLst/>
            <a:gdLst/>
            <a:ahLst/>
            <a:cxnLst/>
            <a:rect r="r" b="b" t="t" l="l"/>
            <a:pathLst>
              <a:path h="1443918" w="3051136">
                <a:moveTo>
                  <a:pt x="0" y="0"/>
                </a:moveTo>
                <a:lnTo>
                  <a:pt x="3051136" y="0"/>
                </a:lnTo>
                <a:lnTo>
                  <a:pt x="3051136" y="1443918"/>
                </a:lnTo>
                <a:lnTo>
                  <a:pt x="0" y="14439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17" name="Rounded Rectangle 16"/>
          <p:cNvSpPr/>
          <p:nvPr/>
        </p:nvSpPr>
        <p:spPr>
          <a:xfrm>
            <a:off x="548640" y="187451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lag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965960"/>
            <a:ext cx="274320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33856" y="1856231"/>
            <a:ext cx="91074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u="none">
                <a:solidFill>
                  <a:srgbClr val="1B2A41"/>
                </a:solidFill>
                <a:latin typeface="Arial"/>
              </a:rPr>
              <a:t>POTENTIAL IMPACTS — TARGET AUDIENCE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2148839"/>
            <a:ext cx="9107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 u="none">
                <a:solidFill>
                  <a:srgbClr val="1F497D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542032"/>
            <a:ext cx="9692640" cy="1243584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9808" y="2843784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a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2971800"/>
            <a:ext cx="384048" cy="3840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600200" y="2724912"/>
            <a:ext cx="6126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1B2A41"/>
                </a:solidFill>
                <a:latin typeface="Arial"/>
              </a:rPr>
              <a:t>Passengers / Drivers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3154679"/>
            <a:ext cx="6126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43044"/>
                </a:solidFill>
                <a:latin typeface="Arial"/>
              </a:rPr>
              <a:t>Safer interaction with unpredictable road users.</a:t>
            </a:r>
          </a:p>
        </p:txBody>
      </p:sp>
      <p:pic>
        <p:nvPicPr>
          <p:cNvPr id="26" name="Picture 25" descr="aud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79" y="2651760"/>
            <a:ext cx="2148840" cy="1024128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548640" y="3895344"/>
            <a:ext cx="9692640" cy="1243584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9808" y="4197096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bu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" y="4325112"/>
            <a:ext cx="384048" cy="3840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600200" y="4078224"/>
            <a:ext cx="6126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1B2A41"/>
                </a:solidFill>
                <a:latin typeface="Arial"/>
              </a:rPr>
              <a:t>Urban Mobility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4507992"/>
            <a:ext cx="6126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43044"/>
                </a:solidFill>
                <a:latin typeface="Arial"/>
              </a:rPr>
              <a:t>Adaptive navigation in dense mixed traffic.</a:t>
            </a:r>
          </a:p>
        </p:txBody>
      </p:sp>
      <p:pic>
        <p:nvPicPr>
          <p:cNvPr id="32" name="Picture 31" descr="aud_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5279" y="4005072"/>
            <a:ext cx="2148840" cy="1024128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548640" y="5248656"/>
            <a:ext cx="9692640" cy="1243584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9808" y="5550408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118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map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824" y="5678424"/>
            <a:ext cx="384048" cy="38404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600200" y="5431536"/>
            <a:ext cx="6126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1B2A41"/>
                </a:solidFill>
                <a:latin typeface="Arial"/>
              </a:rPr>
              <a:t>Rural Mobility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5861304"/>
            <a:ext cx="6126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43044"/>
                </a:solidFill>
                <a:latin typeface="Arial"/>
              </a:rPr>
              <a:t>Improved handling of roads without reliable lane markings.</a:t>
            </a:r>
          </a:p>
        </p:txBody>
      </p:sp>
      <p:pic>
        <p:nvPicPr>
          <p:cNvPr id="38" name="Picture 37" descr="aud_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5279" y="5358384"/>
            <a:ext cx="2148840" cy="1024128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548640" y="6601967"/>
            <a:ext cx="9692640" cy="1243584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49808" y="6903719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245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layers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7824" y="7031735"/>
            <a:ext cx="384048" cy="38404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600200" y="6784847"/>
            <a:ext cx="6126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1B2A41"/>
                </a:solidFill>
                <a:latin typeface="Arial"/>
              </a:rPr>
              <a:t>Automotive / Mobility Industry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00200" y="7214615"/>
            <a:ext cx="6126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43044"/>
                </a:solidFill>
                <a:latin typeface="Arial"/>
              </a:rPr>
              <a:t>Foundation for Indian-road-aware autonomous systems.</a:t>
            </a:r>
          </a:p>
        </p:txBody>
      </p:sp>
      <p:pic>
        <p:nvPicPr>
          <p:cNvPr id="44" name="Picture 43" descr="aud_3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5279" y="6711695"/>
            <a:ext cx="2148840" cy="1024128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548640" y="7955279"/>
            <a:ext cx="9692640" cy="1243584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49808" y="8257031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0B7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science_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7824" y="8385048"/>
            <a:ext cx="384048" cy="38404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600200" y="8138159"/>
            <a:ext cx="6126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1B2A41"/>
                </a:solidFill>
                <a:latin typeface="Arial"/>
              </a:rPr>
              <a:t>Research &amp; Academia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00200" y="8567928"/>
            <a:ext cx="6126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43044"/>
                </a:solidFill>
                <a:latin typeface="Arial"/>
              </a:rPr>
              <a:t>Platform for studying unstructured-road perception and planning.</a:t>
            </a:r>
          </a:p>
        </p:txBody>
      </p:sp>
      <p:pic>
        <p:nvPicPr>
          <p:cNvPr id="50" name="Picture 49" descr="aud_4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55279" y="8065007"/>
            <a:ext cx="2148840" cy="102412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955279" y="9308592"/>
            <a:ext cx="2148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1" u="none">
                <a:solidFill>
                  <a:srgbClr val="5B6778"/>
                </a:solidFill>
                <a:latin typeface="Arial"/>
              </a:rPr>
              <a:t>concept illustrations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15600" y="187451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check_w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07040" y="1965960"/>
            <a:ext cx="274320" cy="27432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1100816" y="1856231"/>
            <a:ext cx="66385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u="none">
                <a:solidFill>
                  <a:srgbClr val="1B2A41"/>
                </a:solidFill>
                <a:latin typeface="Arial"/>
              </a:rPr>
              <a:t>BENEFITS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00816" y="2148839"/>
            <a:ext cx="66385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 u="none">
                <a:solidFill>
                  <a:srgbClr val="1F497D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515600" y="2542032"/>
            <a:ext cx="3547872" cy="1810512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0716768" y="274320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hield_w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30153" y="2856585"/>
            <a:ext cx="340156" cy="340156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1411712" y="2743200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u="none">
                <a:solidFill>
                  <a:srgbClr val="16A34A"/>
                </a:solidFill>
                <a:latin typeface="Arial"/>
              </a:rPr>
              <a:t>SAFETY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16768" y="3456432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243044"/>
                </a:solidFill>
                <a:latin typeface="Arial"/>
              </a:rPr>
              <a:t>Better recognition of potential ego-path conflicts.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4173200" y="2542032"/>
            <a:ext cx="3547872" cy="1810512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4374368" y="274320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op_w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487753" y="2856585"/>
            <a:ext cx="340156" cy="340156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5069312" y="2743200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u="none">
                <a:solidFill>
                  <a:srgbClr val="2A6FB0"/>
                </a:solidFill>
                <a:latin typeface="Arial"/>
              </a:rPr>
              <a:t>ADAPTABILITY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374368" y="3456432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243044"/>
                </a:solidFill>
                <a:latin typeface="Arial"/>
              </a:rPr>
              <a:t>Responds to changing traffic and road conditions.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515600" y="4480560"/>
            <a:ext cx="3547872" cy="1810512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0716768" y="468172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118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rocket_w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30153" y="4795113"/>
            <a:ext cx="340156" cy="340156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1411712" y="4681728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u="none">
                <a:solidFill>
                  <a:srgbClr val="118F95"/>
                </a:solidFill>
                <a:latin typeface="Arial"/>
              </a:rPr>
              <a:t>SCALABILITY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716768" y="539496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243044"/>
                </a:solidFill>
                <a:latin typeface="Arial"/>
              </a:rPr>
              <a:t>Prototype → pilot → production pathway.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4173200" y="4480560"/>
            <a:ext cx="3547872" cy="1810512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4374368" y="468172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0B7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map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487753" y="4795113"/>
            <a:ext cx="340156" cy="340156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15069312" y="4681728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u="none">
                <a:solidFill>
                  <a:srgbClr val="0B7468"/>
                </a:solidFill>
                <a:latin typeface="Arial"/>
              </a:rPr>
              <a:t>INDIAN-ROAD RELEVANCE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4374368" y="539496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243044"/>
                </a:solidFill>
                <a:latin typeface="Arial"/>
              </a:rPr>
              <a:t>Designed around mixed and irregular traffic behaviour.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515600" y="6492240"/>
            <a:ext cx="7205472" cy="2798064"/>
          </a:xfrm>
          <a:prstGeom prst="roundRect">
            <a:avLst>
              <a:gd name="adj" fmla="val 3921"/>
            </a:avLst>
          </a:prstGeom>
          <a:solidFill>
            <a:srgbClr val="F2FAF8"/>
          </a:solidFill>
          <a:ln w="12700">
            <a:solidFill>
              <a:srgbClr val="CF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744200" y="6629400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B7468"/>
                </a:solidFill>
                <a:latin typeface="Arial"/>
              </a:rPr>
              <a:t>SOCIAL · ECONOMIC · ENVIRONMENTAL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744200" y="7086600"/>
            <a:ext cx="6766560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350" b="1" i="0" u="none">
                <a:solidFill>
                  <a:srgbClr val="1B2A41"/>
                </a:solidFill>
                <a:latin typeface="Arial"/>
              </a:rPr>
              <a:t>Social: </a:t>
            </a:r>
            <a:r>
              <a:rPr sz="1350" b="0" i="0" u="none">
                <a:solidFill>
                  <a:srgbClr val="243044"/>
                </a:solidFill>
                <a:latin typeface="Arial"/>
              </a:rPr>
              <a:t>safer shared roads for pedestrians, cyclists and two-wheelers.</a:t>
            </a:r>
          </a:p>
          <a:p>
            <a:pPr algn="l">
              <a:spcAft>
                <a:spcPts val="1200"/>
              </a:spcAft>
            </a:pPr>
            <a:r>
              <a:rPr sz="1350" b="1" i="0" u="none">
                <a:solidFill>
                  <a:srgbClr val="1B2A41"/>
                </a:solidFill>
                <a:latin typeface="Arial"/>
              </a:rPr>
              <a:t>Economic: </a:t>
            </a:r>
            <a:r>
              <a:rPr sz="1350" b="0" i="0" u="none">
                <a:solidFill>
                  <a:srgbClr val="243044"/>
                </a:solidFill>
                <a:latin typeface="Arial"/>
              </a:rPr>
              <a:t>fewer conflicts for fleets and home-grown driver-assistance capability.</a:t>
            </a:r>
          </a:p>
          <a:p>
            <a:pPr algn="l">
              <a:spcAft>
                <a:spcPts val="1200"/>
              </a:spcAft>
            </a:pPr>
            <a:r>
              <a:rPr sz="1350" b="1" i="0" u="none">
                <a:solidFill>
                  <a:srgbClr val="1B2A41"/>
                </a:solidFill>
                <a:latin typeface="Arial"/>
              </a:rPr>
              <a:t>Environmental: </a:t>
            </a:r>
            <a:r>
              <a:rPr sz="1350" b="0" i="0" u="none">
                <a:solidFill>
                  <a:srgbClr val="243044"/>
                </a:solidFill>
                <a:latin typeface="Arial"/>
              </a:rPr>
              <a:t>smoother, anticipatory driving with fewer abrupt stops (expected).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0100" y="-106080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Business Model Canvas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248400" y="9534525"/>
            <a:ext cx="5791200" cy="547688"/>
            <a:chOff x="0" y="0"/>
            <a:chExt cx="7721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721600" cy="730250"/>
            </a:xfrm>
            <a:custGeom>
              <a:avLst/>
              <a:gdLst/>
              <a:ahLst/>
              <a:cxnLst/>
              <a:rect r="r" b="b" t="t" l="l"/>
              <a:pathLst>
                <a:path h="730250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033" r="0" b="-15603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7721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mo"/>
                  <a:ea typeface="Arimo"/>
                  <a:cs typeface="Arimo"/>
                  <a:sym typeface="Arimo"/>
                </a:rPr>
                <a:t>8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4384000" cy="1025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7" id="17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Ctrl Alt Elite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4919899" y="0"/>
            <a:ext cx="3051136" cy="1443918"/>
          </a:xfrm>
          <a:custGeom>
            <a:avLst/>
            <a:gdLst/>
            <a:ahLst/>
            <a:cxnLst/>
            <a:rect r="r" b="b" t="t" l="l"/>
            <a:pathLst>
              <a:path h="1443918" w="3051136">
                <a:moveTo>
                  <a:pt x="0" y="0"/>
                </a:moveTo>
                <a:lnTo>
                  <a:pt x="3051136" y="0"/>
                </a:lnTo>
                <a:lnTo>
                  <a:pt x="3051136" y="1443918"/>
                </a:lnTo>
                <a:lnTo>
                  <a:pt x="0" y="14439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20" name="Rectangle 19"/>
          <p:cNvSpPr/>
          <p:nvPr/>
        </p:nvSpPr>
        <p:spPr>
          <a:xfrm>
            <a:off x="0" y="1801368"/>
            <a:ext cx="18288000" cy="7525512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01168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111111"/>
                </a:solidFill>
                <a:latin typeface="Arial"/>
              </a:rPr>
              <a:t>The Business Model Canvas — PathSense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2011680"/>
            <a:ext cx="33832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2672" y="2048256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u="none">
                <a:solidFill>
                  <a:srgbClr val="111111"/>
                </a:solidFill>
                <a:latin typeface="Arial"/>
              </a:rPr>
              <a:t>Designed for: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2" y="224942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u="none">
                <a:solidFill>
                  <a:srgbClr val="1B2A41"/>
                </a:solidFill>
                <a:latin typeface="Arial"/>
              </a:rPr>
              <a:t>PathSense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109960" y="2011680"/>
            <a:ext cx="32461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83112" y="2048256"/>
            <a:ext cx="31546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u="none">
                <a:solidFill>
                  <a:srgbClr val="111111"/>
                </a:solidFill>
                <a:latin typeface="Arial"/>
              </a:rPr>
              <a:t>Designed by: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3112" y="2249424"/>
            <a:ext cx="31546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u="none">
                <a:solidFill>
                  <a:srgbClr val="1B2A41"/>
                </a:solidFill>
                <a:latin typeface="Arial"/>
              </a:rPr>
              <a:t>Ctrl Alt Elite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493240" y="2011680"/>
            <a:ext cx="15544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566392" y="2048256"/>
            <a:ext cx="1463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u="none">
                <a:solidFill>
                  <a:srgbClr val="111111"/>
                </a:solidFill>
                <a:latin typeface="Arial"/>
              </a:rPr>
              <a:t>Date: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66392" y="2249424"/>
            <a:ext cx="1463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u="none">
                <a:solidFill>
                  <a:srgbClr val="1B2A41"/>
                </a:solidFill>
                <a:latin typeface="Arial"/>
              </a:rPr>
              <a:t>2026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184880" y="2011680"/>
            <a:ext cx="14630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58031" y="2048256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u="none">
                <a:solidFill>
                  <a:srgbClr val="111111"/>
                </a:solidFill>
                <a:latin typeface="Arial"/>
              </a:rPr>
              <a:t>Version: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258031" y="224942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u="none">
                <a:solidFill>
                  <a:srgbClr val="1B2A41"/>
                </a:solidFill>
                <a:latin typeface="Arial"/>
              </a:rPr>
              <a:t>Idea stage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2743200"/>
            <a:ext cx="3401568" cy="4617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2880360"/>
            <a:ext cx="26700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111111"/>
                </a:solidFill>
                <a:latin typeface="Arial"/>
              </a:rPr>
              <a:t>Key Partners</a:t>
            </a:r>
          </a:p>
        </p:txBody>
      </p:sp>
      <p:pic>
        <p:nvPicPr>
          <p:cNvPr id="36" name="Picture 35" descr="loop_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96" y="2852928"/>
            <a:ext cx="365760" cy="36576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04671" y="3310128"/>
            <a:ext cx="31089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Automotive OEMs</a:t>
            </a:r>
          </a:p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Mobility companies</a:t>
            </a:r>
          </a:p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Research institutions (IITs, IISc)</a:t>
            </a:r>
          </a:p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Sensor / perception providers</a:t>
            </a:r>
          </a:p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Simulation platforms (e.g. MathWorks)</a:t>
            </a:r>
          </a:p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Government / transport organisations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41648" y="2743200"/>
            <a:ext cx="3401568" cy="230886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40" y="2880360"/>
            <a:ext cx="26700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111111"/>
                </a:solidFill>
                <a:latin typeface="Arial"/>
              </a:rPr>
              <a:t>Key Activities</a:t>
            </a:r>
          </a:p>
        </p:txBody>
      </p:sp>
      <p:pic>
        <p:nvPicPr>
          <p:cNvPr id="40" name="Picture 39" descr="bolt_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2864" y="2852928"/>
            <a:ext cx="365760" cy="36576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206240" y="3310128"/>
            <a:ext cx="3108960" cy="166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Perception development</a:t>
            </a:r>
          </a:p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Motion prediction</a:t>
            </a:r>
          </a:p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Path planning</a:t>
            </a:r>
          </a:p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Scenario validation</a:t>
            </a:r>
          </a:p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Sensor integration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41648" y="5052060"/>
            <a:ext cx="3401568" cy="230886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0" y="5189220"/>
            <a:ext cx="26700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111111"/>
                </a:solidFill>
                <a:latin typeface="Arial"/>
              </a:rPr>
              <a:t>Key Resources</a:t>
            </a:r>
          </a:p>
        </p:txBody>
      </p:sp>
      <p:pic>
        <p:nvPicPr>
          <p:cNvPr id="44" name="Picture 43" descr="layers_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2864" y="5161788"/>
            <a:ext cx="365760" cy="36576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206240" y="5618988"/>
            <a:ext cx="3108960" cy="166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AI / ML models</a:t>
            </a:r>
          </a:p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Indian road datasets</a:t>
            </a:r>
          </a:p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Simulation environments</a:t>
            </a:r>
          </a:p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Engineering team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43216" y="2743200"/>
            <a:ext cx="3401568" cy="4617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07808" y="2880360"/>
            <a:ext cx="26700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111111"/>
                </a:solidFill>
                <a:latin typeface="Arial"/>
              </a:rPr>
              <a:t>Value Propositions</a:t>
            </a:r>
          </a:p>
        </p:txBody>
      </p:sp>
      <p:pic>
        <p:nvPicPr>
          <p:cNvPr id="48" name="Picture 47" descr="shield_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4432" y="2852928"/>
            <a:ext cx="365760" cy="36576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607808" y="3310128"/>
            <a:ext cx="31089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Adaptive planning for unstructured roads</a:t>
            </a:r>
          </a:p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Indian mixed-traffic awareness</a:t>
            </a:r>
          </a:p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Safety-oriented path decisions</a:t>
            </a:r>
          </a:p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Explainable: every decision has a reason</a:t>
            </a:r>
          </a:p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Scalable autonomous-navigation architecture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844784" y="2743200"/>
            <a:ext cx="3401568" cy="230886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009376" y="2880360"/>
            <a:ext cx="26700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111111"/>
                </a:solidFill>
                <a:latin typeface="Arial"/>
              </a:rPr>
              <a:t>Customer Relationships</a:t>
            </a:r>
          </a:p>
        </p:txBody>
      </p:sp>
      <p:pic>
        <p:nvPicPr>
          <p:cNvPr id="52" name="Picture 51" descr="check_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16000" y="2852928"/>
            <a:ext cx="365760" cy="36576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1009376" y="3310128"/>
            <a:ext cx="3108960" cy="166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Co-development pilots</a:t>
            </a:r>
          </a:p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Integration &amp; tuning support</a:t>
            </a:r>
          </a:p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Continuous model and scenario updates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844784" y="5052060"/>
            <a:ext cx="3401568" cy="230886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009376" y="5189220"/>
            <a:ext cx="26700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111111"/>
                </a:solidFill>
                <a:latin typeface="Arial"/>
              </a:rPr>
              <a:t>Channels</a:t>
            </a:r>
          </a:p>
        </p:txBody>
      </p:sp>
      <p:pic>
        <p:nvPicPr>
          <p:cNvPr id="56" name="Picture 55" descr="truck_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716000" y="5161788"/>
            <a:ext cx="365760" cy="36576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1009376" y="5618988"/>
            <a:ext cx="3108960" cy="166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Direct B2B partnerships</a:t>
            </a:r>
          </a:p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Pilot deployments with fleets</a:t>
            </a:r>
          </a:p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Research collaborations</a:t>
            </a:r>
          </a:p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Licensable SDK / API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4246352" y="2743200"/>
            <a:ext cx="3401568" cy="4617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4410944" y="2880360"/>
            <a:ext cx="26700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111111"/>
                </a:solidFill>
                <a:latin typeface="Arial"/>
              </a:rPr>
              <a:t>Customer Segments</a:t>
            </a:r>
          </a:p>
        </p:txBody>
      </p:sp>
      <p:pic>
        <p:nvPicPr>
          <p:cNvPr id="60" name="Picture 59" descr="car_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17568" y="2852928"/>
            <a:ext cx="365760" cy="36576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4410944" y="3310128"/>
            <a:ext cx="310896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Automotive manufacturers</a:t>
            </a:r>
          </a:p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Autonomous mobility companies</a:t>
            </a:r>
          </a:p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Fleet operators</a:t>
            </a:r>
          </a:p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Research organisations</a:t>
            </a:r>
          </a:p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Smart mobility programmes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" y="7360920"/>
            <a:ext cx="8503920" cy="190195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4671" y="7470648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111111"/>
                </a:solidFill>
                <a:latin typeface="Arial"/>
              </a:rPr>
              <a:t>Cost Structure</a:t>
            </a:r>
          </a:p>
        </p:txBody>
      </p:sp>
      <p:pic>
        <p:nvPicPr>
          <p:cNvPr id="64" name="Picture 63" descr="tune_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13648" y="7452360"/>
            <a:ext cx="365760" cy="36576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04671" y="7891272"/>
            <a:ext cx="4069080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Engineering R&amp;D</a:t>
            </a:r>
          </a:p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Data collection &amp; annotation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19472" y="7891272"/>
            <a:ext cx="4069080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Compute &amp; simulation infrastructure</a:t>
            </a:r>
          </a:p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Validation &amp; safety engineering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0" y="7360920"/>
            <a:ext cx="8503920" cy="190195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308592" y="7470648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111111"/>
                </a:solidFill>
                <a:latin typeface="Arial"/>
              </a:rPr>
              <a:t>Revenue Streams</a:t>
            </a:r>
          </a:p>
        </p:txBody>
      </p:sp>
      <p:pic>
        <p:nvPicPr>
          <p:cNvPr id="69" name="Picture 68" descr="rocket_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117568" y="7452360"/>
            <a:ext cx="365760" cy="36576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9308592" y="7891272"/>
            <a:ext cx="4069080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Software licensing to OEMs</a:t>
            </a:r>
          </a:p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Pilot / integration contracts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423392" y="7891272"/>
            <a:ext cx="4069080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Scenario-library &amp; validation services</a:t>
            </a:r>
          </a:p>
          <a:p>
            <a:pPr algn="l" marL="182880" indent="-182880">
              <a:spcAft>
                <a:spcPts val="500"/>
              </a:spcAft>
              <a:buClr>
                <a:srgbClr val="0F9E8E"/>
              </a:buClr>
              <a:buFont typeface="Arial"/>
              <a:buChar char="•"/>
            </a:pPr>
            <a:r>
              <a:rPr sz="1250" b="0" i="0" u="none">
                <a:solidFill>
                  <a:srgbClr val="243044"/>
                </a:solidFill>
                <a:latin typeface="Arial"/>
              </a:rPr>
              <a:t>Support &amp; update subscriptions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5612" y="-25717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National Scheme Alignments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248400" y="9534525"/>
            <a:ext cx="5791200" cy="547688"/>
            <a:chOff x="0" y="0"/>
            <a:chExt cx="77216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21600" cy="730250"/>
            </a:xfrm>
            <a:custGeom>
              <a:avLst/>
              <a:gdLst/>
              <a:ahLst/>
              <a:cxnLst/>
              <a:rect r="r" b="b" t="t" l="l"/>
              <a:pathLst>
                <a:path h="730250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033" r="0" b="-15603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7721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mo"/>
                  <a:ea typeface="Arimo"/>
                  <a:cs typeface="Arimo"/>
                  <a:sym typeface="Arimo"/>
                </a:rPr>
                <a:t>9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4384000" cy="1025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6" id="16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Ctrl Alt Elite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4874122" y="86742"/>
            <a:ext cx="3051136" cy="1443918"/>
          </a:xfrm>
          <a:custGeom>
            <a:avLst/>
            <a:gdLst/>
            <a:ahLst/>
            <a:cxnLst/>
            <a:rect r="r" b="b" t="t" l="l"/>
            <a:pathLst>
              <a:path h="1443918" w="3051136">
                <a:moveTo>
                  <a:pt x="0" y="0"/>
                </a:moveTo>
                <a:lnTo>
                  <a:pt x="3051136" y="0"/>
                </a:lnTo>
                <a:lnTo>
                  <a:pt x="3051136" y="1443918"/>
                </a:lnTo>
                <a:lnTo>
                  <a:pt x="0" y="14439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19" name="Rounded Rectangle 18"/>
          <p:cNvSpPr/>
          <p:nvPr/>
        </p:nvSpPr>
        <p:spPr>
          <a:xfrm>
            <a:off x="548640" y="187451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lag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965960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33856" y="1856231"/>
            <a:ext cx="166055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u="none">
                <a:solidFill>
                  <a:srgbClr val="1B2A41"/>
                </a:solidFill>
                <a:latin typeface="Arial"/>
              </a:rPr>
              <a:t>GOVERNMENT / NATIONAL ALIGNMENT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2148839"/>
            <a:ext cx="16605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 u="none">
                <a:solidFill>
                  <a:srgbClr val="1F497D"/>
                </a:solidFill>
                <a:latin typeface="Arial"/>
              </a:rPr>
              <a:t>Connect your solution with national missions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606040"/>
            <a:ext cx="557784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59" y="2926080"/>
            <a:ext cx="868680" cy="868680"/>
          </a:xfrm>
          <a:prstGeom prst="ellipse">
            <a:avLst/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web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5" y="3099816"/>
            <a:ext cx="521207" cy="5212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920240" y="2926080"/>
            <a:ext cx="4023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 u="none">
                <a:solidFill>
                  <a:srgbClr val="2A6FB0"/>
                </a:solidFill>
                <a:latin typeface="Arial"/>
              </a:rPr>
              <a:t>Digital India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0233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5B6778"/>
                </a:solidFill>
                <a:latin typeface="Arial"/>
              </a:rPr>
              <a:t>How PathSense aligns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438912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 u="none">
                <a:solidFill>
                  <a:srgbClr val="243044"/>
                </a:solidFill>
                <a:latin typeface="Arial"/>
              </a:rPr>
              <a:t>Software-first, camera-based mobility intelligence built on open digital tooling.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36792" y="2606040"/>
            <a:ext cx="557784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11112" y="2926080"/>
            <a:ext cx="868680" cy="868680"/>
          </a:xfrm>
          <a:prstGeom prst="ellipse">
            <a:avLst/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bus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4848" y="3099816"/>
            <a:ext cx="521207" cy="52120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708392" y="2926080"/>
            <a:ext cx="4023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 u="none">
                <a:solidFill>
                  <a:srgbClr val="0F9E8E"/>
                </a:solidFill>
                <a:latin typeface="Arial"/>
              </a:rPr>
              <a:t>Smart Cities Mission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11112" y="40233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5B6778"/>
                </a:solidFill>
                <a:latin typeface="Arial"/>
              </a:rPr>
              <a:t>How PathSense aligns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11112" y="438912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 u="none">
                <a:solidFill>
                  <a:srgbClr val="243044"/>
                </a:solidFill>
                <a:latin typeface="Arial"/>
              </a:rPr>
              <a:t>Adaptive navigation for dense, mixed urban traffic and future smart-mobility services.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124944" y="2606040"/>
            <a:ext cx="557784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2399264" y="2926080"/>
            <a:ext cx="868680" cy="868680"/>
          </a:xfrm>
          <a:prstGeom prst="ellipse">
            <a:avLst/>
          </a:prstGeom>
          <a:solidFill>
            <a:srgbClr val="E87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rocke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73000" y="3099816"/>
            <a:ext cx="521207" cy="52120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3496544" y="2926080"/>
            <a:ext cx="4023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 u="none">
                <a:solidFill>
                  <a:srgbClr val="E8731A"/>
                </a:solidFill>
                <a:latin typeface="Arial"/>
              </a:rPr>
              <a:t>Atmanirbhar Bharat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99264" y="40233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5B6778"/>
                </a:solidFill>
                <a:latin typeface="Arial"/>
              </a:rPr>
              <a:t>How PathSense aligns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99264" y="438912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 u="none">
                <a:solidFill>
                  <a:srgbClr val="243044"/>
                </a:solidFill>
                <a:latin typeface="Arial"/>
              </a:rPr>
              <a:t>Indigenous autonomous-driving technology designed for Indian road conditions.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989320"/>
            <a:ext cx="557784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2959" y="6309360"/>
            <a:ext cx="868680" cy="86868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op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695" y="6483096"/>
            <a:ext cx="521207" cy="52120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920240" y="6309360"/>
            <a:ext cx="4023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 u="none">
                <a:solidFill>
                  <a:srgbClr val="16A34A"/>
                </a:solidFill>
                <a:latin typeface="Arial"/>
              </a:rPr>
              <a:t>Swachh Bharat / Green India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59" y="74066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5B6778"/>
                </a:solidFill>
                <a:latin typeface="Arial"/>
              </a:rPr>
              <a:t>How PathSense aligns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59" y="777240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 u="none">
                <a:solidFill>
                  <a:srgbClr val="243044"/>
                </a:solidFill>
                <a:latin typeface="Arial"/>
              </a:rPr>
              <a:t>Smoother, anticipatory driving with fewer abrupt stops — an expected efficiency benefit.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36792" y="5989320"/>
            <a:ext cx="557784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611112" y="6309360"/>
            <a:ext cx="868680" cy="868680"/>
          </a:xfrm>
          <a:prstGeom prst="ellipse">
            <a:avLst/>
          </a:prstGeom>
          <a:solidFill>
            <a:srgbClr val="245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brain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4848" y="6483096"/>
            <a:ext cx="521207" cy="52120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708392" y="6309360"/>
            <a:ext cx="4023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 u="none">
                <a:solidFill>
                  <a:srgbClr val="245C93"/>
                </a:solidFill>
                <a:latin typeface="Arial"/>
              </a:rPr>
              <a:t>AI for India 2.0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11112" y="74066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5B6778"/>
                </a:solidFill>
                <a:latin typeface="Arial"/>
              </a:rPr>
              <a:t>How PathSense aligns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11112" y="777240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 u="none">
                <a:solidFill>
                  <a:srgbClr val="243044"/>
                </a:solidFill>
                <a:latin typeface="Arial"/>
              </a:rPr>
              <a:t>Applied AI solving an India-specific mobility and road-safety problem.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2124944" y="5989320"/>
            <a:ext cx="557784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2399264" y="6309360"/>
            <a:ext cx="868680" cy="86868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hield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73000" y="6483096"/>
            <a:ext cx="521207" cy="521207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3496544" y="6309360"/>
            <a:ext cx="4023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 u="none">
                <a:solidFill>
                  <a:srgbClr val="DC2626"/>
                </a:solidFill>
                <a:latin typeface="Arial"/>
              </a:rPr>
              <a:t>National Road Safety (MoRTH)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399264" y="74066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5B6778"/>
                </a:solidFill>
                <a:latin typeface="Arial"/>
              </a:rPr>
              <a:t>How PathSense aligns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399264" y="777240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 u="none">
                <a:solidFill>
                  <a:srgbClr val="243044"/>
                </a:solidFill>
                <a:latin typeface="Arial"/>
              </a:rPr>
              <a:t>Earlier recognition of ego-path conflicts with pedestrians, cyclists and two-wheelers.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5612" y="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10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Ctrl Alt Elite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4900910" y="0"/>
            <a:ext cx="3051136" cy="1443918"/>
          </a:xfrm>
          <a:custGeom>
            <a:avLst/>
            <a:gdLst/>
            <a:ahLst/>
            <a:cxnLst/>
            <a:rect r="r" b="b" t="t" l="l"/>
            <a:pathLst>
              <a:path h="1443918" w="3051136">
                <a:moveTo>
                  <a:pt x="0" y="0"/>
                </a:moveTo>
                <a:lnTo>
                  <a:pt x="3051136" y="0"/>
                </a:lnTo>
                <a:lnTo>
                  <a:pt x="3051136" y="1443918"/>
                </a:lnTo>
                <a:lnTo>
                  <a:pt x="0" y="14439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17" name="Rounded Rectangle 16"/>
          <p:cNvSpPr/>
          <p:nvPr/>
        </p:nvSpPr>
        <p:spPr>
          <a:xfrm>
            <a:off x="548640" y="187451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cienc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965960"/>
            <a:ext cx="274320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33856" y="1856231"/>
            <a:ext cx="166055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u="none">
                <a:solidFill>
                  <a:srgbClr val="1B2A41"/>
                </a:solidFill>
                <a:latin typeface="Arial"/>
              </a:rPr>
              <a:t>SUPPORTING RESEARCH &amp;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2148839"/>
            <a:ext cx="16605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 u="none">
                <a:solidFill>
                  <a:srgbClr val="1F497D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606040"/>
            <a:ext cx="416052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9808" y="28346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out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2935224"/>
            <a:ext cx="301752" cy="30175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89888" y="283464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u="none">
                <a:solidFill>
                  <a:srgbClr val="1B2A41"/>
                </a:solidFill>
                <a:latin typeface="Arial"/>
              </a:rPr>
              <a:t>AUTONOMOUS DRIVING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520440"/>
            <a:ext cx="374903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 u="none">
                <a:solidFill>
                  <a:srgbClr val="243044"/>
                </a:solidFill>
                <a:latin typeface="Arial"/>
              </a:rPr>
              <a:t>Paden et al., “A Survey of Motion Planning and Control Techniques for Self-Driving Urban Vehicles”, IEEE T-IV, 2016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30352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 u="sng">
                <a:solidFill>
                  <a:srgbClr val="1155CC"/>
                </a:solidFill>
                <a:latin typeface="Arial"/>
                <a:hlinkClick r:id="rId6"/>
              </a:rPr>
              <a:t>arxiv.org/abs/1604.07446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92040" y="2606040"/>
            <a:ext cx="416052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93207" y="28346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warning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3792" y="2935224"/>
            <a:ext cx="301752" cy="30175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733288" y="283464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u="none">
                <a:solidFill>
                  <a:srgbClr val="1B2A41"/>
                </a:solidFill>
                <a:latin typeface="Arial"/>
              </a:rPr>
              <a:t>OBJECT DETECTION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93207" y="3520440"/>
            <a:ext cx="374903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 u="none">
                <a:solidFill>
                  <a:srgbClr val="243044"/>
                </a:solidFill>
                <a:latin typeface="Arial"/>
              </a:rPr>
              <a:t>Redmon et al., “You Only Look Once: Unified, Real-Time Object Detection”, CVPR, 2016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93207" y="530352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 u="sng">
                <a:solidFill>
                  <a:srgbClr val="1155CC"/>
                </a:solidFill>
                <a:latin typeface="Arial"/>
                <a:hlinkClick r:id="rId8"/>
              </a:rPr>
              <a:t>arxiv.org/abs/1506.02640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2606040"/>
            <a:ext cx="416052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436608" y="28346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timelin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37192" y="2935224"/>
            <a:ext cx="301752" cy="30175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076688" y="283464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u="none">
                <a:solidFill>
                  <a:srgbClr val="1B2A41"/>
                </a:solidFill>
                <a:latin typeface="Arial"/>
              </a:rPr>
              <a:t>MULTI-OBJECT TRACKING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36608" y="3520440"/>
            <a:ext cx="374903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 u="none">
                <a:solidFill>
                  <a:srgbClr val="243044"/>
                </a:solidFill>
                <a:latin typeface="Arial"/>
              </a:rPr>
              <a:t>Zhang et al., “ByteTrack: Multi-Object Tracking by Associating Every Detection Box”, ECCV, 2022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36608" y="530352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 u="sng">
                <a:solidFill>
                  <a:srgbClr val="1155CC"/>
                </a:solidFill>
                <a:latin typeface="Arial"/>
                <a:hlinkClick r:id="rId10"/>
              </a:rPr>
              <a:t>arxiv.org/abs/2110.06864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578840" y="2606040"/>
            <a:ext cx="416052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780008" y="28346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layers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880592" y="2935224"/>
            <a:ext cx="301752" cy="30175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4420088" y="283464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u="none">
                <a:solidFill>
                  <a:srgbClr val="1B2A41"/>
                </a:solidFill>
                <a:latin typeface="Arial"/>
              </a:rPr>
              <a:t>MONOCULAR DEPTH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80008" y="3520440"/>
            <a:ext cx="374903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 u="none">
                <a:solidFill>
                  <a:srgbClr val="243044"/>
                </a:solidFill>
                <a:latin typeface="Arial"/>
              </a:rPr>
              <a:t>Yang et al., “Depth Anything V2”, NeurIPS, 2024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80008" y="530352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 u="sng">
                <a:solidFill>
                  <a:srgbClr val="1155CC"/>
                </a:solidFill>
                <a:latin typeface="Arial"/>
                <a:hlinkClick r:id="rId12"/>
              </a:rPr>
              <a:t>arxiv.org/abs/2406.09414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989320"/>
            <a:ext cx="416052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49808" y="62179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brain_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0392" y="6318504"/>
            <a:ext cx="301752" cy="30175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389888" y="621792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u="none">
                <a:solidFill>
                  <a:srgbClr val="1B2A41"/>
                </a:solidFill>
                <a:latin typeface="Arial"/>
              </a:rPr>
              <a:t>MOTION PREDICTION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" y="6903720"/>
            <a:ext cx="374903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 u="none">
                <a:solidFill>
                  <a:srgbClr val="243044"/>
                </a:solidFill>
                <a:latin typeface="Arial"/>
              </a:rPr>
              <a:t>Alahi et al., “Social LSTM: Human Trajectory Prediction in Crowded Spaces”, CVPR, 2016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8" y="868680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 u="sng">
                <a:solidFill>
                  <a:srgbClr val="1155CC"/>
                </a:solidFill>
                <a:latin typeface="Arial"/>
                <a:hlinkClick r:id="rId14"/>
              </a:rPr>
              <a:t>openaccess.thecvf.com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92040" y="5989320"/>
            <a:ext cx="416052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093207" y="62179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map_w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93792" y="6318504"/>
            <a:ext cx="301752" cy="30175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733288" y="621792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u="none">
                <a:solidFill>
                  <a:srgbClr val="1B2A41"/>
                </a:solidFill>
                <a:latin typeface="Arial"/>
              </a:rPr>
              <a:t>INDIAN ROAD PERCEPTION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93207" y="6903720"/>
            <a:ext cx="374903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 u="none">
                <a:solidFill>
                  <a:srgbClr val="243044"/>
                </a:solidFill>
                <a:latin typeface="Arial"/>
              </a:rPr>
              <a:t>Varma et al., “IDD: A Dataset for Exploring Problems of Autonomous Navigation in Unconstrained Environments”, WACV, 2019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93207" y="868680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 u="sng">
                <a:solidFill>
                  <a:srgbClr val="1155CC"/>
                </a:solidFill>
                <a:latin typeface="Arial"/>
                <a:hlinkClick r:id="rId16"/>
              </a:rPr>
              <a:t>idd.insaan.iiit.ac.in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235440" y="5989320"/>
            <a:ext cx="416052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436608" y="62179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flag_w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537192" y="6318504"/>
            <a:ext cx="301752" cy="301752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0076688" y="621792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u="none">
                <a:solidFill>
                  <a:srgbClr val="1B2A41"/>
                </a:solidFill>
                <a:latin typeface="Arial"/>
              </a:rPr>
              <a:t>OFFICIAL SOURCE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36608" y="6903720"/>
            <a:ext cx="374903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 u="none">
                <a:solidFill>
                  <a:srgbClr val="243044"/>
                </a:solidFill>
                <a:latin typeface="Arial"/>
              </a:rPr>
              <a:t>Smart India Hackathon 2026 — Problem Statement SIH26037: Adaptive Path Planning and Collision Avoidance for Autonomous Vehicles on Unstructured Indian Roads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36608" y="868680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 u="sng">
                <a:solidFill>
                  <a:srgbClr val="1155CC"/>
                </a:solidFill>
                <a:latin typeface="Arial"/>
                <a:hlinkClick r:id="rId18"/>
              </a:rPr>
              <a:t>sih.gov.in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3578840" y="5989320"/>
            <a:ext cx="416052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3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3780008" y="62179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shield_w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880592" y="6318504"/>
            <a:ext cx="301752" cy="301752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4420088" y="621792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u="none">
                <a:solidFill>
                  <a:srgbClr val="1B2A41"/>
                </a:solidFill>
                <a:latin typeface="Arial"/>
              </a:rPr>
              <a:t>ROAD-SAFETY DATA &amp; FOOTAGE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780008" y="6903720"/>
            <a:ext cx="374903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 u="none">
                <a:solidFill>
                  <a:srgbClr val="243044"/>
                </a:solidFill>
                <a:latin typeface="Arial"/>
              </a:rPr>
              <a:t>MoRTH, “Road Accidents in India 2022”; demo road videos: L. Shyamal, Wikimedia Commons (CC0)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780008" y="868680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 u="sng">
                <a:solidFill>
                  <a:srgbClr val="1155CC"/>
                </a:solidFill>
                <a:latin typeface="Arial"/>
                <a:hlinkClick r:id="rId20"/>
              </a:rPr>
              <a:t>morth.nic.in · commons.wikimedia.org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DAHVhb0M2ew</dc:identifier>
  <dcterms:modified xsi:type="dcterms:W3CDTF">2011-08-01T06:04:30Z</dcterms:modified>
  <cp:revision>1</cp:revision>
  <dc:title>SMART INDIA HACKATHON 2026</dc:title>
</cp:coreProperties>
</file>