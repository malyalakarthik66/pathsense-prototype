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Visual: original 3D concept render (presentation/hero/scene.html), left-hand traffic. Not a prototype screenshot.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Conceptual pipeline of the proposed system. Vehicle control and the MATLAB/RoadRunner simulation stack are pilot-stage items.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Roadmap is conceptual: prototype = current proof of concept; pilot and production are future stages.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Benefits are expected / potential impact of the proposed system, not measured results. Accident figures: Ministry of Road Transport &amp; Highways, 'Road Accidents in India 2022'.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Concise references by category. Proposed-system claims are conceptual; LiDAR/radar, simulation-backed validation and vehicle integration are pilot / production roadmap items.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visual: original 3D concept render (presentation/hero/scene.html) - not a prototype screenshot. Team ID: fill in from the SIH portal.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15.png"/><Relationship Id="rId11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image" Target="../media/image25.png"/><Relationship Id="rId9" Type="http://schemas.openxmlformats.org/officeDocument/2006/relationships/image" Target="../media/image23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hero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368659"/>
            <a:ext cx="7299655" cy="5489340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411480" y="1170432"/>
            <a:ext cx="4114800" cy="365760"/>
          </a:xfrm>
        </p:spPr>
        <p:txBody>
          <a:bodyPr anchor="t"/>
          <a:lstStyle/>
          <a:p>
            <a:pPr algn="l"/>
            <a:r>
              <a:rPr lang="en-US" b="1" dirty="0" sz="1600">
                <a:solidFill>
                  <a:srgbClr val="5B677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4320" y="3246120"/>
            <a:ext cx="4572000" cy="3383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400">
                <a:solidFill>
                  <a:srgbClr val="243044"/>
                </a:solidFill>
                <a:latin typeface="Arial"/>
              </a:rPr>
              <a:t> SIH26037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400">
                <a:solidFill>
                  <a:srgbClr val="243044"/>
                </a:solidFill>
                <a:latin typeface="Arial"/>
              </a:rPr>
              <a:t> Adaptive Path Planning and Collision Avoidance for Autonomous Vehicles on Unstructured Indian Roads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400">
                <a:solidFill>
                  <a:srgbClr val="243044"/>
                </a:solidFill>
                <a:latin typeface="Arial"/>
              </a:rPr>
              <a:t> Smart Vehicles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b="0" sz="1400">
                <a:solidFill>
                  <a:srgbClr val="243044"/>
                </a:solidFill>
                <a:latin typeface="Arial"/>
              </a:rPr>
              <a:t> Software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Team Name –</a:t>
            </a:r>
            <a:r>
              <a:rPr b="0" sz="1400">
                <a:solidFill>
                  <a:srgbClr val="243044"/>
                </a:solidFill>
                <a:latin typeface="Arial"/>
              </a:rPr>
              <a:t> Ctrl Alt Elite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cxnSp>
        <p:nvCxnSpPr>
          <p:cNvPr id="38" name="Connector 37"/>
          <p:cNvCxnSpPr/>
          <p:nvPr/>
        </p:nvCxnSpPr>
        <p:spPr>
          <a:xfrm flipH="1">
            <a:off x="6832396" y="3722068"/>
            <a:ext cx="1378797" cy="301291"/>
          </a:xfrm>
          <a:prstGeom prst="line">
            <a:avLst/>
          </a:prstGeom>
          <a:ln w="12700">
            <a:solidFill>
              <a:srgbClr val="0F9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8170045" y="3680920"/>
            <a:ext cx="82296" cy="82296"/>
          </a:xfrm>
          <a:prstGeom prst="ellipse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786323" y="4023359"/>
            <a:ext cx="10460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86323" y="4023359"/>
            <a:ext cx="10460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9E8E"/>
                </a:solidFill>
                <a:latin typeface="Arial"/>
              </a:rPr>
              <a:t>Safe corridor</a:t>
            </a:r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8664854" y="2468879"/>
            <a:ext cx="41985" cy="221309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8665691" y="2649040"/>
            <a:ext cx="82296" cy="8229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245705" y="2194560"/>
            <a:ext cx="141914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45705" y="2194560"/>
            <a:ext cx="14191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Arial"/>
              </a:rPr>
              <a:t>Crossing pedestrian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763047" y="3915946"/>
            <a:ext cx="525428" cy="473174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8721899" y="3874798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88475" y="4389120"/>
            <a:ext cx="13569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88475" y="4389120"/>
            <a:ext cx="135696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Arial"/>
              </a:rPr>
              <a:t>Two-wheeler cut-in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6713524" y="3261897"/>
            <a:ext cx="1137066" cy="121382"/>
          </a:xfrm>
          <a:prstGeom prst="line">
            <a:avLst/>
          </a:prstGeom>
          <a:ln w="12700">
            <a:solidFill>
              <a:srgbClr val="7B85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809442" y="3220749"/>
            <a:ext cx="82296" cy="82296"/>
          </a:xfrm>
          <a:prstGeom prst="ellipse">
            <a:avLst/>
          </a:prstGeom>
          <a:solidFill>
            <a:srgbClr val="7B8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356555" y="3108960"/>
            <a:ext cx="13569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7B8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56555" y="3108960"/>
            <a:ext cx="135696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B8594"/>
                </a:solidFill>
                <a:latin typeface="Arial"/>
              </a:rPr>
              <a:t>Temporary obstacle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41211" y="2682013"/>
            <a:ext cx="451859" cy="61187"/>
          </a:xfrm>
          <a:prstGeom prst="line">
            <a:avLst/>
          </a:prstGeom>
          <a:ln w="12700">
            <a:solidFill>
              <a:srgbClr val="7B85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900063" y="2640865"/>
            <a:ext cx="82296" cy="82296"/>
          </a:xfrm>
          <a:prstGeom prst="ellipse">
            <a:avLst/>
          </a:prstGeom>
          <a:solidFill>
            <a:srgbClr val="7B8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393070" y="2743200"/>
            <a:ext cx="6108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7B8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393070" y="2743200"/>
            <a:ext cx="61081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B8594"/>
                </a:solidFill>
                <a:latin typeface="Arial"/>
              </a:rPr>
              <a:t>Cattle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9168907" y="2148840"/>
            <a:ext cx="165288" cy="439153"/>
          </a:xfrm>
          <a:prstGeom prst="line">
            <a:avLst/>
          </a:prstGeom>
          <a:ln w="127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127759" y="2546845"/>
            <a:ext cx="82296" cy="82296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34195" y="1874520"/>
            <a:ext cx="13569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34195" y="1874520"/>
            <a:ext cx="135696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F2A44"/>
                </a:solidFill>
                <a:latin typeface="Arial"/>
              </a:rPr>
              <a:t>Oncoming, own side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1536192"/>
            <a:ext cx="4846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2A44"/>
                </a:solidFill>
                <a:latin typeface="Arial"/>
              </a:rPr>
              <a:t>PATHSENSE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" y="224028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9E8E"/>
                </a:solidFill>
                <a:latin typeface="Arial"/>
              </a:rPr>
              <a:t>Adaptive Path Planning and Collision Avoidance for Autonomous Vehicles on Unstructured Indian Roads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PATHSENSE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Ctrl Alt Elite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65760" y="1188720"/>
            <a:ext cx="11430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70C0"/>
                </a:solidFill>
                <a:latin typeface="Arial"/>
              </a:rPr>
              <a:t>❖ </a:t>
            </a:r>
            <a:r>
              <a:rPr sz="1600" b="1" i="0">
                <a:solidFill>
                  <a:srgbClr val="1F2A44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55448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778"/>
                </a:solidFill>
                <a:latin typeface="Arial"/>
              </a:rPr>
              <a:t>See every road user, predict where they are going, and keep re-planning a collision-free path — without relying on lane markings.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365760" y="2057400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493776" y="2011680"/>
            <a:ext cx="54498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93776" y="2340864"/>
            <a:ext cx="53949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Camera-first perception detects and tracks cars, buses, trucks, auto-rickshaws, two-wheelers, pedestrians and animals</a:t>
            </a:r>
          </a:p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Short-term motion prediction + a bird’s-eye risk map of the scene</a:t>
            </a:r>
          </a:p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Adaptive planner samples candidate paths and keeps the safest collision-free one, every frame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365760" y="3657600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TextBox 15367"/>
          <p:cNvSpPr txBox="1"/>
          <p:nvPr/>
        </p:nvSpPr>
        <p:spPr>
          <a:xfrm>
            <a:off x="493776" y="3611880"/>
            <a:ext cx="54498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93776" y="3941064"/>
            <a:ext cx="53949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Plans in drivable free space, so missing lane markings are not a blocker</a:t>
            </a:r>
          </a:p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Reads cut-ins, crossings, wrong-way and sudden turns from motion history</a:t>
            </a:r>
          </a:p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Built for left-hand, mixed Indian traffic</a:t>
            </a:r>
          </a:p>
        </p:txBody>
      </p:sp>
      <p:sp>
        <p:nvSpPr>
          <p:cNvPr id="15370" name="Rectangle 15369"/>
          <p:cNvSpPr/>
          <p:nvPr/>
        </p:nvSpPr>
        <p:spPr>
          <a:xfrm>
            <a:off x="365760" y="4892040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TextBox 15370"/>
          <p:cNvSpPr txBox="1"/>
          <p:nvPr/>
        </p:nvSpPr>
        <p:spPr>
          <a:xfrm>
            <a:off x="493776" y="4846320"/>
            <a:ext cx="54498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F2A44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493776" y="5175504"/>
            <a:ext cx="53949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Threat to the ego path, not mere proximity: traffic on its own side and people on the footpath are watched; anything entering the path is acted on</a:t>
            </a:r>
          </a:p>
          <a:p>
            <a:pPr algn="l"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0" i="0">
                <a:solidFill>
                  <a:srgbClr val="243044"/>
                </a:solidFill>
                <a:latin typeface="Arial"/>
              </a:rPr>
              <a:t>Explainable: every GO / SLOW / BRAKE carries its reason</a:t>
            </a:r>
          </a:p>
        </p:txBody>
      </p:sp>
      <p:pic>
        <p:nvPicPr>
          <p:cNvPr id="15373" name="Picture 15372" descr="hero_iso_slid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011680"/>
            <a:ext cx="5532120" cy="3687157"/>
          </a:xfrm>
          <a:prstGeom prst="roundRect">
            <a:avLst>
              <a:gd name="adj" fmla="val 4000"/>
            </a:avLst>
          </a:prstGeom>
          <a:ln w="9525">
            <a:solidFill>
              <a:srgbClr val="D5DDE8"/>
            </a:solidFill>
          </a:ln>
        </p:spPr>
      </p:pic>
      <p:cxnSp>
        <p:nvCxnSpPr>
          <p:cNvPr id="15374" name="Connector 15373"/>
          <p:cNvCxnSpPr/>
          <p:nvPr/>
        </p:nvCxnSpPr>
        <p:spPr>
          <a:xfrm flipV="1">
            <a:off x="7927789" y="2443812"/>
            <a:ext cx="0" cy="269316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5" name="Oval 15374"/>
          <p:cNvSpPr/>
          <p:nvPr/>
        </p:nvSpPr>
        <p:spPr>
          <a:xfrm>
            <a:off x="7886641" y="2671980"/>
            <a:ext cx="82296" cy="8229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ounded Rectangle 15375"/>
          <p:cNvSpPr/>
          <p:nvPr/>
        </p:nvSpPr>
        <p:spPr>
          <a:xfrm>
            <a:off x="6632600" y="2169492"/>
            <a:ext cx="141914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TextBox 15376"/>
          <p:cNvSpPr txBox="1"/>
          <p:nvPr/>
        </p:nvSpPr>
        <p:spPr>
          <a:xfrm>
            <a:off x="6632600" y="2169492"/>
            <a:ext cx="14191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C2626"/>
                </a:solidFill>
                <a:latin typeface="Arial"/>
              </a:rPr>
              <a:t>Pedestrians crossing</a:t>
            </a:r>
          </a:p>
        </p:txBody>
      </p:sp>
      <p:cxnSp>
        <p:nvCxnSpPr>
          <p:cNvPr id="15378" name="Connector 15377"/>
          <p:cNvCxnSpPr/>
          <p:nvPr/>
        </p:nvCxnSpPr>
        <p:spPr>
          <a:xfrm>
            <a:off x="7204662" y="2735340"/>
            <a:ext cx="0" cy="466556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Oval 15378"/>
          <p:cNvSpPr/>
          <p:nvPr/>
        </p:nvSpPr>
        <p:spPr>
          <a:xfrm>
            <a:off x="7163514" y="269419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0" name="Rounded Rectangle 15379"/>
          <p:cNvSpPr/>
          <p:nvPr/>
        </p:nvSpPr>
        <p:spPr>
          <a:xfrm>
            <a:off x="6558991" y="3201896"/>
            <a:ext cx="11237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6558991" y="3201896"/>
            <a:ext cx="112379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Arial"/>
              </a:rPr>
              <a:t>Wrong-way rider</a:t>
            </a:r>
          </a:p>
        </p:txBody>
      </p:sp>
      <p:cxnSp>
        <p:nvCxnSpPr>
          <p:cNvPr id="15382" name="Connector 15381"/>
          <p:cNvCxnSpPr/>
          <p:nvPr/>
        </p:nvCxnSpPr>
        <p:spPr>
          <a:xfrm flipV="1">
            <a:off x="8457292" y="2406941"/>
            <a:ext cx="923080" cy="54749"/>
          </a:xfrm>
          <a:prstGeom prst="line">
            <a:avLst/>
          </a:prstGeom>
          <a:ln w="12700">
            <a:solidFill>
              <a:srgbClr val="7B85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3" name="Oval 15382"/>
          <p:cNvSpPr/>
          <p:nvPr/>
        </p:nvSpPr>
        <p:spPr>
          <a:xfrm>
            <a:off x="8416144" y="2420542"/>
            <a:ext cx="82296" cy="82296"/>
          </a:xfrm>
          <a:prstGeom prst="ellipse">
            <a:avLst/>
          </a:prstGeom>
          <a:solidFill>
            <a:srgbClr val="7B8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Rounded Rectangle 15383"/>
          <p:cNvSpPr/>
          <p:nvPr/>
        </p:nvSpPr>
        <p:spPr>
          <a:xfrm>
            <a:off x="9380372" y="2132621"/>
            <a:ext cx="11237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7B8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9380372" y="2132621"/>
            <a:ext cx="112379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7B8594"/>
                </a:solidFill>
                <a:latin typeface="Arial"/>
              </a:rPr>
              <a:t>Animals on road</a:t>
            </a:r>
          </a:p>
        </p:txBody>
      </p:sp>
      <p:cxnSp>
        <p:nvCxnSpPr>
          <p:cNvPr id="15386" name="Connector 15385"/>
          <p:cNvCxnSpPr/>
          <p:nvPr/>
        </p:nvCxnSpPr>
        <p:spPr>
          <a:xfrm>
            <a:off x="7547653" y="2602957"/>
            <a:ext cx="700509" cy="82737"/>
          </a:xfrm>
          <a:prstGeom prst="line">
            <a:avLst/>
          </a:prstGeom>
          <a:ln w="127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7" name="Oval 15386"/>
          <p:cNvSpPr/>
          <p:nvPr/>
        </p:nvSpPr>
        <p:spPr>
          <a:xfrm>
            <a:off x="7506505" y="2561809"/>
            <a:ext cx="82296" cy="82296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8248162" y="2685694"/>
            <a:ext cx="1064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8248162" y="2685694"/>
            <a:ext cx="106472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F2A44"/>
                </a:solidFill>
                <a:latin typeface="Arial"/>
              </a:rPr>
              <a:t>Auto-rickshaws</a:t>
            </a:r>
          </a:p>
        </p:txBody>
      </p:sp>
      <p:cxnSp>
        <p:nvCxnSpPr>
          <p:cNvPr id="15390" name="Connector 15389"/>
          <p:cNvCxnSpPr/>
          <p:nvPr/>
        </p:nvCxnSpPr>
        <p:spPr>
          <a:xfrm flipH="1">
            <a:off x="7882036" y="3430569"/>
            <a:ext cx="301021" cy="729988"/>
          </a:xfrm>
          <a:prstGeom prst="line">
            <a:avLst/>
          </a:prstGeom>
          <a:ln w="12700">
            <a:solidFill>
              <a:srgbClr val="7B85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Oval 15390"/>
          <p:cNvSpPr/>
          <p:nvPr/>
        </p:nvSpPr>
        <p:spPr>
          <a:xfrm>
            <a:off x="8141909" y="3389421"/>
            <a:ext cx="82296" cy="82296"/>
          </a:xfrm>
          <a:prstGeom prst="ellipse">
            <a:avLst/>
          </a:prstGeom>
          <a:solidFill>
            <a:srgbClr val="7B8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2" name="Rounded Rectangle 15391"/>
          <p:cNvSpPr/>
          <p:nvPr/>
        </p:nvSpPr>
        <p:spPr>
          <a:xfrm>
            <a:off x="6581028" y="4160557"/>
            <a:ext cx="13010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7B8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3" name="TextBox 15392"/>
          <p:cNvSpPr txBox="1"/>
          <p:nvPr/>
        </p:nvSpPr>
        <p:spPr>
          <a:xfrm>
            <a:off x="6581028" y="4160557"/>
            <a:ext cx="13010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7B8594"/>
                </a:solidFill>
                <a:latin typeface="Arial"/>
              </a:rPr>
              <a:t>Temporary obstacle</a:t>
            </a:r>
          </a:p>
        </p:txBody>
      </p:sp>
      <p:cxnSp>
        <p:nvCxnSpPr>
          <p:cNvPr id="15394" name="Connector 15393"/>
          <p:cNvCxnSpPr/>
          <p:nvPr/>
        </p:nvCxnSpPr>
        <p:spPr>
          <a:xfrm>
            <a:off x="9467299" y="3902347"/>
            <a:ext cx="451289" cy="90071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5" name="Oval 15394"/>
          <p:cNvSpPr/>
          <p:nvPr/>
        </p:nvSpPr>
        <p:spPr>
          <a:xfrm>
            <a:off x="9426151" y="3861199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6" name="Rounded Rectangle 15395"/>
          <p:cNvSpPr/>
          <p:nvPr/>
        </p:nvSpPr>
        <p:spPr>
          <a:xfrm>
            <a:off x="9918588" y="3718098"/>
            <a:ext cx="15963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7" name="TextBox 15396"/>
          <p:cNvSpPr txBox="1"/>
          <p:nvPr/>
        </p:nvSpPr>
        <p:spPr>
          <a:xfrm>
            <a:off x="9918588" y="3718098"/>
            <a:ext cx="159635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Arial"/>
              </a:rPr>
              <a:t>Informal merge / cut-in</a:t>
            </a:r>
          </a:p>
        </p:txBody>
      </p:sp>
      <p:cxnSp>
        <p:nvCxnSpPr>
          <p:cNvPr id="15398" name="Connector 15397"/>
          <p:cNvCxnSpPr/>
          <p:nvPr/>
        </p:nvCxnSpPr>
        <p:spPr>
          <a:xfrm>
            <a:off x="8635110" y="3671345"/>
            <a:ext cx="435372" cy="1152901"/>
          </a:xfrm>
          <a:prstGeom prst="line">
            <a:avLst/>
          </a:prstGeom>
          <a:ln w="12700">
            <a:solidFill>
              <a:srgbClr val="0F9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9" name="Oval 15398"/>
          <p:cNvSpPr/>
          <p:nvPr/>
        </p:nvSpPr>
        <p:spPr>
          <a:xfrm>
            <a:off x="8593962" y="3630197"/>
            <a:ext cx="82296" cy="82296"/>
          </a:xfrm>
          <a:prstGeom prst="ellipse">
            <a:avLst/>
          </a:prstGeom>
          <a:solidFill>
            <a:srgbClr val="0F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Rounded Rectangle 15399"/>
          <p:cNvSpPr/>
          <p:nvPr/>
        </p:nvSpPr>
        <p:spPr>
          <a:xfrm>
            <a:off x="9070482" y="4824246"/>
            <a:ext cx="13010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1" name="TextBox 15400"/>
          <p:cNvSpPr txBox="1"/>
          <p:nvPr/>
        </p:nvSpPr>
        <p:spPr>
          <a:xfrm>
            <a:off x="9070482" y="4824246"/>
            <a:ext cx="13010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0F9E8E"/>
                </a:solidFill>
                <a:latin typeface="Arial"/>
              </a:rPr>
              <a:t>Adaptive safe path</a:t>
            </a:r>
          </a:p>
        </p:txBody>
      </p:sp>
      <p:sp>
        <p:nvSpPr>
          <p:cNvPr id="15402" name="TextBox 15401"/>
          <p:cNvSpPr txBox="1"/>
          <p:nvPr/>
        </p:nvSpPr>
        <p:spPr>
          <a:xfrm>
            <a:off x="6291072" y="5826853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5B6778"/>
                </a:solidFill>
                <a:latin typeface="Arial"/>
              </a:rPr>
              <a:t>Also designed for:</a:t>
            </a:r>
          </a:p>
        </p:txBody>
      </p:sp>
      <p:sp>
        <p:nvSpPr>
          <p:cNvPr id="15403" name="Rounded Rectangle 15402"/>
          <p:cNvSpPr/>
          <p:nvPr/>
        </p:nvSpPr>
        <p:spPr>
          <a:xfrm>
            <a:off x="7479792" y="5826853"/>
            <a:ext cx="965240" cy="256032"/>
          </a:xfrm>
          <a:prstGeom prst="roundRect">
            <a:avLst>
              <a:gd name="adj" fmla="val 50000"/>
            </a:avLst>
          </a:prstGeom>
          <a:solidFill>
            <a:srgbClr val="F3F7FC"/>
          </a:solidFill>
          <a:ln w="1397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4" name="TextBox 15403"/>
          <p:cNvSpPr txBox="1"/>
          <p:nvPr/>
        </p:nvSpPr>
        <p:spPr>
          <a:xfrm>
            <a:off x="7479792" y="5826853"/>
            <a:ext cx="9652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1F2A44"/>
                </a:solidFill>
                <a:latin typeface="Arial"/>
              </a:rPr>
              <a:t>Mixed traffic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8509040" y="5826853"/>
            <a:ext cx="1133124" cy="256032"/>
          </a:xfrm>
          <a:prstGeom prst="roundRect">
            <a:avLst>
              <a:gd name="adj" fmla="val 50000"/>
            </a:avLst>
          </a:prstGeom>
          <a:solidFill>
            <a:srgbClr val="F3F7FC"/>
          </a:solidFill>
          <a:ln w="1397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6" name="TextBox 15405"/>
          <p:cNvSpPr txBox="1"/>
          <p:nvPr/>
        </p:nvSpPr>
        <p:spPr>
          <a:xfrm>
            <a:off x="8509040" y="5826853"/>
            <a:ext cx="11331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1F2A44"/>
                </a:solidFill>
                <a:latin typeface="Arial"/>
              </a:rPr>
              <a:t>No lane markings</a:t>
            </a:r>
          </a:p>
        </p:txBody>
      </p:sp>
      <p:sp>
        <p:nvSpPr>
          <p:cNvPr id="15407" name="Rounded Rectangle 15406"/>
          <p:cNvSpPr/>
          <p:nvPr/>
        </p:nvSpPr>
        <p:spPr>
          <a:xfrm>
            <a:off x="9706173" y="5826853"/>
            <a:ext cx="909279" cy="256032"/>
          </a:xfrm>
          <a:prstGeom prst="roundRect">
            <a:avLst>
              <a:gd name="adj" fmla="val 50000"/>
            </a:avLst>
          </a:prstGeom>
          <a:solidFill>
            <a:srgbClr val="F3F7FC"/>
          </a:solidFill>
          <a:ln w="1397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8" name="TextBox 15407"/>
          <p:cNvSpPr txBox="1"/>
          <p:nvPr/>
        </p:nvSpPr>
        <p:spPr>
          <a:xfrm>
            <a:off x="9706173" y="5826853"/>
            <a:ext cx="909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1F2A44"/>
                </a:solidFill>
                <a:latin typeface="Arial"/>
              </a:rPr>
              <a:t>Two-wheelers</a:t>
            </a:r>
          </a:p>
        </p:txBody>
      </p:sp>
      <p:sp>
        <p:nvSpPr>
          <p:cNvPr id="15409" name="Rounded Rectangle 15408"/>
          <p:cNvSpPr/>
          <p:nvPr/>
        </p:nvSpPr>
        <p:spPr>
          <a:xfrm>
            <a:off x="10679460" y="5826853"/>
            <a:ext cx="909279" cy="256032"/>
          </a:xfrm>
          <a:prstGeom prst="roundRect">
            <a:avLst>
              <a:gd name="adj" fmla="val 50000"/>
            </a:avLst>
          </a:prstGeom>
          <a:solidFill>
            <a:srgbClr val="F3F7FC"/>
          </a:solidFill>
          <a:ln w="13970">
            <a:solidFill>
              <a:srgbClr val="1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0" name="TextBox 15409"/>
          <p:cNvSpPr txBox="1"/>
          <p:nvPr/>
        </p:nvSpPr>
        <p:spPr>
          <a:xfrm>
            <a:off x="10679460" y="5826853"/>
            <a:ext cx="909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1F2A44"/>
                </a:solidFill>
                <a:latin typeface="Arial"/>
              </a:rPr>
              <a:t>Sudden turns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Ctrl Alt Elite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34440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57276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Perception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1810512"/>
            <a:ext cx="2240279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1810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Object detection (YOLO family)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2139696"/>
            <a:ext cx="2240279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21396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Multi-object tracking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2468879"/>
            <a:ext cx="2240279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457200" y="246887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Monocular depth estimation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743199" y="157276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Prediction &amp; planning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2743199" y="1810512"/>
            <a:ext cx="2240279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2834639" y="1810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Short-term motion prediction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2743199" y="2139696"/>
            <a:ext cx="2240279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2834639" y="213969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Bird’s-eye risk / cost map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2743199" y="2468879"/>
            <a:ext cx="2240279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2834639" y="246887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Kinematic path sampling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120640" y="157276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Software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120640" y="1810512"/>
            <a:ext cx="1828800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5212079" y="181051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Python · PyTorch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5120640" y="2139696"/>
            <a:ext cx="1828800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5212079" y="21396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OpenCV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5120640" y="2468879"/>
            <a:ext cx="1828800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5212079" y="2468879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Web dashboard for review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7086600" y="157276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6778"/>
                </a:solidFill>
                <a:latin typeface="Arial"/>
              </a:rPr>
              <a:t>Sensors &amp; compute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086600" y="1810512"/>
            <a:ext cx="2286000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7178040" y="1810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Front camera (prototype)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086600" y="2139696"/>
            <a:ext cx="2286000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7178040" y="21396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Radar / LiDAR (pilot)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086600" y="2468879"/>
            <a:ext cx="2286000" cy="274320"/>
          </a:xfrm>
          <a:prstGeom prst="roundRect">
            <a:avLst>
              <a:gd name="adj" fmla="val 26666"/>
            </a:avLst>
          </a:prstGeom>
          <a:solidFill>
            <a:srgbClr val="F3F7FC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TextBox 17438"/>
          <p:cNvSpPr txBox="1"/>
          <p:nvPr/>
        </p:nvSpPr>
        <p:spPr>
          <a:xfrm>
            <a:off x="7178040" y="2468879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Automotive compute (production)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9509760" y="1572768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Arial"/>
              </a:rPr>
              <a:t>Simulation &amp; validation  · pilot stage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509760" y="1810512"/>
            <a:ext cx="2194560" cy="274320"/>
          </a:xfrm>
          <a:prstGeom prst="roundRect">
            <a:avLst>
              <a:gd name="adj" fmla="val 26666"/>
            </a:avLst>
          </a:prstGeom>
          <a:solidFill>
            <a:srgbClr val="FDF3E3"/>
          </a:solidFill>
          <a:ln w="9525">
            <a:solidFill>
              <a:srgbClr val="F3D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9601200" y="181051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MATLAB / Simulink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509760" y="2139696"/>
            <a:ext cx="2194560" cy="274320"/>
          </a:xfrm>
          <a:prstGeom prst="roundRect">
            <a:avLst>
              <a:gd name="adj" fmla="val 26666"/>
            </a:avLst>
          </a:prstGeom>
          <a:solidFill>
            <a:srgbClr val="FDF3E3"/>
          </a:solidFill>
          <a:ln w="9525">
            <a:solidFill>
              <a:srgbClr val="F3D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9601200" y="213969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RoadRunner scenarios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509760" y="2468879"/>
            <a:ext cx="2194560" cy="274320"/>
          </a:xfrm>
          <a:prstGeom prst="roundRect">
            <a:avLst>
              <a:gd name="adj" fmla="val 26666"/>
            </a:avLst>
          </a:prstGeom>
          <a:solidFill>
            <a:srgbClr val="FDF3E3"/>
          </a:solidFill>
          <a:ln w="9525">
            <a:solidFill>
              <a:srgbClr val="F3D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9601200" y="2468879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Automated Driving Toolbox</a:t>
            </a:r>
          </a:p>
        </p:txBody>
      </p:sp>
      <p:sp>
        <p:nvSpPr>
          <p:cNvPr id="17447" name="Rectangle 17446"/>
          <p:cNvSpPr/>
          <p:nvPr/>
        </p:nvSpPr>
        <p:spPr>
          <a:xfrm>
            <a:off x="365760" y="2990088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493776" y="2944368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365760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0" name="Picture 17449" descr="web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447288"/>
            <a:ext cx="310896" cy="310896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475488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Road scene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475488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front camera view of mixed traffic</a:t>
            </a:r>
          </a:p>
        </p:txBody>
      </p:sp>
      <p:cxnSp>
        <p:nvCxnSpPr>
          <p:cNvPr id="17453" name="Connector 17452"/>
          <p:cNvCxnSpPr/>
          <p:nvPr/>
        </p:nvCxnSpPr>
        <p:spPr>
          <a:xfrm>
            <a:off x="1679067" y="3991356"/>
            <a:ext cx="128015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4" name="Rounded Rectangle 17453"/>
          <p:cNvSpPr/>
          <p:nvPr/>
        </p:nvSpPr>
        <p:spPr>
          <a:xfrm>
            <a:off x="1816227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5" name="Picture 17454" descr="visibility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5955" y="3447288"/>
            <a:ext cx="310896" cy="310896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1925955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Perception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1925955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detect every road user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3129534" y="3991356"/>
            <a:ext cx="128016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ounded Rectangle 17458"/>
          <p:cNvSpPr/>
          <p:nvPr/>
        </p:nvSpPr>
        <p:spPr>
          <a:xfrm>
            <a:off x="3266694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timelin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6422" y="3447288"/>
            <a:ext cx="310896" cy="310896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3376422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Object tracking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3376422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identity and history over time</a:t>
            </a:r>
          </a:p>
        </p:txBody>
      </p:sp>
      <p:cxnSp>
        <p:nvCxnSpPr>
          <p:cNvPr id="17463" name="Connector 17462"/>
          <p:cNvCxnSpPr/>
          <p:nvPr/>
        </p:nvCxnSpPr>
        <p:spPr>
          <a:xfrm>
            <a:off x="4580000" y="3991356"/>
            <a:ext cx="128017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4" name="Rounded Rectangle 17463"/>
          <p:cNvSpPr/>
          <p:nvPr/>
        </p:nvSpPr>
        <p:spPr>
          <a:xfrm>
            <a:off x="4717161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5" name="Picture 17464" descr="brain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6889" y="3447288"/>
            <a:ext cx="310896" cy="310896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4826889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Motion prediction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4826889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where each agent goes next</a:t>
            </a:r>
          </a:p>
        </p:txBody>
      </p:sp>
      <p:cxnSp>
        <p:nvCxnSpPr>
          <p:cNvPr id="17468" name="Connector 17467"/>
          <p:cNvCxnSpPr/>
          <p:nvPr/>
        </p:nvCxnSpPr>
        <p:spPr>
          <a:xfrm>
            <a:off x="6030468" y="3991356"/>
            <a:ext cx="128016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9" name="Rounded Rectangle 17468"/>
          <p:cNvSpPr/>
          <p:nvPr/>
        </p:nvSpPr>
        <p:spPr>
          <a:xfrm>
            <a:off x="6167628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E3F4F1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0" name="Picture 17469" descr="warning_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7356" y="3447288"/>
            <a:ext cx="310896" cy="310896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6277356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Ego-path / risk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277356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who threatens our path, and how soon</a:t>
            </a:r>
          </a:p>
        </p:txBody>
      </p:sp>
      <p:cxnSp>
        <p:nvCxnSpPr>
          <p:cNvPr id="17473" name="Connector 17472"/>
          <p:cNvCxnSpPr/>
          <p:nvPr/>
        </p:nvCxnSpPr>
        <p:spPr>
          <a:xfrm>
            <a:off x="7480935" y="3991356"/>
            <a:ext cx="128016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4" name="Rounded Rectangle 17473"/>
          <p:cNvSpPr/>
          <p:nvPr/>
        </p:nvSpPr>
        <p:spPr>
          <a:xfrm>
            <a:off x="7618094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E3F4F1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5" name="Picture 17474" descr="route_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7822" y="3447288"/>
            <a:ext cx="310896" cy="310896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7727822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Adaptive planning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7727822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sample and score collision-free paths</a:t>
            </a:r>
          </a:p>
        </p:txBody>
      </p:sp>
      <p:cxnSp>
        <p:nvCxnSpPr>
          <p:cNvPr id="17478" name="Connector 17477"/>
          <p:cNvCxnSpPr/>
          <p:nvPr/>
        </p:nvCxnSpPr>
        <p:spPr>
          <a:xfrm>
            <a:off x="8931401" y="3991356"/>
            <a:ext cx="128016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9" name="Rounded Rectangle 17478"/>
          <p:cNvSpPr/>
          <p:nvPr/>
        </p:nvSpPr>
        <p:spPr>
          <a:xfrm>
            <a:off x="9068562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E3F4F1"/>
          </a:solidFill>
          <a:ln w="1270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80" name="Picture 17479" descr="shield_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8290" y="3447288"/>
            <a:ext cx="310896" cy="310896"/>
          </a:xfrm>
          <a:prstGeom prst="rect">
            <a:avLst/>
          </a:prstGeom>
        </p:spPr>
      </p:pic>
      <p:sp>
        <p:nvSpPr>
          <p:cNvPr id="17481" name="TextBox 17480"/>
          <p:cNvSpPr txBox="1"/>
          <p:nvPr/>
        </p:nvSpPr>
        <p:spPr>
          <a:xfrm>
            <a:off x="9178290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Safe trajectory</a:t>
            </a:r>
          </a:p>
        </p:txBody>
      </p:sp>
      <p:sp>
        <p:nvSpPr>
          <p:cNvPr id="17482" name="TextBox 17481"/>
          <p:cNvSpPr txBox="1"/>
          <p:nvPr/>
        </p:nvSpPr>
        <p:spPr>
          <a:xfrm>
            <a:off x="9178290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best path + GO / SLOW / BRAKE</a:t>
            </a:r>
          </a:p>
        </p:txBody>
      </p:sp>
      <p:cxnSp>
        <p:nvCxnSpPr>
          <p:cNvPr id="17483" name="Connector 17482"/>
          <p:cNvCxnSpPr/>
          <p:nvPr/>
        </p:nvCxnSpPr>
        <p:spPr>
          <a:xfrm>
            <a:off x="10381869" y="3991356"/>
            <a:ext cx="128016" cy="0"/>
          </a:xfrm>
          <a:prstGeom prst="line">
            <a:avLst/>
          </a:prstGeom>
          <a:ln w="1905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4" name="Rounded Rectangle 17483"/>
          <p:cNvSpPr/>
          <p:nvPr/>
        </p:nvSpPr>
        <p:spPr>
          <a:xfrm>
            <a:off x="10519029" y="3328416"/>
            <a:ext cx="1304163" cy="1325880"/>
          </a:xfrm>
          <a:prstGeom prst="roundRect">
            <a:avLst>
              <a:gd name="adj" fmla="val 7011"/>
            </a:avLst>
          </a:prstGeom>
          <a:solidFill>
            <a:srgbClr val="FFFFFF"/>
          </a:solidFill>
          <a:ln w="12700">
            <a:solidFill>
              <a:srgbClr val="7B859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85" name="Picture 17484" descr="speed_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28757" y="3447288"/>
            <a:ext cx="310896" cy="310896"/>
          </a:xfrm>
          <a:prstGeom prst="rect">
            <a:avLst/>
          </a:prstGeom>
        </p:spPr>
      </p:pic>
      <p:sp>
        <p:nvSpPr>
          <p:cNvPr id="17486" name="TextBox 17485"/>
          <p:cNvSpPr txBox="1"/>
          <p:nvPr/>
        </p:nvSpPr>
        <p:spPr>
          <a:xfrm>
            <a:off x="10628757" y="3785616"/>
            <a:ext cx="11212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" b="1" i="0">
                <a:solidFill>
                  <a:srgbClr val="1F2A44"/>
                </a:solidFill>
                <a:latin typeface="Arial"/>
              </a:rPr>
              <a:t>Vehicle control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10628757" y="4197096"/>
            <a:ext cx="112128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steering and speed commands</a:t>
            </a:r>
          </a:p>
        </p:txBody>
      </p:sp>
      <p:cxnSp>
        <p:nvCxnSpPr>
          <p:cNvPr id="17488" name="Connector 17487"/>
          <p:cNvCxnSpPr/>
          <p:nvPr/>
        </p:nvCxnSpPr>
        <p:spPr>
          <a:xfrm>
            <a:off x="9720643" y="4654296"/>
            <a:ext cx="0" cy="146304"/>
          </a:xfrm>
          <a:prstGeom prst="line">
            <a:avLst/>
          </a:prstGeom>
          <a:ln w="19050">
            <a:solidFill>
              <a:srgbClr val="0F9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89" name="Connector 17488"/>
          <p:cNvCxnSpPr/>
          <p:nvPr/>
        </p:nvCxnSpPr>
        <p:spPr>
          <a:xfrm flipH="1">
            <a:off x="2468308" y="4800600"/>
            <a:ext cx="7252335" cy="0"/>
          </a:xfrm>
          <a:prstGeom prst="line">
            <a:avLst/>
          </a:prstGeom>
          <a:ln w="19050">
            <a:solidFill>
              <a:srgbClr val="0F9E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90" name="Connector 17489"/>
          <p:cNvCxnSpPr/>
          <p:nvPr/>
        </p:nvCxnSpPr>
        <p:spPr>
          <a:xfrm flipV="1">
            <a:off x="2468308" y="4663440"/>
            <a:ext cx="0" cy="137160"/>
          </a:xfrm>
          <a:prstGeom prst="line">
            <a:avLst/>
          </a:prstGeom>
          <a:ln w="19050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1" name="TextBox 17490"/>
          <p:cNvSpPr txBox="1"/>
          <p:nvPr/>
        </p:nvSpPr>
        <p:spPr>
          <a:xfrm>
            <a:off x="3808476" y="482803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F9E8E"/>
                </a:solidFill>
                <a:latin typeface="Arial"/>
              </a:rPr>
              <a:t>continuous re-planning as the scene changes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10519029" y="4700016"/>
            <a:ext cx="13041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B8594"/>
                </a:solidFill>
                <a:latin typeface="Arial"/>
              </a:rPr>
              <a:t>pilot / production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365760" y="5230368"/>
            <a:ext cx="3703320" cy="950976"/>
          </a:xfrm>
          <a:prstGeom prst="roundRect">
            <a:avLst>
              <a:gd name="adj" fmla="val 9615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4" name="Oval 17493"/>
          <p:cNvSpPr/>
          <p:nvPr/>
        </p:nvSpPr>
        <p:spPr>
          <a:xfrm>
            <a:off x="530352" y="53766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95" name="Picture 17494" descr="route_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648" y="5458968"/>
            <a:ext cx="292608" cy="292608"/>
          </a:xfrm>
          <a:prstGeom prst="rect">
            <a:avLst/>
          </a:prstGeom>
        </p:spPr>
      </p:pic>
      <p:sp>
        <p:nvSpPr>
          <p:cNvPr id="17496" name="TextBox 17495"/>
          <p:cNvSpPr txBox="1"/>
          <p:nvPr/>
        </p:nvSpPr>
        <p:spPr>
          <a:xfrm>
            <a:off x="1133856" y="53218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Lane-free planning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1133856" y="5586984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Plans in drivable free space, so missing or faded lane markings don’t break it.</a:t>
            </a:r>
          </a:p>
        </p:txBody>
      </p:sp>
      <p:sp>
        <p:nvSpPr>
          <p:cNvPr id="17498" name="Rounded Rectangle 17497"/>
          <p:cNvSpPr/>
          <p:nvPr/>
        </p:nvSpPr>
        <p:spPr>
          <a:xfrm>
            <a:off x="4224528" y="5230368"/>
            <a:ext cx="3703320" cy="950976"/>
          </a:xfrm>
          <a:prstGeom prst="roundRect">
            <a:avLst>
              <a:gd name="adj" fmla="val 9615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9" name="Oval 17498"/>
          <p:cNvSpPr/>
          <p:nvPr/>
        </p:nvSpPr>
        <p:spPr>
          <a:xfrm>
            <a:off x="4389120" y="53766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00" name="Picture 17499" descr="walk_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1416" y="5458968"/>
            <a:ext cx="292608" cy="292608"/>
          </a:xfrm>
          <a:prstGeom prst="rect">
            <a:avLst/>
          </a:prstGeom>
        </p:spPr>
      </p:pic>
      <p:sp>
        <p:nvSpPr>
          <p:cNvPr id="17501" name="TextBox 17500"/>
          <p:cNvSpPr txBox="1"/>
          <p:nvPr/>
        </p:nvSpPr>
        <p:spPr>
          <a:xfrm>
            <a:off x="4992624" y="53218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Threat, not proximity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4992624" y="5586984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Traffic on its own side and footpath pedestrians are watched; agents entering the path trigger action.</a:t>
            </a:r>
          </a:p>
        </p:txBody>
      </p:sp>
      <p:sp>
        <p:nvSpPr>
          <p:cNvPr id="17503" name="Rounded Rectangle 17502"/>
          <p:cNvSpPr/>
          <p:nvPr/>
        </p:nvSpPr>
        <p:spPr>
          <a:xfrm>
            <a:off x="8083296" y="5230368"/>
            <a:ext cx="3703320" cy="950976"/>
          </a:xfrm>
          <a:prstGeom prst="roundRect">
            <a:avLst>
              <a:gd name="adj" fmla="val 9615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4" name="Oval 17503"/>
          <p:cNvSpPr/>
          <p:nvPr/>
        </p:nvSpPr>
        <p:spPr>
          <a:xfrm>
            <a:off x="8247888" y="53766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505" name="Picture 17504" descr="layers_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30183" y="5458968"/>
            <a:ext cx="292608" cy="292608"/>
          </a:xfrm>
          <a:prstGeom prst="rect">
            <a:avLst/>
          </a:prstGeom>
        </p:spPr>
      </p:pic>
      <p:sp>
        <p:nvSpPr>
          <p:cNvPr id="17506" name="TextBox 17505"/>
          <p:cNvSpPr txBox="1"/>
          <p:nvPr/>
        </p:nvSpPr>
        <p:spPr>
          <a:xfrm>
            <a:off x="8851392" y="5321808"/>
            <a:ext cx="2834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Modular by design</a:t>
            </a:r>
          </a:p>
        </p:txBody>
      </p:sp>
      <p:sp>
        <p:nvSpPr>
          <p:cNvPr id="17507" name="TextBox 17506"/>
          <p:cNvSpPr txBox="1"/>
          <p:nvPr/>
        </p:nvSpPr>
        <p:spPr>
          <a:xfrm>
            <a:off x="8851392" y="5586984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Perception, prediction and planning are separate stages — sensors and simulators plug in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Ctrl Alt Elite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34440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7187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54480"/>
            <a:ext cx="3566160" cy="2212848"/>
          </a:xfrm>
          <a:prstGeom prst="roundRect">
            <a:avLst>
              <a:gd name="adj" fmla="val 4958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3" name="Picture 17412" descr="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64208"/>
            <a:ext cx="274320" cy="274320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77824" y="16733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0C0"/>
                </a:solidFill>
                <a:latin typeface="Arial"/>
              </a:rPr>
              <a:t>FEASIBILITY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2048256"/>
            <a:ext cx="32461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35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Builds on established perception, tracking and motion-planning methods</a:t>
            </a:r>
          </a:p>
          <a:p>
            <a:pPr algn="l" marL="146304" indent="-146304">
              <a:spcAft>
                <a:spcPts val="35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Camera-first design gives an accessible first deployment</a:t>
            </a:r>
          </a:p>
          <a:p>
            <a:pPr algn="l" marL="146304" indent="-146304">
              <a:spcAft>
                <a:spcPts val="35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Modular: LiDAR / radar can be added in later stages</a:t>
            </a:r>
          </a:p>
          <a:p>
            <a:pPr algn="l" marL="146304" indent="-146304">
              <a:spcAft>
                <a:spcPts val="35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Validation grows from recorded roads to simulation and closed-loop tests</a:t>
            </a:r>
          </a:p>
          <a:p>
            <a:pPr algn="l" marL="146304" indent="-146304">
              <a:spcAft>
                <a:spcPts val="35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Mature automotive simulation and perception ecosystems support scale-up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069080" y="1554480"/>
            <a:ext cx="3566160" cy="2212848"/>
          </a:xfrm>
          <a:prstGeom prst="roundRect">
            <a:avLst>
              <a:gd name="adj" fmla="val 4958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7" name="Picture 17416" descr="rocket_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3672" y="1664208"/>
            <a:ext cx="274320" cy="27432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4581144" y="16733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9E8E"/>
                </a:solidFill>
                <a:latin typeface="Arial"/>
              </a:rPr>
              <a:t>VIABILITY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251960" y="2048256"/>
            <a:ext cx="32461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350"/>
              </a:spcAft>
              <a:buClr>
                <a:srgbClr val="0F9E8E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Designed around real Indian-road traffic complexity</a:t>
            </a:r>
          </a:p>
          <a:p>
            <a:pPr algn="l" marL="146304" indent="-146304">
              <a:spcAft>
                <a:spcPts val="350"/>
              </a:spcAft>
              <a:buClr>
                <a:srgbClr val="0F9E8E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Fits urban roads, village roads, highways and dense mixed traffic</a:t>
            </a:r>
          </a:p>
          <a:p>
            <a:pPr algn="l" marL="146304" indent="-146304">
              <a:spcAft>
                <a:spcPts val="350"/>
              </a:spcAft>
              <a:buClr>
                <a:srgbClr val="0F9E8E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Modular perception / planning supports progressive upgrades</a:t>
            </a:r>
          </a:p>
          <a:p>
            <a:pPr algn="l" marL="146304" indent="-146304">
              <a:spcAft>
                <a:spcPts val="350"/>
              </a:spcAft>
              <a:buClr>
                <a:srgbClr val="0F9E8E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Evolves from research prototype → pilot → production</a:t>
            </a:r>
          </a:p>
          <a:p>
            <a:pPr algn="l" marL="146304" indent="-146304">
              <a:spcAft>
                <a:spcPts val="350"/>
              </a:spcAft>
              <a:buClr>
                <a:srgbClr val="0F9E8E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Can integrate with vehicle systems and mobility platforms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365760" y="3977639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93776" y="3931920"/>
            <a:ext cx="34381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3840480" y="3977639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3968496" y="3931920"/>
            <a:ext cx="3712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65760" y="4279392"/>
            <a:ext cx="7269480" cy="475488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warning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4398264"/>
            <a:ext cx="237744" cy="23774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804672" y="4279392"/>
            <a:ext cx="2697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F2A44"/>
                </a:solidFill>
                <a:latin typeface="Arial"/>
              </a:rPr>
              <a:t>Unstructured roads, missing lane markings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3493008" y="4517136"/>
            <a:ext cx="256031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TextBox 17427"/>
          <p:cNvSpPr txBox="1"/>
          <p:nvPr/>
        </p:nvSpPr>
        <p:spPr>
          <a:xfrm>
            <a:off x="3858768" y="4279392"/>
            <a:ext cx="3703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Ego-path estimation and scene-aware planning instead of lane-only planning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65760" y="4791456"/>
            <a:ext cx="7269480" cy="475488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0" name="Picture 17429" descr="warning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4910328"/>
            <a:ext cx="237744" cy="237744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804672" y="4791456"/>
            <a:ext cx="2697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F2A44"/>
                </a:solidFill>
                <a:latin typeface="Arial"/>
              </a:rPr>
              <a:t>Irregular traffic behaviour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3493008" y="5029200"/>
            <a:ext cx="256031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TextBox 17432"/>
          <p:cNvSpPr txBox="1"/>
          <p:nvPr/>
        </p:nvSpPr>
        <p:spPr>
          <a:xfrm>
            <a:off x="3858768" y="4791456"/>
            <a:ext cx="3703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Short-term motion prediction and dynamic risk assessment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65760" y="5303520"/>
            <a:ext cx="7269480" cy="475488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5" name="Picture 17434" descr="warning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5422392"/>
            <a:ext cx="237744" cy="237744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804672" y="5303520"/>
            <a:ext cx="2697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F2A44"/>
                </a:solidFill>
                <a:latin typeface="Arial"/>
              </a:rPr>
              <a:t>Perception uncertainty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3493008" y="5541264"/>
            <a:ext cx="256031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TextBox 17437"/>
          <p:cNvSpPr txBox="1"/>
          <p:nvPr/>
        </p:nvSpPr>
        <p:spPr>
          <a:xfrm>
            <a:off x="3858768" y="5303520"/>
            <a:ext cx="3703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Confidence-aware decisions, temporal tracking, future multi-sensor fusion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5815583"/>
            <a:ext cx="7269480" cy="475488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0" name="Picture 17439" descr="warning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5934455"/>
            <a:ext cx="237744" cy="237744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804672" y="5815583"/>
            <a:ext cx="2697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F2A44"/>
                </a:solidFill>
                <a:latin typeface="Arial"/>
              </a:rPr>
              <a:t>Real-world validation complexity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3493008" y="6053327"/>
            <a:ext cx="256031" cy="0"/>
          </a:xfrm>
          <a:prstGeom prst="line">
            <a:avLst/>
          </a:prstGeom>
          <a:ln w="1587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TextBox 17442"/>
          <p:cNvSpPr txBox="1"/>
          <p:nvPr/>
        </p:nvSpPr>
        <p:spPr>
          <a:xfrm>
            <a:off x="3858768" y="5815583"/>
            <a:ext cx="37033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Scenario library + simulation + progressive field validation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001000" y="11887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PROTOTYPE → PILOT → PRODUCTION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8001000" y="1600200"/>
            <a:ext cx="3822191" cy="1261872"/>
          </a:xfrm>
          <a:prstGeom prst="roundRect">
            <a:avLst>
              <a:gd name="adj" fmla="val 724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8183879" y="1709928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070C0"/>
                </a:solidFill>
                <a:latin typeface="Arial"/>
              </a:rPr>
              <a:t>PROTOTYPE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8183879" y="2103120"/>
            <a:ext cx="350215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Camera-based proof of concept: perception, short-term motion understanding and adaptive collision-free path planning.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8321040" y="2862072"/>
            <a:ext cx="274320" cy="310896"/>
          </a:xfrm>
          <a:prstGeom prst="curvedConnector3">
            <a:avLst/>
          </a:prstGeom>
          <a:ln w="22225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8275320" y="3172968"/>
            <a:ext cx="3547872" cy="1261872"/>
          </a:xfrm>
          <a:prstGeom prst="roundRect">
            <a:avLst>
              <a:gd name="adj" fmla="val 7246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8458200" y="32826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F9E8E"/>
                </a:solidFill>
                <a:latin typeface="Arial"/>
              </a:rPr>
              <a:t>PILOT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458200" y="3675887"/>
            <a:ext cx="32278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Multi-scenario validation on diverse Indian roads, with additional sensors and closed-loop simulation.</a:t>
            </a:r>
          </a:p>
        </p:txBody>
      </p:sp>
      <p:cxnSp>
        <p:nvCxnSpPr>
          <p:cNvPr id="17452" name="Connector 17451"/>
          <p:cNvCxnSpPr/>
          <p:nvPr/>
        </p:nvCxnSpPr>
        <p:spPr>
          <a:xfrm>
            <a:off x="8595360" y="4434840"/>
            <a:ext cx="274320" cy="310896"/>
          </a:xfrm>
          <a:prstGeom prst="curvedConnector3">
            <a:avLst/>
          </a:prstGeom>
          <a:ln w="22225">
            <a:solidFill>
              <a:srgbClr val="0F9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Rounded Rectangle 17452"/>
          <p:cNvSpPr/>
          <p:nvPr/>
        </p:nvSpPr>
        <p:spPr>
          <a:xfrm>
            <a:off x="8549640" y="4745736"/>
            <a:ext cx="3273551" cy="1261872"/>
          </a:xfrm>
          <a:prstGeom prst="roundRect">
            <a:avLst>
              <a:gd name="adj" fmla="val 7246"/>
            </a:avLst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4" name="TextBox 17453"/>
          <p:cNvSpPr txBox="1"/>
          <p:nvPr/>
        </p:nvSpPr>
        <p:spPr>
          <a:xfrm>
            <a:off x="8732519" y="4855464"/>
            <a:ext cx="29077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2A44"/>
                </a:solidFill>
                <a:latin typeface="Arial"/>
              </a:rPr>
              <a:t>PRODUCTION</a:t>
            </a:r>
          </a:p>
        </p:txBody>
      </p:sp>
      <p:sp>
        <p:nvSpPr>
          <p:cNvPr id="17455" name="TextBox 17454"/>
          <p:cNvSpPr txBox="1"/>
          <p:nvPr/>
        </p:nvSpPr>
        <p:spPr>
          <a:xfrm>
            <a:off x="8732519" y="5248655"/>
            <a:ext cx="295351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243044"/>
                </a:solidFill>
                <a:latin typeface="Arial"/>
              </a:rPr>
              <a:t>Vehicle-grade multi-sensor perception, real-time planning and simulation-backed validation under automotive safety constraints.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Ctrl Alt Elite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34440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54480"/>
            <a:ext cx="2761488" cy="960120"/>
          </a:xfrm>
          <a:prstGeom prst="roundRect">
            <a:avLst>
              <a:gd name="adj" fmla="val 9523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Oval 17412"/>
          <p:cNvSpPr/>
          <p:nvPr/>
        </p:nvSpPr>
        <p:spPr>
          <a:xfrm>
            <a:off x="502920" y="17190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4" name="Picture 17413" descr="wal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1801368"/>
            <a:ext cx="292608" cy="29260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1078992" y="164592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Road users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078992" y="1920240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Pedestrians, two-wheeler riders and passengers in mixed traffic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55264" y="1554480"/>
            <a:ext cx="2761488" cy="960120"/>
          </a:xfrm>
          <a:prstGeom prst="roundRect">
            <a:avLst>
              <a:gd name="adj" fmla="val 9523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3392424" y="17190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c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1801368"/>
            <a:ext cx="292608" cy="29260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3968496" y="164592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OEMs &amp; ADAS teams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968496" y="1920240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An Indian-road planning layer for driver assistance and autonomy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44768" y="1554480"/>
            <a:ext cx="2761488" cy="960120"/>
          </a:xfrm>
          <a:prstGeom prst="roundRect">
            <a:avLst>
              <a:gd name="adj" fmla="val 9523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Oval 17422"/>
          <p:cNvSpPr/>
          <p:nvPr/>
        </p:nvSpPr>
        <p:spPr>
          <a:xfrm>
            <a:off x="6281928" y="17190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bus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1801368"/>
            <a:ext cx="292608" cy="29260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858000" y="164592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Fleets &amp; public transport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858000" y="1920240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Buses, taxis, autos and logistics on unstructured routes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034272" y="1554480"/>
            <a:ext cx="2761488" cy="960120"/>
          </a:xfrm>
          <a:prstGeom prst="roundRect">
            <a:avLst>
              <a:gd name="adj" fmla="val 9523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9171432" y="1719072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9" name="Picture 17428" descr="scienc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3728" y="1801368"/>
            <a:ext cx="292608" cy="292608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9747504" y="164592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Research &amp; testing bodies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747504" y="1920240"/>
            <a:ext cx="1965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B6778"/>
                </a:solidFill>
                <a:latin typeface="Arial"/>
              </a:rPr>
              <a:t>Scenario-based validation of adaptive navigation</a:t>
            </a:r>
          </a:p>
        </p:txBody>
      </p:sp>
      <p:sp>
        <p:nvSpPr>
          <p:cNvPr id="17432" name="Rectangle 17431"/>
          <p:cNvSpPr/>
          <p:nvPr/>
        </p:nvSpPr>
        <p:spPr>
          <a:xfrm>
            <a:off x="365760" y="2770632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493776" y="2724912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65760" y="3108960"/>
            <a:ext cx="2514600" cy="3090672"/>
          </a:xfrm>
          <a:prstGeom prst="roundRect">
            <a:avLst>
              <a:gd name="adj" fmla="val 4363"/>
            </a:avLst>
          </a:prstGeom>
          <a:solidFill>
            <a:srgbClr val="F6F7F9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548640" y="32461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Arial"/>
              </a:rPr>
              <a:t>CURRENT CHALLENGE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48640" y="36118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Unstructured roads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548640" y="38496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594"/>
                </a:solidFill>
                <a:latin typeface="Arial"/>
              </a:rPr>
              <a:t>+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48640" y="40690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Mixed traffic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48640" y="43068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594"/>
                </a:solidFill>
                <a:latin typeface="Arial"/>
              </a:rPr>
              <a:t>+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548640" y="45262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Unpredictable movement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548640" y="47640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B8594"/>
                </a:solidFill>
                <a:latin typeface="Arial"/>
              </a:rPr>
              <a:t>+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48640" y="49834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Limited lane information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48640" y="554126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India, 2022: 4,61,312 road accidents and 1,68,491 deaths (MoRTH)</a:t>
            </a:r>
          </a:p>
        </p:txBody>
      </p:sp>
      <p:cxnSp>
        <p:nvCxnSpPr>
          <p:cNvPr id="17444" name="Connector 17443"/>
          <p:cNvCxnSpPr/>
          <p:nvPr/>
        </p:nvCxnSpPr>
        <p:spPr>
          <a:xfrm>
            <a:off x="2926080" y="4654296"/>
            <a:ext cx="274320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5" name="Rounded Rectangle 17444"/>
          <p:cNvSpPr/>
          <p:nvPr/>
        </p:nvSpPr>
        <p:spPr>
          <a:xfrm>
            <a:off x="3246120" y="3108960"/>
            <a:ext cx="2514600" cy="3090672"/>
          </a:xfrm>
          <a:prstGeom prst="roundRect">
            <a:avLst>
              <a:gd name="adj" fmla="val 4363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3429000" y="32461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9E8E"/>
                </a:solidFill>
                <a:latin typeface="Arial"/>
              </a:rPr>
              <a:t>PATHSENSE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3429000" y="3611880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Scene understanding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3429000" y="38496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9E8E"/>
                </a:solidFill>
                <a:latin typeface="Arial"/>
              </a:rPr>
              <a:t>+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3429000" y="4069080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Motion prediction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3429000" y="43068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9E8E"/>
                </a:solidFill>
                <a:latin typeface="Arial"/>
              </a:rPr>
              <a:t>+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3429000" y="4526280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Risk-aware path planning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3429000" y="476402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9E8E"/>
                </a:solidFill>
                <a:latin typeface="Arial"/>
              </a:rPr>
              <a:t>+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429000" y="4983480"/>
            <a:ext cx="2240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2A44"/>
                </a:solidFill>
                <a:latin typeface="Arial"/>
              </a:rPr>
              <a:t>Adaptive re-planning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3429000" y="554126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6778"/>
                </a:solidFill>
                <a:latin typeface="Arial"/>
              </a:rPr>
              <a:t>Proposed system — benefits are expected outcomes, not measured results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5806440" y="4654296"/>
            <a:ext cx="274320" cy="0"/>
          </a:xfrm>
          <a:prstGeom prst="line">
            <a:avLst/>
          </a:prstGeom>
          <a:ln w="25400">
            <a:solidFill>
              <a:srgbClr val="0070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Rounded Rectangle 17455"/>
          <p:cNvSpPr/>
          <p:nvPr/>
        </p:nvSpPr>
        <p:spPr>
          <a:xfrm>
            <a:off x="6126480" y="3108960"/>
            <a:ext cx="5669280" cy="3090672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6309360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  <a:latin typeface="Arial"/>
              </a:rPr>
              <a:t>EXPECTED BENEFITS</a:t>
            </a:r>
          </a:p>
        </p:txBody>
      </p:sp>
      <p:pic>
        <p:nvPicPr>
          <p:cNvPr id="17458" name="Picture 17457" descr="shield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3621024"/>
            <a:ext cx="274320" cy="274320"/>
          </a:xfrm>
          <a:prstGeom prst="rect">
            <a:avLst/>
          </a:prstGeom>
        </p:spPr>
      </p:pic>
      <p:sp>
        <p:nvSpPr>
          <p:cNvPr id="17459" name="TextBox 17458"/>
          <p:cNvSpPr txBox="1"/>
          <p:nvPr/>
        </p:nvSpPr>
        <p:spPr>
          <a:xfrm>
            <a:off x="6729984" y="358444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Safety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6729984" y="3813048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Better handling of unpredictable road interactions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11093500" y="3584448"/>
            <a:ext cx="537667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2" name="TextBox 17461"/>
          <p:cNvSpPr txBox="1"/>
          <p:nvPr/>
        </p:nvSpPr>
        <p:spPr>
          <a:xfrm>
            <a:off x="11093500" y="3584448"/>
            <a:ext cx="53766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0F9E8E"/>
                </a:solidFill>
                <a:latin typeface="Arial"/>
              </a:rPr>
              <a:t>Social</a:t>
            </a:r>
          </a:p>
        </p:txBody>
      </p:sp>
      <p:pic>
        <p:nvPicPr>
          <p:cNvPr id="17463" name="Picture 17462" descr="route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48" y="4133088"/>
            <a:ext cx="274320" cy="274320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6729984" y="409651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Mobility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6729984" y="432511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Smoother, adaptive navigation where lanes are unreliable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10138867" y="4096512"/>
            <a:ext cx="14923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7" name="TextBox 17466"/>
          <p:cNvSpPr txBox="1"/>
          <p:nvPr/>
        </p:nvSpPr>
        <p:spPr>
          <a:xfrm>
            <a:off x="10138867" y="4096512"/>
            <a:ext cx="14923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0F9E8E"/>
                </a:solidFill>
                <a:latin typeface="Arial"/>
              </a:rPr>
              <a:t>Economic · Environmental</a:t>
            </a:r>
          </a:p>
        </p:txBody>
      </p:sp>
      <p:pic>
        <p:nvPicPr>
          <p:cNvPr id="17468" name="Picture 17467" descr="layers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7648" y="4645152"/>
            <a:ext cx="274320" cy="274320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729984" y="460857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Scalability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6729984" y="483717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Architecture can evolve toward multi-sensor vehicle systems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10987430" y="4608576"/>
            <a:ext cx="643737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2" name="TextBox 17471"/>
          <p:cNvSpPr txBox="1"/>
          <p:nvPr/>
        </p:nvSpPr>
        <p:spPr>
          <a:xfrm>
            <a:off x="10987430" y="4608576"/>
            <a:ext cx="64373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0F9E8E"/>
                </a:solidFill>
                <a:latin typeface="Arial"/>
              </a:rPr>
              <a:t>Economic</a:t>
            </a:r>
          </a:p>
        </p:txBody>
      </p:sp>
      <p:pic>
        <p:nvPicPr>
          <p:cNvPr id="17473" name="Picture 17472" descr="map_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7648" y="5157216"/>
            <a:ext cx="274320" cy="274320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6729984" y="512064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Indian-road relevance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6729984" y="534924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Designed around mixed, irregular traffic behaviour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11093500" y="5120640"/>
            <a:ext cx="537667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0F9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7" name="TextBox 17476"/>
          <p:cNvSpPr txBox="1"/>
          <p:nvPr/>
        </p:nvSpPr>
        <p:spPr>
          <a:xfrm>
            <a:off x="11093500" y="5120640"/>
            <a:ext cx="53766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0F9E8E"/>
                </a:solidFill>
                <a:latin typeface="Arial"/>
              </a:rPr>
              <a:t>Social</a:t>
            </a:r>
          </a:p>
        </p:txBody>
      </p:sp>
      <p:pic>
        <p:nvPicPr>
          <p:cNvPr id="17478" name="Picture 17477" descr="scienc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5669280"/>
            <a:ext cx="274320" cy="274320"/>
          </a:xfrm>
          <a:prstGeom prst="rect">
            <a:avLst/>
          </a:prstGeom>
        </p:spPr>
      </p:pic>
      <p:sp>
        <p:nvSpPr>
          <p:cNvPr id="17479" name="TextBox 17478"/>
          <p:cNvSpPr txBox="1"/>
          <p:nvPr/>
        </p:nvSpPr>
        <p:spPr>
          <a:xfrm>
            <a:off x="6729984" y="563270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Research value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6729984" y="5861304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778"/>
                </a:solidFill>
                <a:latin typeface="Arial"/>
              </a:rPr>
              <a:t>A path to scenario-based validation of adaptive navigation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10987430" y="5632704"/>
            <a:ext cx="643737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2" name="TextBox 17481"/>
          <p:cNvSpPr txBox="1"/>
          <p:nvPr/>
        </p:nvSpPr>
        <p:spPr>
          <a:xfrm>
            <a:off x="10987430" y="5632704"/>
            <a:ext cx="64373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0070C0"/>
                </a:solidFill>
                <a:latin typeface="Arial"/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Ctrl Alt Elite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234440"/>
            <a:ext cx="54864" cy="2103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493776" y="1188720"/>
            <a:ext cx="113019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2A44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65760" y="1572768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3" name="Picture 17412" descr="map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1709928"/>
            <a:ext cx="274320" cy="274320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59536" y="1728216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Indian-road perception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30352" y="2121408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Varma et al., IDD: A Dataset for Exploring Problems of Autonomous Navigation in Unconstrained Environments, WACV 2019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55264" y="1572768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7" name="Picture 17416" descr="route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1568" y="1709928"/>
            <a:ext cx="274320" cy="274320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749039" y="1728216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Path planning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419856" y="2121408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Paden et al., A Survey of Motion Planning and Control Techniques for Self-Driving Urban Vehicles, IEEE T-IV 2016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González et al., A Review of Motion Planning Techniques for Automated Vehicles, IEEE T-ITS 2016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4768" y="1572768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1" name="Picture 17420" descr="visibility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2" y="1709928"/>
            <a:ext cx="274320" cy="274320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6638544" y="1728216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Detection, tracking &amp; depth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309360" y="2121408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Redmon et al., You Only Look Once, CVPR 2016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Zhang et al., ByteTrack, ECCV 2022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Yang et al., Depth Anything V2, NeurIPS 2024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9034272" y="1572768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brain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576" y="1709928"/>
            <a:ext cx="274320" cy="274320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528048" y="1728216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Motion prediction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9198864" y="2121408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Mozaffari et al., Deep Learning-Based Vehicle Behavior Prediction for Autonomous Driving Applications: A Review, IEEE T-ITS 2022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Alahi et al., Social LSTM, CVPR 2016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65760" y="3941064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9" name="Picture 17428" descr="block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" y="4078224"/>
            <a:ext cx="274320" cy="274320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59536" y="4096512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Collision avoidance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30352" y="4489704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Fiorini &amp; Shiller, Motion Planning in Dynamic Environments Using Velocity Obstacles, IJRR 1998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Hayward, Near-miss determination through use of a scale of danger (time-to-collision), HRR 1972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255264" y="3941064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3" name="Picture 17432" descr="shield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1568" y="4078224"/>
            <a:ext cx="274320" cy="274320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749039" y="4096512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Autonomous-driving safety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3419856" y="4489704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ISO 26262 — Road vehicles, functional safety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ISO 21448 — Safety of the intended functionality (SOTIF)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Shalev-Shwartz et al., On a Formal Model of Safe and Scalable Self-driving Cars, 2017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6144768" y="3941064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7" name="Picture 17436" descr="location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1072" y="4078224"/>
            <a:ext cx="274320" cy="274320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6638544" y="4096512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Road context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09360" y="4489704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OpenStreetMap contributors — road network and points of interest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MoRTH, Road Accidents in India 2022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034272" y="3941064"/>
            <a:ext cx="2761488" cy="2240280"/>
          </a:xfrm>
          <a:prstGeom prst="roundRect">
            <a:avLst>
              <a:gd name="adj" fmla="val 4081"/>
            </a:avLst>
          </a:prstGeom>
          <a:solidFill>
            <a:srgbClr val="F3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1" name="Picture 17440" descr="flag_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80576" y="4078224"/>
            <a:ext cx="274320" cy="274320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9528048" y="4096512"/>
            <a:ext cx="2167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Problem statement &amp; tools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9198864" y="4489704"/>
            <a:ext cx="2468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SIH 2026 problem statement SIH26037 — Adaptive Path Planning and Collision Avoidance for Autonomous Vehicles on Unstructured Indian Roads</a:t>
            </a:r>
          </a:p>
          <a:p>
            <a:pPr algn="l" marL="146304" indent="-146304">
              <a:spcAft>
                <a:spcPts val="5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243044"/>
                </a:solidFill>
                <a:latin typeface="Arial"/>
              </a:rPr>
              <a:t>MathWorks RoadRunner &amp; Automated Driving Toolbox documentation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