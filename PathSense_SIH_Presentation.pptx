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Diagram: original illustration of the path-threat model (decision.py path_threat).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Numbers: outputs/scenario_tests_last.json, *_stats.json (processing_fps, stage_ms_per_frame.planner), outputs/live_benchmark.json. Offline FPS is not real time. MATLAB/Simulink/RoadRunner are planned, not implemented.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Risks and strategies reflect the documented limitations in README (camera-only, monocular depth, not real time, open-loop validation).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Accident statistics: Ministry of Road Transport &amp; Highways, 'Road Accidents in India 2022'. Environmental benefit is an expectation, not a measured result.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ID and Team Name are left as the official template fields - fill them in from the SIH portal.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15.png"/><Relationship Id="rId10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endParaRPr lang="en-US" dirty="0"/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b="0" sz="1800">
                <a:solidFill>
                  <a:srgbClr val="243044"/>
                </a:solidFill>
                <a:latin typeface="Arial"/>
              </a:rPr>
              <a:t> 26037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b="0" sz="1800">
                <a:solidFill>
                  <a:srgbClr val="243044"/>
                </a:solidFill>
                <a:latin typeface="Arial"/>
              </a:rPr>
              <a:t> Adaptive Path Planning and Collision Avoidance for Autonomous Vehicles on Unstructured Indian Roads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b="0" sz="1800">
                <a:solidFill>
                  <a:srgbClr val="243044"/>
                </a:solidFill>
                <a:latin typeface="Arial"/>
              </a:rPr>
              <a:t> Smart Vehicles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b="0" sz="1800">
                <a:solidFill>
                  <a:srgbClr val="243044"/>
                </a:solidFill>
                <a:latin typeface="Arial"/>
              </a:rPr>
              <a:t> Software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PATHSENSE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65760" y="1170432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070C0"/>
                </a:solidFill>
                <a:latin typeface="Arial"/>
              </a:rPr>
              <a:t>❖ </a:t>
            </a:r>
            <a:r>
              <a:rPr sz="1700" b="1" i="0">
                <a:solidFill>
                  <a:srgbClr val="1F2A44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365760" y="1536192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778"/>
                </a:solidFill>
                <a:latin typeface="Arial"/>
              </a:rPr>
              <a:t>Threat-aware perception and path planning for mixed Indian traffic — it reacts to conflicts with the ego path, not to mere proximity.</a:t>
            </a:r>
          </a:p>
        </p:txBody>
      </p:sp>
      <p:sp>
        <p:nvSpPr>
          <p:cNvPr id="15364" name="Rectangle 15363"/>
          <p:cNvSpPr/>
          <p:nvPr/>
        </p:nvSpPr>
        <p:spPr>
          <a:xfrm>
            <a:off x="365760" y="2002536"/>
            <a:ext cx="54864" cy="2194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493776" y="1965960"/>
            <a:ext cx="6044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F2A44"/>
                </a:solidFill>
                <a:latin typeface="Arial"/>
              </a:rPr>
              <a:t>Detailed explanation of the proposed solution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493776" y="2295144"/>
            <a:ext cx="5989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55448" indent="-155448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243044"/>
                </a:solidFill>
                <a:latin typeface="Arial"/>
              </a:rPr>
              <a:t>Detects and tracks every road user from one front camera — cars, autos, two-wheelers, pedestrians, cattle</a:t>
            </a:r>
          </a:p>
          <a:p>
            <a:pPr algn="l" marL="155448" indent="-155448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243044"/>
                </a:solidFill>
                <a:latin typeface="Arial"/>
              </a:rPr>
              <a:t>Estimates distance, closing speed and time-to-collision; builds a bird’s-eye risk map</a:t>
            </a:r>
          </a:p>
          <a:p>
            <a:pPr algn="l" marL="155448" indent="-155448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243044"/>
                </a:solidFill>
                <a:latin typeface="Arial"/>
              </a:rPr>
              <a:t>Scores 17 candidate paths every frame → GO / SLOW DOWN / BRAKE / NO SAFE PATH, with the reason</a:t>
            </a:r>
          </a:p>
        </p:txBody>
      </p:sp>
      <p:sp>
        <p:nvSpPr>
          <p:cNvPr id="15367" name="Rectangle 15366"/>
          <p:cNvSpPr/>
          <p:nvPr/>
        </p:nvSpPr>
        <p:spPr>
          <a:xfrm>
            <a:off x="365760" y="3419856"/>
            <a:ext cx="54864" cy="2194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TextBox 15367"/>
          <p:cNvSpPr txBox="1"/>
          <p:nvPr/>
        </p:nvSpPr>
        <p:spPr>
          <a:xfrm>
            <a:off x="493776" y="3383280"/>
            <a:ext cx="6044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F2A44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493776" y="3712464"/>
            <a:ext cx="5989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55448" indent="-155448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243044"/>
                </a:solidFill>
                <a:latin typeface="Arial"/>
              </a:rPr>
              <a:t>No lane markings needed: free-space corridor + candidate trajectories</a:t>
            </a:r>
          </a:p>
          <a:p>
            <a:pPr algn="l" marL="155448" indent="-155448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243044"/>
                </a:solidFill>
                <a:latin typeface="Arial"/>
              </a:rPr>
              <a:t>Irregular motion read from track history: cut-in, crossing, oncoming, wrong-way</a:t>
            </a:r>
          </a:p>
          <a:p>
            <a:pPr algn="l" marL="155448" indent="-155448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243044"/>
                </a:solidFill>
                <a:latin typeface="Arial"/>
              </a:rPr>
              <a:t>Left-hand-traffic aware: oncoming vehicles on their side and footpath pedestrians do not trigger braking</a:t>
            </a:r>
          </a:p>
        </p:txBody>
      </p:sp>
      <p:sp>
        <p:nvSpPr>
          <p:cNvPr id="15370" name="Rectangle 15369"/>
          <p:cNvSpPr/>
          <p:nvPr/>
        </p:nvSpPr>
        <p:spPr>
          <a:xfrm>
            <a:off x="365760" y="4837176"/>
            <a:ext cx="54864" cy="2194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TextBox 15370"/>
          <p:cNvSpPr txBox="1"/>
          <p:nvPr/>
        </p:nvSpPr>
        <p:spPr>
          <a:xfrm>
            <a:off x="493776" y="4800600"/>
            <a:ext cx="6044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F2A44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493776" y="5129784"/>
            <a:ext cx="5989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55448" indent="-155448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243044"/>
                </a:solidFill>
                <a:latin typeface="Arial"/>
              </a:rPr>
              <a:t>Path-threat classes: IN PATH · ENTERING · APPROACHING · NEAR · CLEAR</a:t>
            </a:r>
          </a:p>
          <a:p>
            <a:pPr algn="l" marL="155448" indent="-155448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243044"/>
                </a:solidFill>
                <a:latin typeface="Arial"/>
              </a:rPr>
              <a:t>Explainable, replayable decisions + a safety regression suite</a:t>
            </a:r>
          </a:p>
          <a:p>
            <a:pPr algn="l" marL="155448" indent="-155448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243044"/>
                </a:solidFill>
                <a:latin typeface="Arial"/>
              </a:rPr>
              <a:t>Confirmation-first accident response (simulation) and phone-camera live mode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6812280" y="1920240"/>
            <a:ext cx="4983480" cy="4224528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4" name="TextBox 15373"/>
          <p:cNvSpPr txBox="1"/>
          <p:nvPr/>
        </p:nvSpPr>
        <p:spPr>
          <a:xfrm>
            <a:off x="6995160" y="2029968"/>
            <a:ext cx="4617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Threat to the ego path — not proximity</a:t>
            </a:r>
          </a:p>
        </p:txBody>
      </p:sp>
      <p:sp>
        <p:nvSpPr>
          <p:cNvPr id="15375" name="Rectangle 15374"/>
          <p:cNvSpPr/>
          <p:nvPr/>
        </p:nvSpPr>
        <p:spPr>
          <a:xfrm>
            <a:off x="7132320" y="2377440"/>
            <a:ext cx="548640" cy="32004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Rectangle 15375"/>
          <p:cNvSpPr/>
          <p:nvPr/>
        </p:nvSpPr>
        <p:spPr>
          <a:xfrm>
            <a:off x="10927080" y="2377440"/>
            <a:ext cx="548639" cy="32004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7" name="Rectangle 15376"/>
          <p:cNvSpPr/>
          <p:nvPr/>
        </p:nvSpPr>
        <p:spPr>
          <a:xfrm>
            <a:off x="7680960" y="2377440"/>
            <a:ext cx="3246120" cy="320040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378" name="Connector 15377"/>
          <p:cNvCxnSpPr/>
          <p:nvPr/>
        </p:nvCxnSpPr>
        <p:spPr>
          <a:xfrm>
            <a:off x="9304020" y="2423160"/>
            <a:ext cx="0" cy="3108960"/>
          </a:xfrm>
          <a:prstGeom prst="line">
            <a:avLst/>
          </a:prstGeom>
          <a:ln w="2540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9" name="Rounded Rectangle 15378"/>
          <p:cNvSpPr/>
          <p:nvPr/>
        </p:nvSpPr>
        <p:spPr>
          <a:xfrm>
            <a:off x="8035290" y="2606040"/>
            <a:ext cx="914400" cy="2286000"/>
          </a:xfrm>
          <a:prstGeom prst="roundRect">
            <a:avLst>
              <a:gd name="adj" fmla="val 5000"/>
            </a:avLst>
          </a:prstGeom>
          <a:solidFill>
            <a:srgbClr val="0F9E8E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0" name="TextBox 15379"/>
          <p:cNvSpPr txBox="1"/>
          <p:nvPr/>
        </p:nvSpPr>
        <p:spPr>
          <a:xfrm>
            <a:off x="8035290" y="26517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F9E8E"/>
                </a:solidFill>
                <a:latin typeface="Arial"/>
              </a:rPr>
              <a:t>ego path</a:t>
            </a:r>
          </a:p>
        </p:txBody>
      </p:sp>
      <p:sp>
        <p:nvSpPr>
          <p:cNvPr id="15381" name="Rounded Rectangle 15380"/>
          <p:cNvSpPr/>
          <p:nvPr/>
        </p:nvSpPr>
        <p:spPr>
          <a:xfrm>
            <a:off x="8236458" y="4919472"/>
            <a:ext cx="512064" cy="566928"/>
          </a:xfrm>
          <a:prstGeom prst="roundRect">
            <a:avLst>
              <a:gd name="adj" fmla="val 14285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2" name="TextBox 15381"/>
          <p:cNvSpPr txBox="1"/>
          <p:nvPr/>
        </p:nvSpPr>
        <p:spPr>
          <a:xfrm>
            <a:off x="8236458" y="4919472"/>
            <a:ext cx="5120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EGO</a:t>
            </a:r>
          </a:p>
        </p:txBody>
      </p:sp>
      <p:cxnSp>
        <p:nvCxnSpPr>
          <p:cNvPr id="15383" name="Connector 15382"/>
          <p:cNvCxnSpPr/>
          <p:nvPr/>
        </p:nvCxnSpPr>
        <p:spPr>
          <a:xfrm flipV="1">
            <a:off x="8492490" y="4617720"/>
            <a:ext cx="0" cy="283464"/>
          </a:xfrm>
          <a:prstGeom prst="line">
            <a:avLst/>
          </a:prstGeom>
          <a:ln w="25400">
            <a:solidFill>
              <a:srgbClr val="0F9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4" name="Rounded Rectangle 15383"/>
          <p:cNvSpPr/>
          <p:nvPr/>
        </p:nvSpPr>
        <p:spPr>
          <a:xfrm>
            <a:off x="9868662" y="2697480"/>
            <a:ext cx="493776" cy="566928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1524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85" name="Picture 15384" descr="car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0102" y="2798064"/>
            <a:ext cx="310896" cy="310896"/>
          </a:xfrm>
          <a:prstGeom prst="rect">
            <a:avLst/>
          </a:prstGeom>
        </p:spPr>
      </p:pic>
      <p:cxnSp>
        <p:nvCxnSpPr>
          <p:cNvPr id="15386" name="Connector 15385"/>
          <p:cNvCxnSpPr/>
          <p:nvPr/>
        </p:nvCxnSpPr>
        <p:spPr>
          <a:xfrm>
            <a:off x="10115550" y="3291840"/>
            <a:ext cx="0" cy="411480"/>
          </a:xfrm>
          <a:prstGeom prst="line">
            <a:avLst/>
          </a:prstGeom>
          <a:ln w="22225">
            <a:solidFill>
              <a:srgbClr val="1F2A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7" name="Rounded Rectangle 15386"/>
          <p:cNvSpPr/>
          <p:nvPr/>
        </p:nvSpPr>
        <p:spPr>
          <a:xfrm>
            <a:off x="9548622" y="3767328"/>
            <a:ext cx="11338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8" name="TextBox 15387"/>
          <p:cNvSpPr txBox="1"/>
          <p:nvPr/>
        </p:nvSpPr>
        <p:spPr>
          <a:xfrm>
            <a:off x="9548622" y="3767328"/>
            <a:ext cx="11338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Arial"/>
              </a:rPr>
              <a:t>Own side · GO</a:t>
            </a:r>
          </a:p>
        </p:txBody>
      </p:sp>
      <p:sp>
        <p:nvSpPr>
          <p:cNvPr id="15389" name="Oval 15388"/>
          <p:cNvSpPr/>
          <p:nvPr/>
        </p:nvSpPr>
        <p:spPr>
          <a:xfrm>
            <a:off x="7223759" y="4251960"/>
            <a:ext cx="365760" cy="36576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90" name="Picture 15389" descr="walk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768" y="4315968"/>
            <a:ext cx="237744" cy="237744"/>
          </a:xfrm>
          <a:prstGeom prst="rect">
            <a:avLst/>
          </a:prstGeom>
        </p:spPr>
      </p:pic>
      <p:cxnSp>
        <p:nvCxnSpPr>
          <p:cNvPr id="15391" name="Connector 15390"/>
          <p:cNvCxnSpPr/>
          <p:nvPr/>
        </p:nvCxnSpPr>
        <p:spPr>
          <a:xfrm flipV="1">
            <a:off x="7406640" y="3931920"/>
            <a:ext cx="0" cy="301752"/>
          </a:xfrm>
          <a:prstGeom prst="line">
            <a:avLst/>
          </a:prstGeom>
          <a:ln w="19050">
            <a:solidFill>
              <a:srgbClr val="1F2A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2" name="Rounded Rectangle 15391"/>
          <p:cNvSpPr/>
          <p:nvPr/>
        </p:nvSpPr>
        <p:spPr>
          <a:xfrm>
            <a:off x="7114032" y="468172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3" name="TextBox 15392"/>
          <p:cNvSpPr txBox="1"/>
          <p:nvPr/>
        </p:nvSpPr>
        <p:spPr>
          <a:xfrm>
            <a:off x="7114032" y="46817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Arial"/>
              </a:rPr>
              <a:t>Footpath · GO</a:t>
            </a:r>
          </a:p>
        </p:txBody>
      </p:sp>
      <p:sp>
        <p:nvSpPr>
          <p:cNvPr id="15394" name="Oval 15393"/>
          <p:cNvSpPr/>
          <p:nvPr/>
        </p:nvSpPr>
        <p:spPr>
          <a:xfrm>
            <a:off x="9258300" y="288036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95" name="Picture 15394" descr="walk_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2308" y="2944368"/>
            <a:ext cx="237744" cy="237744"/>
          </a:xfrm>
          <a:prstGeom prst="rect">
            <a:avLst/>
          </a:prstGeom>
        </p:spPr>
      </p:pic>
      <p:cxnSp>
        <p:nvCxnSpPr>
          <p:cNvPr id="15396" name="Connector 15395"/>
          <p:cNvCxnSpPr/>
          <p:nvPr/>
        </p:nvCxnSpPr>
        <p:spPr>
          <a:xfrm flipH="1">
            <a:off x="8583930" y="3063240"/>
            <a:ext cx="656082" cy="0"/>
          </a:xfrm>
          <a:prstGeom prst="line">
            <a:avLst/>
          </a:prstGeom>
          <a:ln w="2540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7" name="Rounded Rectangle 15396"/>
          <p:cNvSpPr/>
          <p:nvPr/>
        </p:nvSpPr>
        <p:spPr>
          <a:xfrm>
            <a:off x="8081010" y="3337560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8" name="TextBox 15397"/>
          <p:cNvSpPr txBox="1"/>
          <p:nvPr/>
        </p:nvSpPr>
        <p:spPr>
          <a:xfrm>
            <a:off x="8081010" y="3337560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DC2626"/>
                </a:solidFill>
                <a:latin typeface="Arial"/>
              </a:rPr>
              <a:t>Crossing in · BRAKE</a:t>
            </a:r>
          </a:p>
        </p:txBody>
      </p:sp>
      <p:sp>
        <p:nvSpPr>
          <p:cNvPr id="15399" name="Oval 15398"/>
          <p:cNvSpPr/>
          <p:nvPr/>
        </p:nvSpPr>
        <p:spPr>
          <a:xfrm>
            <a:off x="9304020" y="43434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00" name="Picture 15399" descr="moto_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8884" y="4407408"/>
            <a:ext cx="256032" cy="256032"/>
          </a:xfrm>
          <a:prstGeom prst="rect">
            <a:avLst/>
          </a:prstGeom>
        </p:spPr>
      </p:pic>
      <p:cxnSp>
        <p:nvCxnSpPr>
          <p:cNvPr id="15401" name="Connector 15400"/>
          <p:cNvCxnSpPr/>
          <p:nvPr/>
        </p:nvCxnSpPr>
        <p:spPr>
          <a:xfrm flipH="1" flipV="1">
            <a:off x="9029700" y="4142232"/>
            <a:ext cx="292608" cy="274320"/>
          </a:xfrm>
          <a:prstGeom prst="line">
            <a:avLst/>
          </a:prstGeom>
          <a:ln w="22225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02" name="Rounded Rectangle 15401"/>
          <p:cNvSpPr/>
          <p:nvPr/>
        </p:nvSpPr>
        <p:spPr>
          <a:xfrm>
            <a:off x="9715500" y="4398264"/>
            <a:ext cx="129844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3" name="TextBox 15402"/>
          <p:cNvSpPr txBox="1"/>
          <p:nvPr/>
        </p:nvSpPr>
        <p:spPr>
          <a:xfrm>
            <a:off x="9715500" y="4398264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D97706"/>
                </a:solidFill>
                <a:latin typeface="Arial"/>
              </a:rPr>
              <a:t>Drifting in · SLOW</a:t>
            </a:r>
          </a:p>
        </p:txBody>
      </p:sp>
      <p:sp>
        <p:nvSpPr>
          <p:cNvPr id="15404" name="TextBox 15403"/>
          <p:cNvSpPr txBox="1"/>
          <p:nvPr/>
        </p:nvSpPr>
        <p:spPr>
          <a:xfrm>
            <a:off x="6995160" y="5687568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778"/>
                </a:solidFill>
                <a:latin typeface="Arial"/>
              </a:rPr>
              <a:t>India drives on the left: oncoming traffic is expected on the right. Only a predicted conflict with the ego corridor changes the decision.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65760" y="1225296"/>
            <a:ext cx="54864" cy="2194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493776" y="1188720"/>
            <a:ext cx="113019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A44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65760" y="1572768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6778"/>
                </a:solidFill>
                <a:latin typeface="Arial"/>
              </a:rPr>
              <a:t>Languages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65760" y="1810512"/>
            <a:ext cx="1490472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1810512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Python 3.10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65760" y="2139696"/>
            <a:ext cx="1490472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457200" y="2139696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JavaScript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2039112" y="1572768"/>
            <a:ext cx="2514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6778"/>
                </a:solidFill>
                <a:latin typeface="Arial"/>
              </a:rPr>
              <a:t>AI models (pretrained, open)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2039112" y="1810512"/>
            <a:ext cx="2404872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2130552" y="1810512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YOLOv8n + ByteTrack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2039112" y="2139696"/>
            <a:ext cx="2404872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2130552" y="213969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Depth-Anything-V2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2039112" y="2468879"/>
            <a:ext cx="2404872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2130552" y="246887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CLIP ViT-B/32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626864" y="1572768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6778"/>
                </a:solidFill>
                <a:latin typeface="Arial"/>
              </a:rPr>
              <a:t>Frameworks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4626864" y="1810512"/>
            <a:ext cx="2039112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4718304" y="1810512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PyTorch (CUDA)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626864" y="2139696"/>
            <a:ext cx="2039112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4718304" y="2139696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OpenCV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4626864" y="2468879"/>
            <a:ext cx="2039112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TextBox 17429"/>
          <p:cNvSpPr txBox="1"/>
          <p:nvPr/>
        </p:nvSpPr>
        <p:spPr>
          <a:xfrm>
            <a:off x="4718304" y="2468879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Flask web app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6848856" y="1572768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6778"/>
                </a:solidFill>
                <a:latin typeface="Arial"/>
              </a:rPr>
              <a:t>Hardware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6848856" y="1810512"/>
            <a:ext cx="2130552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6940296" y="1810512"/>
            <a:ext cx="19933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1 front camera / phone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6848856" y="2139696"/>
            <a:ext cx="2130552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TextBox 17434"/>
          <p:cNvSpPr txBox="1"/>
          <p:nvPr/>
        </p:nvSpPr>
        <p:spPr>
          <a:xfrm>
            <a:off x="6940296" y="2139696"/>
            <a:ext cx="19933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Laptop GPU (RTX 3050)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9162288" y="1572768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6778"/>
                </a:solidFill>
                <a:latin typeface="Arial"/>
              </a:rPr>
              <a:t>Next (PS-recommended)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9162288" y="1810512"/>
            <a:ext cx="2724912" cy="274320"/>
          </a:xfrm>
          <a:prstGeom prst="roundRect">
            <a:avLst>
              <a:gd name="adj" fmla="val 26666"/>
            </a:avLst>
          </a:prstGeom>
          <a:solidFill>
            <a:srgbClr val="FFF7EB"/>
          </a:solidFill>
          <a:ln w="9525">
            <a:solidFill>
              <a:srgbClr val="F3D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TextBox 17437"/>
          <p:cNvSpPr txBox="1"/>
          <p:nvPr/>
        </p:nvSpPr>
        <p:spPr>
          <a:xfrm>
            <a:off x="9253728" y="1810512"/>
            <a:ext cx="25877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MATLAB / Simulink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9162288" y="2139696"/>
            <a:ext cx="2724912" cy="274320"/>
          </a:xfrm>
          <a:prstGeom prst="roundRect">
            <a:avLst>
              <a:gd name="adj" fmla="val 26666"/>
            </a:avLst>
          </a:prstGeom>
          <a:solidFill>
            <a:srgbClr val="FFF7EB"/>
          </a:solidFill>
          <a:ln w="9525">
            <a:solidFill>
              <a:srgbClr val="F3D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TextBox 17439"/>
          <p:cNvSpPr txBox="1"/>
          <p:nvPr/>
        </p:nvSpPr>
        <p:spPr>
          <a:xfrm>
            <a:off x="9253728" y="2139696"/>
            <a:ext cx="25877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RoadRunner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9162288" y="2468879"/>
            <a:ext cx="2724912" cy="274320"/>
          </a:xfrm>
          <a:prstGeom prst="roundRect">
            <a:avLst>
              <a:gd name="adj" fmla="val 26666"/>
            </a:avLst>
          </a:prstGeom>
          <a:solidFill>
            <a:srgbClr val="FFF7EB"/>
          </a:solidFill>
          <a:ln w="9525">
            <a:solidFill>
              <a:srgbClr val="F3D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TextBox 17441"/>
          <p:cNvSpPr txBox="1"/>
          <p:nvPr/>
        </p:nvSpPr>
        <p:spPr>
          <a:xfrm>
            <a:off x="9253728" y="2468879"/>
            <a:ext cx="25877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Automated Driving Toolbox</a:t>
            </a:r>
          </a:p>
        </p:txBody>
      </p:sp>
      <p:sp>
        <p:nvSpPr>
          <p:cNvPr id="17443" name="Rectangle 17442"/>
          <p:cNvSpPr/>
          <p:nvPr/>
        </p:nvSpPr>
        <p:spPr>
          <a:xfrm>
            <a:off x="365760" y="2944368"/>
            <a:ext cx="54864" cy="2194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TextBox 17443"/>
          <p:cNvSpPr txBox="1"/>
          <p:nvPr/>
        </p:nvSpPr>
        <p:spPr>
          <a:xfrm>
            <a:off x="493776" y="2907792"/>
            <a:ext cx="113019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A44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365760" y="3310128"/>
            <a:ext cx="1481328" cy="1078992"/>
          </a:xfrm>
          <a:prstGeom prst="roundRect">
            <a:avLst>
              <a:gd name="adj" fmla="val 8474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6" name="Picture 17445" descr="camera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" y="3438144"/>
            <a:ext cx="310896" cy="310896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868680" y="3447288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Camera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493776" y="3840480"/>
            <a:ext cx="12618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778"/>
                </a:solidFill>
                <a:latin typeface="Arial"/>
              </a:rPr>
              <a:t>dashcam · phone</a:t>
            </a:r>
          </a:p>
        </p:txBody>
      </p:sp>
      <p:cxnSp>
        <p:nvCxnSpPr>
          <p:cNvPr id="17449" name="Connector 17448"/>
          <p:cNvCxnSpPr/>
          <p:nvPr/>
        </p:nvCxnSpPr>
        <p:spPr>
          <a:xfrm>
            <a:off x="1856231" y="3849624"/>
            <a:ext cx="164593" cy="0"/>
          </a:xfrm>
          <a:prstGeom prst="line">
            <a:avLst/>
          </a:prstGeom>
          <a:ln w="1905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0" name="Rounded Rectangle 17449"/>
          <p:cNvSpPr/>
          <p:nvPr/>
        </p:nvSpPr>
        <p:spPr>
          <a:xfrm>
            <a:off x="2029968" y="3310128"/>
            <a:ext cx="1481328" cy="1078992"/>
          </a:xfrm>
          <a:prstGeom prst="roundRect">
            <a:avLst>
              <a:gd name="adj" fmla="val 8474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1" name="Picture 17450" descr="visibility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7984" y="3438144"/>
            <a:ext cx="310896" cy="310896"/>
          </a:xfrm>
          <a:prstGeom prst="rect">
            <a:avLst/>
          </a:prstGeom>
        </p:spPr>
      </p:pic>
      <p:sp>
        <p:nvSpPr>
          <p:cNvPr id="17452" name="TextBox 17451"/>
          <p:cNvSpPr txBox="1"/>
          <p:nvPr/>
        </p:nvSpPr>
        <p:spPr>
          <a:xfrm>
            <a:off x="2532888" y="3447288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Perceive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2157984" y="3840480"/>
            <a:ext cx="12618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778"/>
                </a:solidFill>
                <a:latin typeface="Arial"/>
              </a:rPr>
              <a:t>detect · track · auto-rickshaw</a:t>
            </a:r>
          </a:p>
        </p:txBody>
      </p:sp>
      <p:cxnSp>
        <p:nvCxnSpPr>
          <p:cNvPr id="17454" name="Connector 17453"/>
          <p:cNvCxnSpPr/>
          <p:nvPr/>
        </p:nvCxnSpPr>
        <p:spPr>
          <a:xfrm>
            <a:off x="3520440" y="3849624"/>
            <a:ext cx="164592" cy="0"/>
          </a:xfrm>
          <a:prstGeom prst="line">
            <a:avLst/>
          </a:prstGeom>
          <a:ln w="1905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5" name="Rounded Rectangle 17454"/>
          <p:cNvSpPr/>
          <p:nvPr/>
        </p:nvSpPr>
        <p:spPr>
          <a:xfrm>
            <a:off x="3694176" y="3310128"/>
            <a:ext cx="1481328" cy="1078992"/>
          </a:xfrm>
          <a:prstGeom prst="roundRect">
            <a:avLst>
              <a:gd name="adj" fmla="val 8474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6" name="Picture 17455" descr="layers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2191" y="3438144"/>
            <a:ext cx="310896" cy="310896"/>
          </a:xfrm>
          <a:prstGeom prst="rect">
            <a:avLst/>
          </a:prstGeom>
        </p:spPr>
      </p:pic>
      <p:sp>
        <p:nvSpPr>
          <p:cNvPr id="17457" name="TextBox 17456"/>
          <p:cNvSpPr txBox="1"/>
          <p:nvPr/>
        </p:nvSpPr>
        <p:spPr>
          <a:xfrm>
            <a:off x="4197096" y="3447288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Measure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3822191" y="3840480"/>
            <a:ext cx="12618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778"/>
                </a:solidFill>
                <a:latin typeface="Arial"/>
              </a:rPr>
              <a:t>road-plane depth · TTC · ego speed</a:t>
            </a:r>
          </a:p>
        </p:txBody>
      </p:sp>
      <p:cxnSp>
        <p:nvCxnSpPr>
          <p:cNvPr id="17459" name="Connector 17458"/>
          <p:cNvCxnSpPr/>
          <p:nvPr/>
        </p:nvCxnSpPr>
        <p:spPr>
          <a:xfrm>
            <a:off x="5184648" y="3849624"/>
            <a:ext cx="164592" cy="0"/>
          </a:xfrm>
          <a:prstGeom prst="line">
            <a:avLst/>
          </a:prstGeom>
          <a:ln w="1905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0" name="Rounded Rectangle 17459"/>
          <p:cNvSpPr/>
          <p:nvPr/>
        </p:nvSpPr>
        <p:spPr>
          <a:xfrm>
            <a:off x="5358384" y="3310128"/>
            <a:ext cx="1481328" cy="1078992"/>
          </a:xfrm>
          <a:prstGeom prst="roundRect">
            <a:avLst>
              <a:gd name="adj" fmla="val 8474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1" name="Picture 17460" descr="map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0" y="3438144"/>
            <a:ext cx="310896" cy="310896"/>
          </a:xfrm>
          <a:prstGeom prst="rect">
            <a:avLst/>
          </a:prstGeom>
        </p:spPr>
      </p:pic>
      <p:sp>
        <p:nvSpPr>
          <p:cNvPr id="17462" name="TextBox 17461"/>
          <p:cNvSpPr txBox="1"/>
          <p:nvPr/>
        </p:nvSpPr>
        <p:spPr>
          <a:xfrm>
            <a:off x="5861304" y="3447288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Map</a:t>
            </a:r>
          </a:p>
        </p:txBody>
      </p:sp>
      <p:sp>
        <p:nvSpPr>
          <p:cNvPr id="17463" name="TextBox 17462"/>
          <p:cNvSpPr txBox="1"/>
          <p:nvPr/>
        </p:nvSpPr>
        <p:spPr>
          <a:xfrm>
            <a:off x="5486400" y="3840480"/>
            <a:ext cx="12618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778"/>
                </a:solidFill>
                <a:latin typeface="Arial"/>
              </a:rPr>
              <a:t>bird’s-eye risk grid</a:t>
            </a:r>
          </a:p>
        </p:txBody>
      </p:sp>
      <p:cxnSp>
        <p:nvCxnSpPr>
          <p:cNvPr id="17464" name="Connector 17463"/>
          <p:cNvCxnSpPr/>
          <p:nvPr/>
        </p:nvCxnSpPr>
        <p:spPr>
          <a:xfrm>
            <a:off x="6848856" y="3849624"/>
            <a:ext cx="164592" cy="0"/>
          </a:xfrm>
          <a:prstGeom prst="line">
            <a:avLst/>
          </a:prstGeom>
          <a:ln w="1905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5" name="Rounded Rectangle 17464"/>
          <p:cNvSpPr/>
          <p:nvPr/>
        </p:nvSpPr>
        <p:spPr>
          <a:xfrm>
            <a:off x="7022592" y="3310128"/>
            <a:ext cx="1481328" cy="1078992"/>
          </a:xfrm>
          <a:prstGeom prst="roundRect">
            <a:avLst>
              <a:gd name="adj" fmla="val 8474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6" name="Picture 17465" descr="brain_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50608" y="3438144"/>
            <a:ext cx="310896" cy="310896"/>
          </a:xfrm>
          <a:prstGeom prst="rect">
            <a:avLst/>
          </a:prstGeom>
        </p:spPr>
      </p:pic>
      <p:sp>
        <p:nvSpPr>
          <p:cNvPr id="17467" name="TextBox 17466"/>
          <p:cNvSpPr txBox="1"/>
          <p:nvPr/>
        </p:nvSpPr>
        <p:spPr>
          <a:xfrm>
            <a:off x="7525512" y="3447288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Predict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7150608" y="3840480"/>
            <a:ext cx="12618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778"/>
                </a:solidFill>
                <a:latin typeface="Arial"/>
              </a:rPr>
              <a:t>motion cues · path threat</a:t>
            </a:r>
          </a:p>
        </p:txBody>
      </p:sp>
      <p:cxnSp>
        <p:nvCxnSpPr>
          <p:cNvPr id="17469" name="Connector 17468"/>
          <p:cNvCxnSpPr/>
          <p:nvPr/>
        </p:nvCxnSpPr>
        <p:spPr>
          <a:xfrm>
            <a:off x="8513064" y="3849624"/>
            <a:ext cx="164592" cy="0"/>
          </a:xfrm>
          <a:prstGeom prst="line">
            <a:avLst/>
          </a:prstGeom>
          <a:ln w="1905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0" name="Rounded Rectangle 17469"/>
          <p:cNvSpPr/>
          <p:nvPr/>
        </p:nvSpPr>
        <p:spPr>
          <a:xfrm>
            <a:off x="8686800" y="3310128"/>
            <a:ext cx="1481328" cy="1078992"/>
          </a:xfrm>
          <a:prstGeom prst="roundRect">
            <a:avLst>
              <a:gd name="adj" fmla="val 8474"/>
            </a:avLst>
          </a:prstGeom>
          <a:solidFill>
            <a:srgbClr val="E3F4F1"/>
          </a:solidFill>
          <a:ln w="12700">
            <a:solidFill>
              <a:srgbClr val="0F9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1" name="Picture 17470" descr="route_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14816" y="3438144"/>
            <a:ext cx="310896" cy="310896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9189720" y="3447288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Plan</a:t>
            </a:r>
          </a:p>
        </p:txBody>
      </p:sp>
      <p:sp>
        <p:nvSpPr>
          <p:cNvPr id="17473" name="TextBox 17472"/>
          <p:cNvSpPr txBox="1"/>
          <p:nvPr/>
        </p:nvSpPr>
        <p:spPr>
          <a:xfrm>
            <a:off x="8814816" y="3840480"/>
            <a:ext cx="12618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778"/>
                </a:solidFill>
                <a:latin typeface="Arial"/>
              </a:rPr>
              <a:t>17 candidate arcs</a:t>
            </a:r>
          </a:p>
        </p:txBody>
      </p:sp>
      <p:cxnSp>
        <p:nvCxnSpPr>
          <p:cNvPr id="17474" name="Connector 17473"/>
          <p:cNvCxnSpPr/>
          <p:nvPr/>
        </p:nvCxnSpPr>
        <p:spPr>
          <a:xfrm>
            <a:off x="10177272" y="3849624"/>
            <a:ext cx="164592" cy="0"/>
          </a:xfrm>
          <a:prstGeom prst="line">
            <a:avLst/>
          </a:prstGeom>
          <a:ln w="1905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5" name="Rounded Rectangle 17474"/>
          <p:cNvSpPr/>
          <p:nvPr/>
        </p:nvSpPr>
        <p:spPr>
          <a:xfrm>
            <a:off x="10351008" y="3310128"/>
            <a:ext cx="1481328" cy="1078992"/>
          </a:xfrm>
          <a:prstGeom prst="roundRect">
            <a:avLst>
              <a:gd name="adj" fmla="val 8474"/>
            </a:avLst>
          </a:prstGeom>
          <a:solidFill>
            <a:srgbClr val="E3F4F1"/>
          </a:solidFill>
          <a:ln w="12700">
            <a:solidFill>
              <a:srgbClr val="0F9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6" name="Picture 17475" descr="shield_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79024" y="3438144"/>
            <a:ext cx="310896" cy="310896"/>
          </a:xfrm>
          <a:prstGeom prst="rect">
            <a:avLst/>
          </a:prstGeom>
        </p:spPr>
      </p:pic>
      <p:sp>
        <p:nvSpPr>
          <p:cNvPr id="17477" name="TextBox 17476"/>
          <p:cNvSpPr txBox="1"/>
          <p:nvPr/>
        </p:nvSpPr>
        <p:spPr>
          <a:xfrm>
            <a:off x="10853928" y="3447288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Decide</a:t>
            </a:r>
          </a:p>
        </p:txBody>
      </p:sp>
      <p:sp>
        <p:nvSpPr>
          <p:cNvPr id="17478" name="TextBox 17477"/>
          <p:cNvSpPr txBox="1"/>
          <p:nvPr/>
        </p:nvSpPr>
        <p:spPr>
          <a:xfrm>
            <a:off x="10479024" y="3840480"/>
            <a:ext cx="12618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778"/>
                </a:solidFill>
                <a:latin typeface="Arial"/>
              </a:rPr>
              <a:t>GO · SLOW · BRAKE</a:t>
            </a:r>
          </a:p>
        </p:txBody>
      </p:sp>
      <p:cxnSp>
        <p:nvCxnSpPr>
          <p:cNvPr id="17479" name="Connector 17478"/>
          <p:cNvCxnSpPr/>
          <p:nvPr/>
        </p:nvCxnSpPr>
        <p:spPr>
          <a:xfrm>
            <a:off x="11091672" y="4398264"/>
            <a:ext cx="0" cy="118872"/>
          </a:xfrm>
          <a:prstGeom prst="line">
            <a:avLst/>
          </a:prstGeom>
          <a:ln w="19050">
            <a:solidFill>
              <a:srgbClr val="0F9E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0" name="Connector 17479"/>
          <p:cNvCxnSpPr/>
          <p:nvPr/>
        </p:nvCxnSpPr>
        <p:spPr>
          <a:xfrm flipH="1">
            <a:off x="1097280" y="4517136"/>
            <a:ext cx="9994392" cy="0"/>
          </a:xfrm>
          <a:prstGeom prst="line">
            <a:avLst/>
          </a:prstGeom>
          <a:ln w="19050">
            <a:solidFill>
              <a:srgbClr val="0F9E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1" name="Connector 17480"/>
          <p:cNvCxnSpPr/>
          <p:nvPr/>
        </p:nvCxnSpPr>
        <p:spPr>
          <a:xfrm flipV="1">
            <a:off x="1097280" y="4407408"/>
            <a:ext cx="0" cy="109728"/>
          </a:xfrm>
          <a:prstGeom prst="line">
            <a:avLst/>
          </a:prstGeom>
          <a:ln w="19050">
            <a:solidFill>
              <a:srgbClr val="0F9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2" name="TextBox 17481"/>
          <p:cNvSpPr txBox="1"/>
          <p:nvPr/>
        </p:nvSpPr>
        <p:spPr>
          <a:xfrm>
            <a:off x="4082796" y="4544568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F9E8E"/>
                </a:solidFill>
                <a:latin typeface="Arial"/>
              </a:rPr>
              <a:t>re-planned every frame (closed decision loop)</a:t>
            </a:r>
          </a:p>
        </p:txBody>
      </p:sp>
      <p:sp>
        <p:nvSpPr>
          <p:cNvPr id="17483" name="Rounded Rectangle 17482"/>
          <p:cNvSpPr/>
          <p:nvPr/>
        </p:nvSpPr>
        <p:spPr>
          <a:xfrm>
            <a:off x="365760" y="4754880"/>
            <a:ext cx="11430000" cy="1417320"/>
          </a:xfrm>
          <a:prstGeom prst="roundRect">
            <a:avLst>
              <a:gd name="adj" fmla="val 7741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4" name="TextBox 17483"/>
          <p:cNvSpPr txBox="1"/>
          <p:nvPr/>
        </p:nvSpPr>
        <p:spPr>
          <a:xfrm>
            <a:off x="566928" y="484632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2A44"/>
                </a:solidFill>
                <a:latin typeface="Arial"/>
              </a:rPr>
              <a:t>Working prototype — measured</a:t>
            </a:r>
          </a:p>
        </p:txBody>
      </p:sp>
      <p:sp>
        <p:nvSpPr>
          <p:cNvPr id="17485" name="TextBox 17484"/>
          <p:cNvSpPr txBox="1"/>
          <p:nvPr/>
        </p:nvSpPr>
        <p:spPr>
          <a:xfrm>
            <a:off x="566928" y="5138928"/>
            <a:ext cx="2075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75/75</a:t>
            </a:r>
          </a:p>
        </p:txBody>
      </p:sp>
      <p:sp>
        <p:nvSpPr>
          <p:cNvPr id="17486" name="TextBox 17485"/>
          <p:cNvSpPr txBox="1"/>
          <p:nvPr/>
        </p:nvSpPr>
        <p:spPr>
          <a:xfrm>
            <a:off x="566928" y="5605272"/>
            <a:ext cx="20299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safety regression scenarios pass</a:t>
            </a:r>
          </a:p>
        </p:txBody>
      </p:sp>
      <p:sp>
        <p:nvSpPr>
          <p:cNvPr id="17487" name="TextBox 17486"/>
          <p:cNvSpPr txBox="1"/>
          <p:nvPr/>
        </p:nvSpPr>
        <p:spPr>
          <a:xfrm>
            <a:off x="2779776" y="5138928"/>
            <a:ext cx="2075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8.6–9.0</a:t>
            </a:r>
          </a:p>
        </p:txBody>
      </p:sp>
      <p:sp>
        <p:nvSpPr>
          <p:cNvPr id="17488" name="TextBox 17487"/>
          <p:cNvSpPr txBox="1"/>
          <p:nvPr/>
        </p:nvSpPr>
        <p:spPr>
          <a:xfrm>
            <a:off x="2779776" y="5605272"/>
            <a:ext cx="20299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FPS offline, 720p, laptop GPU</a:t>
            </a:r>
          </a:p>
        </p:txBody>
      </p:sp>
      <p:sp>
        <p:nvSpPr>
          <p:cNvPr id="17489" name="TextBox 17488"/>
          <p:cNvSpPr txBox="1"/>
          <p:nvPr/>
        </p:nvSpPr>
        <p:spPr>
          <a:xfrm>
            <a:off x="4992624" y="5138928"/>
            <a:ext cx="2075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11.1 FPS · 73 ms</a:t>
            </a:r>
          </a:p>
        </p:txBody>
      </p:sp>
      <p:sp>
        <p:nvSpPr>
          <p:cNvPr id="17490" name="TextBox 17489"/>
          <p:cNvSpPr txBox="1"/>
          <p:nvPr/>
        </p:nvSpPr>
        <p:spPr>
          <a:xfrm>
            <a:off x="4992624" y="5605272"/>
            <a:ext cx="20299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live phone→PC mode (same-PC benchmark)</a:t>
            </a:r>
          </a:p>
        </p:txBody>
      </p:sp>
      <p:sp>
        <p:nvSpPr>
          <p:cNvPr id="17491" name="TextBox 17490"/>
          <p:cNvSpPr txBox="1"/>
          <p:nvPr/>
        </p:nvSpPr>
        <p:spPr>
          <a:xfrm>
            <a:off x="7205472" y="5138928"/>
            <a:ext cx="2075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2.4–2.6 ms</a:t>
            </a:r>
          </a:p>
        </p:txBody>
      </p:sp>
      <p:sp>
        <p:nvSpPr>
          <p:cNvPr id="17492" name="TextBox 17491"/>
          <p:cNvSpPr txBox="1"/>
          <p:nvPr/>
        </p:nvSpPr>
        <p:spPr>
          <a:xfrm>
            <a:off x="7205472" y="5605272"/>
            <a:ext cx="20299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re-planning time per frame</a:t>
            </a:r>
          </a:p>
        </p:txBody>
      </p:sp>
      <p:sp>
        <p:nvSpPr>
          <p:cNvPr id="17493" name="TextBox 17492"/>
          <p:cNvSpPr txBox="1"/>
          <p:nvPr/>
        </p:nvSpPr>
        <p:spPr>
          <a:xfrm>
            <a:off x="9418319" y="5138928"/>
            <a:ext cx="2075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6</a:t>
            </a:r>
          </a:p>
        </p:txBody>
      </p:sp>
      <p:sp>
        <p:nvSpPr>
          <p:cNvPr id="17494" name="TextBox 17493"/>
          <p:cNvSpPr txBox="1"/>
          <p:nvPr/>
        </p:nvSpPr>
        <p:spPr>
          <a:xfrm>
            <a:off x="9418319" y="5605272"/>
            <a:ext cx="20299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real drives validated (CC-licensed)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65760" y="1225296"/>
            <a:ext cx="54864" cy="2194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493776" y="1188720"/>
            <a:ext cx="113019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A44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1572768"/>
            <a:ext cx="3657600" cy="932688"/>
          </a:xfrm>
          <a:prstGeom prst="roundRect">
            <a:avLst>
              <a:gd name="adj" fmla="val 9803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Oval 17412"/>
          <p:cNvSpPr/>
          <p:nvPr/>
        </p:nvSpPr>
        <p:spPr>
          <a:xfrm>
            <a:off x="530352" y="1719072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4" name="Picture 17413" descr="check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801368"/>
            <a:ext cx="292608" cy="292608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1115568" y="1682496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Technically proven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115568" y="1947672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End-to-end prototype runs today: video or phone camera in, explained decision out.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206240" y="1572768"/>
            <a:ext cx="3657600" cy="932688"/>
          </a:xfrm>
          <a:prstGeom prst="roundRect">
            <a:avLst>
              <a:gd name="adj" fmla="val 9803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Oval 17417"/>
          <p:cNvSpPr/>
          <p:nvPr/>
        </p:nvSpPr>
        <p:spPr>
          <a:xfrm>
            <a:off x="4370832" y="1719072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9" name="Picture 17418" descr="speed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3128" y="1801368"/>
            <a:ext cx="292608" cy="292608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4956048" y="1682496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Low cost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956048" y="1947672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One camera and a commodity GPU; open pretrained models — no custom training needed.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8046720" y="1572768"/>
            <a:ext cx="3657600" cy="932688"/>
          </a:xfrm>
          <a:prstGeom prst="roundRect">
            <a:avLst>
              <a:gd name="adj" fmla="val 9803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Oval 17422"/>
          <p:cNvSpPr/>
          <p:nvPr/>
        </p:nvSpPr>
        <p:spPr>
          <a:xfrm>
            <a:off x="8211312" y="1719072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4" name="Picture 17423" descr="layers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608" y="1801368"/>
            <a:ext cx="292608" cy="292608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8796528" y="1682496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Modular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8796528" y="1947672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Each stage (detect, depth, plan, decide) is swappable — ready for sensor fusion or MATLAB.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365760" y="2734056"/>
            <a:ext cx="54864" cy="2194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493776" y="2697480"/>
            <a:ext cx="54498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A44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29" name="Rectangle 17428"/>
          <p:cNvSpPr/>
          <p:nvPr/>
        </p:nvSpPr>
        <p:spPr>
          <a:xfrm>
            <a:off x="6172200" y="2734056"/>
            <a:ext cx="54864" cy="2194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TextBox 17429"/>
          <p:cNvSpPr txBox="1"/>
          <p:nvPr/>
        </p:nvSpPr>
        <p:spPr>
          <a:xfrm>
            <a:off x="6300216" y="2697480"/>
            <a:ext cx="54498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A44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365760" y="3044952"/>
            <a:ext cx="11430000" cy="36576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Oval 17431"/>
          <p:cNvSpPr/>
          <p:nvPr/>
        </p:nvSpPr>
        <p:spPr>
          <a:xfrm>
            <a:off x="475488" y="3182112"/>
            <a:ext cx="91440" cy="9144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685800" y="30449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43044"/>
                </a:solidFill>
                <a:latin typeface="Arial"/>
              </a:rPr>
              <a:t>Monocular depth is an estimate, not a measurement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5760720" y="3227832"/>
            <a:ext cx="292608" cy="0"/>
          </a:xfrm>
          <a:prstGeom prst="line">
            <a:avLst/>
          </a:prstGeom>
          <a:ln w="15875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Oval 17434"/>
          <p:cNvSpPr/>
          <p:nvPr/>
        </p:nvSpPr>
        <p:spPr>
          <a:xfrm>
            <a:off x="6217920" y="3182112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TextBox 17435"/>
          <p:cNvSpPr txBox="1"/>
          <p:nvPr/>
        </p:nvSpPr>
        <p:spPr>
          <a:xfrm>
            <a:off x="6428232" y="304495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43044"/>
                </a:solidFill>
                <a:latin typeface="Arial"/>
              </a:rPr>
              <a:t>Road-plane calibration today; radar/LiDAR fusion next</a:t>
            </a:r>
          </a:p>
        </p:txBody>
      </p:sp>
      <p:sp>
        <p:nvSpPr>
          <p:cNvPr id="17437" name="Oval 17436"/>
          <p:cNvSpPr/>
          <p:nvPr/>
        </p:nvSpPr>
        <p:spPr>
          <a:xfrm>
            <a:off x="475488" y="3547872"/>
            <a:ext cx="91440" cy="9144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TextBox 17437"/>
          <p:cNvSpPr txBox="1"/>
          <p:nvPr/>
        </p:nvSpPr>
        <p:spPr>
          <a:xfrm>
            <a:off x="685800" y="341071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43044"/>
                </a:solidFill>
                <a:latin typeface="Arial"/>
              </a:rPr>
              <a:t>Not yet real time on a laptop GPU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5760720" y="3593592"/>
            <a:ext cx="292608" cy="0"/>
          </a:xfrm>
          <a:prstGeom prst="line">
            <a:avLst/>
          </a:prstGeom>
          <a:ln w="15875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Oval 17439"/>
          <p:cNvSpPr/>
          <p:nvPr/>
        </p:nvSpPr>
        <p:spPr>
          <a:xfrm>
            <a:off x="6217920" y="3547872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6428232" y="341071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43044"/>
                </a:solidFill>
                <a:latin typeface="Arial"/>
              </a:rPr>
              <a:t>Model export (ONNX/TensorRT), lower input size, embedded GPU</a:t>
            </a:r>
          </a:p>
        </p:txBody>
      </p:sp>
      <p:sp>
        <p:nvSpPr>
          <p:cNvPr id="17442" name="Rectangle 17441"/>
          <p:cNvSpPr/>
          <p:nvPr/>
        </p:nvSpPr>
        <p:spPr>
          <a:xfrm>
            <a:off x="365760" y="3776472"/>
            <a:ext cx="11430000" cy="36576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Oval 17442"/>
          <p:cNvSpPr/>
          <p:nvPr/>
        </p:nvSpPr>
        <p:spPr>
          <a:xfrm>
            <a:off x="475488" y="3913632"/>
            <a:ext cx="91440" cy="9144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TextBox 17443"/>
          <p:cNvSpPr txBox="1"/>
          <p:nvPr/>
        </p:nvSpPr>
        <p:spPr>
          <a:xfrm>
            <a:off x="685800" y="377647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43044"/>
                </a:solidFill>
                <a:latin typeface="Arial"/>
              </a:rPr>
              <a:t>Unusual road users (pushcarts, animals)</a:t>
            </a:r>
          </a:p>
        </p:txBody>
      </p:sp>
      <p:cxnSp>
        <p:nvCxnSpPr>
          <p:cNvPr id="17445" name="Connector 17444"/>
          <p:cNvCxnSpPr/>
          <p:nvPr/>
        </p:nvCxnSpPr>
        <p:spPr>
          <a:xfrm>
            <a:off x="5760720" y="3959352"/>
            <a:ext cx="292608" cy="0"/>
          </a:xfrm>
          <a:prstGeom prst="line">
            <a:avLst/>
          </a:prstGeom>
          <a:ln w="15875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6" name="Oval 17445"/>
          <p:cNvSpPr/>
          <p:nvPr/>
        </p:nvSpPr>
        <p:spPr>
          <a:xfrm>
            <a:off x="6217920" y="3913632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7" name="TextBox 17446"/>
          <p:cNvSpPr txBox="1"/>
          <p:nvPr/>
        </p:nvSpPr>
        <p:spPr>
          <a:xfrm>
            <a:off x="6428232" y="377647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43044"/>
                </a:solidFill>
                <a:latin typeface="Arial"/>
              </a:rPr>
              <a:t>Fine-tune on the Indian Driving Dataset (IDD)</a:t>
            </a:r>
          </a:p>
        </p:txBody>
      </p:sp>
      <p:sp>
        <p:nvSpPr>
          <p:cNvPr id="17448" name="Oval 17447"/>
          <p:cNvSpPr/>
          <p:nvPr/>
        </p:nvSpPr>
        <p:spPr>
          <a:xfrm>
            <a:off x="475488" y="4279392"/>
            <a:ext cx="91440" cy="9144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TextBox 17448"/>
          <p:cNvSpPr txBox="1"/>
          <p:nvPr/>
        </p:nvSpPr>
        <p:spPr>
          <a:xfrm>
            <a:off x="685800" y="414223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43044"/>
                </a:solidFill>
                <a:latin typeface="Arial"/>
              </a:rPr>
              <a:t>Over- or under-braking in dense traffic</a:t>
            </a:r>
          </a:p>
        </p:txBody>
      </p:sp>
      <p:cxnSp>
        <p:nvCxnSpPr>
          <p:cNvPr id="17450" name="Connector 17449"/>
          <p:cNvCxnSpPr/>
          <p:nvPr/>
        </p:nvCxnSpPr>
        <p:spPr>
          <a:xfrm>
            <a:off x="5760720" y="4325112"/>
            <a:ext cx="292608" cy="0"/>
          </a:xfrm>
          <a:prstGeom prst="line">
            <a:avLst/>
          </a:prstGeom>
          <a:ln w="15875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1" name="Oval 17450"/>
          <p:cNvSpPr/>
          <p:nvPr/>
        </p:nvSpPr>
        <p:spPr>
          <a:xfrm>
            <a:off x="6217920" y="4279392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2" name="TextBox 17451"/>
          <p:cNvSpPr txBox="1"/>
          <p:nvPr/>
        </p:nvSpPr>
        <p:spPr>
          <a:xfrm>
            <a:off x="6428232" y="414223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43044"/>
                </a:solidFill>
                <a:latin typeface="Arial"/>
              </a:rPr>
              <a:t>Path-threat model + 75-scenario regression suite on every change</a:t>
            </a:r>
          </a:p>
        </p:txBody>
      </p:sp>
      <p:sp>
        <p:nvSpPr>
          <p:cNvPr id="17453" name="Rectangle 17452"/>
          <p:cNvSpPr/>
          <p:nvPr/>
        </p:nvSpPr>
        <p:spPr>
          <a:xfrm>
            <a:off x="365760" y="4507992"/>
            <a:ext cx="11430000" cy="36576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4" name="Oval 17453"/>
          <p:cNvSpPr/>
          <p:nvPr/>
        </p:nvSpPr>
        <p:spPr>
          <a:xfrm>
            <a:off x="475488" y="4645152"/>
            <a:ext cx="91440" cy="9144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5" name="TextBox 17454"/>
          <p:cNvSpPr txBox="1"/>
          <p:nvPr/>
        </p:nvSpPr>
        <p:spPr>
          <a:xfrm>
            <a:off x="685800" y="450799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43044"/>
                </a:solidFill>
                <a:latin typeface="Arial"/>
              </a:rPr>
              <a:t>Validation limited to recorded video</a:t>
            </a:r>
          </a:p>
        </p:txBody>
      </p:sp>
      <p:cxnSp>
        <p:nvCxnSpPr>
          <p:cNvPr id="17456" name="Connector 17455"/>
          <p:cNvCxnSpPr/>
          <p:nvPr/>
        </p:nvCxnSpPr>
        <p:spPr>
          <a:xfrm>
            <a:off x="5760720" y="4690872"/>
            <a:ext cx="292608" cy="0"/>
          </a:xfrm>
          <a:prstGeom prst="line">
            <a:avLst/>
          </a:prstGeom>
          <a:ln w="15875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7" name="Oval 17456"/>
          <p:cNvSpPr/>
          <p:nvPr/>
        </p:nvSpPr>
        <p:spPr>
          <a:xfrm>
            <a:off x="6217920" y="4645152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TextBox 17457"/>
          <p:cNvSpPr txBox="1"/>
          <p:nvPr/>
        </p:nvSpPr>
        <p:spPr>
          <a:xfrm>
            <a:off x="6428232" y="450799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43044"/>
                </a:solidFill>
                <a:latin typeface="Arial"/>
              </a:rPr>
              <a:t>Closed-loop RoadRunner / Simulink scenes for all five PS scenarios</a:t>
            </a:r>
          </a:p>
        </p:txBody>
      </p:sp>
      <p:sp>
        <p:nvSpPr>
          <p:cNvPr id="17459" name="Oval 17458"/>
          <p:cNvSpPr/>
          <p:nvPr/>
        </p:nvSpPr>
        <p:spPr>
          <a:xfrm>
            <a:off x="475488" y="5010912"/>
            <a:ext cx="91440" cy="9144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0" name="TextBox 17459"/>
          <p:cNvSpPr txBox="1"/>
          <p:nvPr/>
        </p:nvSpPr>
        <p:spPr>
          <a:xfrm>
            <a:off x="685800" y="48737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43044"/>
                </a:solidFill>
                <a:latin typeface="Arial"/>
              </a:rPr>
              <a:t>False accident alarms</a:t>
            </a:r>
          </a:p>
        </p:txBody>
      </p:sp>
      <p:cxnSp>
        <p:nvCxnSpPr>
          <p:cNvPr id="17461" name="Connector 17460"/>
          <p:cNvCxnSpPr/>
          <p:nvPr/>
        </p:nvCxnSpPr>
        <p:spPr>
          <a:xfrm>
            <a:off x="5760720" y="5056632"/>
            <a:ext cx="292608" cy="0"/>
          </a:xfrm>
          <a:prstGeom prst="line">
            <a:avLst/>
          </a:prstGeom>
          <a:ln w="15875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2" name="Oval 17461"/>
          <p:cNvSpPr/>
          <p:nvPr/>
        </p:nvSpPr>
        <p:spPr>
          <a:xfrm>
            <a:off x="6217920" y="5010912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3" name="TextBox 17462"/>
          <p:cNvSpPr txBox="1"/>
          <p:nvPr/>
        </p:nvSpPr>
        <p:spPr>
          <a:xfrm>
            <a:off x="6428232" y="487375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43044"/>
                </a:solidFill>
                <a:latin typeface="Arial"/>
              </a:rPr>
              <a:t>Multi-cue confirmation + human confirmation; simulation-only today</a:t>
            </a:r>
          </a:p>
        </p:txBody>
      </p:sp>
      <p:cxnSp>
        <p:nvCxnSpPr>
          <p:cNvPr id="17464" name="Connector 17463"/>
          <p:cNvCxnSpPr/>
          <p:nvPr/>
        </p:nvCxnSpPr>
        <p:spPr>
          <a:xfrm>
            <a:off x="822960" y="5669280"/>
            <a:ext cx="10515600" cy="0"/>
          </a:xfrm>
          <a:prstGeom prst="line">
            <a:avLst/>
          </a:prstGeom>
          <a:ln w="25400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5" name="Oval 17464"/>
          <p:cNvSpPr/>
          <p:nvPr/>
        </p:nvSpPr>
        <p:spPr>
          <a:xfrm>
            <a:off x="722376" y="5568696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6" name="TextBox 17465"/>
          <p:cNvSpPr txBox="1"/>
          <p:nvPr/>
        </p:nvSpPr>
        <p:spPr>
          <a:xfrm>
            <a:off x="713232" y="5815584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44"/>
                </a:solidFill>
                <a:latin typeface="Arial"/>
              </a:rPr>
              <a:t>Prototype</a:t>
            </a:r>
            <a:r>
              <a:rPr sz="1050" b="0" i="0">
                <a:solidFill>
                  <a:srgbClr val="16A34A"/>
                </a:solidFill>
                <a:latin typeface="Arial"/>
              </a:rPr>
              <a:t>  done</a:t>
            </a:r>
          </a:p>
        </p:txBody>
      </p:sp>
      <p:sp>
        <p:nvSpPr>
          <p:cNvPr id="17467" name="Oval 17466"/>
          <p:cNvSpPr/>
          <p:nvPr/>
        </p:nvSpPr>
        <p:spPr>
          <a:xfrm>
            <a:off x="4227576" y="5568696"/>
            <a:ext cx="201168" cy="20116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8" name="TextBox 17467"/>
          <p:cNvSpPr txBox="1"/>
          <p:nvPr/>
        </p:nvSpPr>
        <p:spPr>
          <a:xfrm>
            <a:off x="2865120" y="5815584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F2A44"/>
                </a:solidFill>
                <a:latin typeface="Arial"/>
              </a:rPr>
              <a:t>Simulation (RoadRunner / Simulink)</a:t>
            </a:r>
            <a:r>
              <a:rPr sz="1050" b="0" i="0">
                <a:solidFill>
                  <a:srgbClr val="0070C0"/>
                </a:solidFill>
                <a:latin typeface="Arial"/>
              </a:rPr>
              <a:t>  next</a:t>
            </a:r>
          </a:p>
        </p:txBody>
      </p:sp>
      <p:sp>
        <p:nvSpPr>
          <p:cNvPr id="17469" name="Oval 17468"/>
          <p:cNvSpPr/>
          <p:nvPr/>
        </p:nvSpPr>
        <p:spPr>
          <a:xfrm>
            <a:off x="7732776" y="5568696"/>
            <a:ext cx="201168" cy="201168"/>
          </a:xfrm>
          <a:prstGeom prst="ellipse">
            <a:avLst/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0" name="TextBox 17469"/>
          <p:cNvSpPr txBox="1"/>
          <p:nvPr/>
        </p:nvSpPr>
        <p:spPr>
          <a:xfrm>
            <a:off x="6370320" y="5815584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F2A44"/>
                </a:solidFill>
                <a:latin typeface="Arial"/>
              </a:rPr>
              <a:t>Sensor fusion</a:t>
            </a:r>
            <a:r>
              <a:rPr sz="1050" b="0" i="0">
                <a:solidFill>
                  <a:srgbClr val="5B6778"/>
                </a:solidFill>
                <a:latin typeface="Arial"/>
              </a:rPr>
              <a:t>  planned</a:t>
            </a:r>
          </a:p>
        </p:txBody>
      </p:sp>
      <p:sp>
        <p:nvSpPr>
          <p:cNvPr id="17471" name="Oval 17470"/>
          <p:cNvSpPr/>
          <p:nvPr/>
        </p:nvSpPr>
        <p:spPr>
          <a:xfrm>
            <a:off x="11237976" y="5568696"/>
            <a:ext cx="201168" cy="201168"/>
          </a:xfrm>
          <a:prstGeom prst="ellipse">
            <a:avLst/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2" name="TextBox 17471"/>
          <p:cNvSpPr txBox="1"/>
          <p:nvPr/>
        </p:nvSpPr>
        <p:spPr>
          <a:xfrm>
            <a:off x="8522208" y="5815584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F2A44"/>
                </a:solidFill>
                <a:latin typeface="Arial"/>
              </a:rPr>
              <a:t>Field pilot</a:t>
            </a:r>
            <a:r>
              <a:rPr sz="1050" b="0" i="0">
                <a:solidFill>
                  <a:srgbClr val="5B6778"/>
                </a:solidFill>
                <a:latin typeface="Arial"/>
              </a:rPr>
              <a:t>  planned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65760" y="1225296"/>
            <a:ext cx="54864" cy="2194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493776" y="1188720"/>
            <a:ext cx="72786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A44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1572768"/>
            <a:ext cx="3611880" cy="914400"/>
          </a:xfrm>
          <a:prstGeom prst="roundRect">
            <a:avLst>
              <a:gd name="adj" fmla="val 10000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Oval 17412"/>
          <p:cNvSpPr/>
          <p:nvPr/>
        </p:nvSpPr>
        <p:spPr>
          <a:xfrm>
            <a:off x="512064" y="175564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4" name="Picture 17413" descr="walk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89" y="1846173"/>
            <a:ext cx="321868" cy="321868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1143000" y="1682495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Pedestrians &amp; two-wheelers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143000" y="194767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Conflicts with the path are flagged early; people beside the road are not.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114800" y="1572768"/>
            <a:ext cx="3611880" cy="914400"/>
          </a:xfrm>
          <a:prstGeom prst="roundRect">
            <a:avLst>
              <a:gd name="adj" fmla="val 10000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Oval 17417"/>
          <p:cNvSpPr/>
          <p:nvPr/>
        </p:nvSpPr>
        <p:spPr>
          <a:xfrm>
            <a:off x="4261104" y="175564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9" name="Picture 17418" descr="car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1629" y="1846173"/>
            <a:ext cx="321868" cy="321868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4892040" y="1682495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Drivers &amp; fleets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892040" y="194767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Taxis, autos, logistics: driver-assist warnings that explain why.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65760" y="2596896"/>
            <a:ext cx="3611880" cy="914400"/>
          </a:xfrm>
          <a:prstGeom prst="roundRect">
            <a:avLst>
              <a:gd name="adj" fmla="val 10000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Oval 17422"/>
          <p:cNvSpPr/>
          <p:nvPr/>
        </p:nvSpPr>
        <p:spPr>
          <a:xfrm>
            <a:off x="512064" y="277977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4" name="Picture 17423" descr="science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2589" y="2870301"/>
            <a:ext cx="321868" cy="321868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1143000" y="270662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ADAS / AV developers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1143000" y="297180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Indian-road decision logic and a reusable scenario test suite.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114800" y="2596896"/>
            <a:ext cx="3611880" cy="914400"/>
          </a:xfrm>
          <a:prstGeom prst="roundRect">
            <a:avLst>
              <a:gd name="adj" fmla="val 10000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Oval 17427"/>
          <p:cNvSpPr/>
          <p:nvPr/>
        </p:nvSpPr>
        <p:spPr>
          <a:xfrm>
            <a:off x="4261104" y="277977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9" name="Picture 17428" descr="ambulance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51629" y="2870301"/>
            <a:ext cx="321868" cy="321868"/>
          </a:xfrm>
          <a:prstGeom prst="rect">
            <a:avLst/>
          </a:prstGeom>
        </p:spPr>
      </p:pic>
      <p:sp>
        <p:nvSpPr>
          <p:cNvPr id="17430" name="TextBox 17429"/>
          <p:cNvSpPr txBox="1"/>
          <p:nvPr/>
        </p:nvSpPr>
        <p:spPr>
          <a:xfrm>
            <a:off x="4892040" y="270662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Emergency response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892040" y="297180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Confirmation-first accident alerts with location and nearby hospitals.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8001000" y="1572768"/>
            <a:ext cx="3794760" cy="1938528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8202168" y="1682496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778"/>
                </a:solidFill>
                <a:latin typeface="Arial"/>
              </a:rPr>
              <a:t>Why it matters — India, 2022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8202168" y="1938528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070C0"/>
                </a:solidFill>
                <a:latin typeface="Arial"/>
              </a:rPr>
              <a:t>4,61,312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8202168" y="2441448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road accidents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8202168" y="26974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DC2626"/>
                </a:solidFill>
                <a:latin typeface="Arial"/>
              </a:rPr>
              <a:t>1,68,491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8202168" y="313639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778"/>
                </a:solidFill>
                <a:latin typeface="Arial"/>
              </a:rPr>
              <a:t>people killed  (MoRTH, Road Accidents in India 2022)</a:t>
            </a:r>
          </a:p>
        </p:txBody>
      </p:sp>
      <p:sp>
        <p:nvSpPr>
          <p:cNvPr id="17438" name="Rectangle 17437"/>
          <p:cNvSpPr/>
          <p:nvPr/>
        </p:nvSpPr>
        <p:spPr>
          <a:xfrm>
            <a:off x="365760" y="3803904"/>
            <a:ext cx="54864" cy="2194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TextBox 17438"/>
          <p:cNvSpPr txBox="1"/>
          <p:nvPr/>
        </p:nvSpPr>
        <p:spPr>
          <a:xfrm>
            <a:off x="493776" y="3767328"/>
            <a:ext cx="113019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A44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365760" y="4133087"/>
            <a:ext cx="3657600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1" name="Picture 17440" descr="shield_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270248"/>
            <a:ext cx="402336" cy="402336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1078992" y="43159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6A34A"/>
                </a:solidFill>
                <a:latin typeface="Arial"/>
              </a:rPr>
              <a:t>Social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594360" y="4791456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55448" indent="-155448">
              <a:spcAft>
                <a:spcPts val="600"/>
              </a:spcAft>
              <a:buClr>
                <a:srgbClr val="0070C0"/>
              </a:buClr>
              <a:buFont typeface="Arial"/>
              <a:buChar char="•"/>
            </a:pPr>
            <a:r>
              <a:rPr sz="1250" b="0" i="0">
                <a:solidFill>
                  <a:srgbClr val="243044"/>
                </a:solidFill>
                <a:latin typeface="Arial"/>
              </a:rPr>
              <a:t>Safer mixed traffic for vulnerable road users</a:t>
            </a:r>
          </a:p>
          <a:p>
            <a:pPr algn="l" marL="155448" indent="-155448">
              <a:spcAft>
                <a:spcPts val="600"/>
              </a:spcAft>
              <a:buClr>
                <a:srgbClr val="0070C0"/>
              </a:buClr>
              <a:buFont typeface="Arial"/>
              <a:buChar char="•"/>
            </a:pPr>
            <a:r>
              <a:rPr sz="1250" b="0" i="0">
                <a:solidFill>
                  <a:srgbClr val="243044"/>
                </a:solidFill>
                <a:latin typeface="Arial"/>
              </a:rPr>
              <a:t>Decisions come with reasons — builds trust and aids audits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4206240" y="4133087"/>
            <a:ext cx="3657600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5" name="Picture 17444" descr="speed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9120" y="4270248"/>
            <a:ext cx="402336" cy="402336"/>
          </a:xfrm>
          <a:prstGeom prst="rect">
            <a:avLst/>
          </a:prstGeom>
        </p:spPr>
      </p:pic>
      <p:sp>
        <p:nvSpPr>
          <p:cNvPr id="17446" name="TextBox 17445"/>
          <p:cNvSpPr txBox="1"/>
          <p:nvPr/>
        </p:nvSpPr>
        <p:spPr>
          <a:xfrm>
            <a:off x="4919472" y="43159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070C0"/>
                </a:solidFill>
                <a:latin typeface="Arial"/>
              </a:rPr>
              <a:t>Economic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4434840" y="4791456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55448" indent="-155448">
              <a:spcAft>
                <a:spcPts val="600"/>
              </a:spcAft>
              <a:buClr>
                <a:srgbClr val="0070C0"/>
              </a:buClr>
              <a:buFont typeface="Arial"/>
              <a:buChar char="•"/>
            </a:pPr>
            <a:r>
              <a:rPr sz="1250" b="0" i="0">
                <a:solidFill>
                  <a:srgbClr val="243044"/>
                </a:solidFill>
                <a:latin typeface="Arial"/>
              </a:rPr>
              <a:t>Camera-first, open-source stack on commodity hardware</a:t>
            </a:r>
          </a:p>
          <a:p>
            <a:pPr algn="l" marL="155448" indent="-155448">
              <a:spcAft>
                <a:spcPts val="600"/>
              </a:spcAft>
              <a:buClr>
                <a:srgbClr val="0070C0"/>
              </a:buClr>
              <a:buFont typeface="Arial"/>
              <a:buChar char="•"/>
            </a:pPr>
            <a:r>
              <a:rPr sz="1250" b="0" i="0">
                <a:solidFill>
                  <a:srgbClr val="243044"/>
                </a:solidFill>
                <a:latin typeface="Arial"/>
              </a:rPr>
              <a:t>Phone camera works for demos and training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8046720" y="4133087"/>
            <a:ext cx="3657600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9" name="Picture 17448" descr="loop_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0" y="4270248"/>
            <a:ext cx="402336" cy="402336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8759952" y="43159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9E8E"/>
                </a:solidFill>
                <a:latin typeface="Arial"/>
              </a:rPr>
              <a:t>Environmental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8275320" y="4791456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55448" indent="-155448">
              <a:spcAft>
                <a:spcPts val="600"/>
              </a:spcAft>
              <a:buClr>
                <a:srgbClr val="0070C0"/>
              </a:buClr>
              <a:buFont typeface="Arial"/>
              <a:buChar char="•"/>
            </a:pPr>
            <a:r>
              <a:rPr sz="1250" b="0" i="0">
                <a:solidFill>
                  <a:srgbClr val="243044"/>
                </a:solidFill>
                <a:latin typeface="Arial"/>
              </a:rPr>
              <a:t>Fewer unnecessary hard brakes → smoother driving (expected, not yet measured)</a:t>
            </a:r>
          </a:p>
          <a:p>
            <a:pPr algn="l" marL="155448" indent="-155448">
              <a:spcAft>
                <a:spcPts val="600"/>
              </a:spcAft>
              <a:buClr>
                <a:srgbClr val="0070C0"/>
              </a:buClr>
              <a:buFont typeface="Arial"/>
              <a:buChar char="•"/>
            </a:pPr>
            <a:r>
              <a:rPr sz="1250" b="0" i="0">
                <a:solidFill>
                  <a:srgbClr val="243044"/>
                </a:solidFill>
                <a:latin typeface="Arial"/>
              </a:rPr>
              <a:t>Software upgrade path — no new hardware for pilots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65760" y="1225296"/>
            <a:ext cx="54864" cy="2194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493776" y="1188720"/>
            <a:ext cx="113019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A44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1627632"/>
            <a:ext cx="5623560" cy="1773936"/>
          </a:xfrm>
          <a:prstGeom prst="roundRect">
            <a:avLst>
              <a:gd name="adj" fmla="val 5154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746504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F2A44"/>
                </a:solidFill>
                <a:latin typeface="Arial"/>
              </a:rPr>
              <a:t>Perception &amp; models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084832"/>
            <a:ext cx="5257800" cy="1271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55448" indent="-155448">
              <a:spcAft>
                <a:spcPts val="4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Jocher et al., Ultralytics YOLOv8 — github.com/ultralytics/ultralytics</a:t>
            </a:r>
          </a:p>
          <a:p>
            <a:pPr algn="l" marL="155448" indent="-155448">
              <a:spcAft>
                <a:spcPts val="4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Zhang et al., ByteTrack, ECCV 2022 — arXiv:2110.06864</a:t>
            </a:r>
          </a:p>
          <a:p>
            <a:pPr algn="l" marL="155448" indent="-155448">
              <a:spcAft>
                <a:spcPts val="4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Yang et al., Depth Anything V2, NeurIPS 2024 — arXiv:2406.09414</a:t>
            </a:r>
          </a:p>
          <a:p>
            <a:pPr algn="l" marL="155448" indent="-155448">
              <a:spcAft>
                <a:spcPts val="4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Radford et al., CLIP, ICML 2021 — arXiv:2103.00020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65760" y="3602736"/>
            <a:ext cx="5623560" cy="1664208"/>
          </a:xfrm>
          <a:prstGeom prst="roundRect">
            <a:avLst>
              <a:gd name="adj" fmla="val 5494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548640" y="3721608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F2A44"/>
                </a:solidFill>
                <a:latin typeface="Arial"/>
              </a:rPr>
              <a:t>Planning &amp; decision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48640" y="4059936"/>
            <a:ext cx="5257800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55448" indent="-155448">
              <a:spcAft>
                <a:spcPts val="4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Paden et al., Motion planning &amp; control for self-driving urban vehicles, IEEE T-IV 2016 — arXiv:1604.07446</a:t>
            </a:r>
          </a:p>
          <a:p>
            <a:pPr algn="l" marL="155448" indent="-155448">
              <a:spcAft>
                <a:spcPts val="4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Kinematic bicycle model for candidate-arc generation (17 arcs, up to 15 degrees steering)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172200" y="1627632"/>
            <a:ext cx="5623560" cy="2075688"/>
          </a:xfrm>
          <a:prstGeom prst="roundRect">
            <a:avLst>
              <a:gd name="adj" fmla="val 4405"/>
            </a:avLst>
          </a:prstGeom>
          <a:solidFill>
            <a:srgbClr val="FFFFFF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6355080" y="1746504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F2A44"/>
                </a:solidFill>
                <a:latin typeface="Arial"/>
              </a:rPr>
              <a:t>Data, tools &amp; context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355080" y="2084832"/>
            <a:ext cx="5257800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55448" indent="-155448">
              <a:spcAft>
                <a:spcPts val="4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SIH 2026 PS 26037 (MathWorks) — problem statement &amp; expected solution</a:t>
            </a:r>
          </a:p>
          <a:p>
            <a:pPr algn="l" marL="155448" indent="-155448">
              <a:spcAft>
                <a:spcPts val="4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Varma et al., Indian Driving Dataset (IDD), WACV 2019 — idd.insaan.iiit.ac.in</a:t>
            </a:r>
          </a:p>
          <a:p>
            <a:pPr algn="l" marL="155448" indent="-155448">
              <a:spcAft>
                <a:spcPts val="4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MathWorks RoadRunner &amp; Automated Driving Toolbox — mathworks.com (planned)</a:t>
            </a:r>
          </a:p>
          <a:p>
            <a:pPr algn="l" marL="155448" indent="-155448">
              <a:spcAft>
                <a:spcPts val="4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MoRTH, Road Accidents in India 2022 — morth.nic.in</a:t>
            </a:r>
          </a:p>
          <a:p>
            <a:pPr algn="l" marL="155448" indent="-155448">
              <a:spcAft>
                <a:spcPts val="4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OpenStreetMap Overpass API — nearby-hospital lookup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172200" y="3904488"/>
            <a:ext cx="5623560" cy="141732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355080" y="4023360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F2A44"/>
                </a:solidFill>
                <a:latin typeface="Arial"/>
              </a:rPr>
              <a:t>Validation footage (Wikimedia Commons)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6355080" y="436168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55448" indent="-155448">
              <a:spcAft>
                <a:spcPts val="4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Bengaluru &amp; Karnataka drives — L. Shyamal (CC0); Delhi cattle — Fowler&amp;fowler (CC BY-SA 3.0)</a:t>
            </a:r>
          </a:p>
          <a:p>
            <a:pPr algn="l" marL="155448" indent="-155448">
              <a:spcAft>
                <a:spcPts val="4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Frederiksted pier (left-hand traffic) — John Edwards (CC BY 3.0), 45 s excerpt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365760" y="5961888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778"/>
                </a:solidFill>
                <a:latin typeface="Arial"/>
              </a:rPr>
              <a:t>Prototype status: research prototype — not a certified autonomous-driving or safety system; emergency features run in simulation only.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