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PathSense is a camera-based research prototype for PS 26037. Hero image: a real frame of the rendered HUD on CC-licensed Indian road footage.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PS background: mixed traffic, no lane discipline, irregular movement, unclear edges and potholes.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generic assumptions. Right: what the prototype implements (each item is in the repository).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is the real web app (python app.py) playing a processed drive.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timings from outputs/india_bangalore_stats.json. Planner+costmap time is the replanning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Snake order follows the processing order. File names are the actual modules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Auto-rickshaw count = sum of confirmed_tracks in the six *_stats.json files (current threshold 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BEV crop is the picture-in-picture of the rendered HUD. Depth is road-plane calibrated, not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Smoothness = |Δ recommended steering| per second from *_frames.json; replanning = planner stage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decision.py path_threat(): clearance, drift-corrected lateral velocity, predicted clearance within min(TTC, 3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PROXY = the real clip exercises the scenario only partly (e.g. no turning manoeuvre). RoadRunner scenes for all five are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numbers from outputs/live_benchmark.json (live_benchmark.py posting real frames to the running server).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Accident clip: Wikimedia Commons 'The van in front suddenly changed lanes…' (public domain), first 30 s. Emergency panel screenshot is the web app in DEMO / SIMULATION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values from outputs/*_stats.json of the current code. BRAKE % = BRAKE + NO SAFE PATH. Open-loop: decisions are recommendations on recorded video, the vehicle is not controlled.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item exists in the repository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 encourages MATLAB/Simulink and RoadRunner; this prototype is Python. The port is listed as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live demo of the web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18.png"/><Relationship Id="rId5" Type="http://schemas.openxmlformats.org/officeDocument/2006/relationships/image" Target="../media/image1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19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20.png"/><Relationship Id="rId14" Type="http://schemas.openxmlformats.org/officeDocument/2006/relationships/image" Target="../media/image30.png"/><Relationship Id="rId1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1.jpg"/><Relationship Id="rId4" Type="http://schemas.openxmlformats.org/officeDocument/2006/relationships/image" Target="../media/image18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45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6.png"/><Relationship Id="rId4" Type="http://schemas.openxmlformats.org/officeDocument/2006/relationships/image" Target="../media/image1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jpg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Relationship Id="rId8" Type="http://schemas.openxmlformats.org/officeDocument/2006/relationships/image" Target="../media/image30.png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pic>
        <p:nvPicPr>
          <p:cNvPr id="3" name="Picture 2" descr="route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858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7665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F3F5F7"/>
                </a:solidFill>
                <a:latin typeface="Calibri"/>
              </a:rPr>
              <a:t>Adaptive Path Planning &amp; Collision Avoidance on Unstructured Indian Roads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Problem Statement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97763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26037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6168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436168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MathWorks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4573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74573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Smart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9783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129783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13831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513831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F7C89"/>
                </a:solidFill>
                <a:latin typeface="Calibri"/>
              </a:rPr>
              <a:t>Team name &amp; ID — add before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F7C89"/>
                </a:solidFill>
                <a:latin typeface="Calibri"/>
              </a:rPr>
              <a:t>Research prototype — not a certified autonomous-driving or safety system.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Indian roads break the assumptions most planners are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02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6720840" cy="4069080"/>
          </a:xfrm>
          <a:prstGeom prst="roundRect">
            <a:avLst>
              <a:gd name="adj" fmla="val 4044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1234440" y="2148840"/>
            <a:ext cx="5349240" cy="4069080"/>
          </a:xfrm>
          <a:custGeom>
            <a:avLst/>
            <a:gdLst/>
            <a:ahLst/>
            <a:cxnLst/>
            <a:rect l="l" t="t" r="r" b="b"/>
            <a:pathLst>
              <a:path w="5349240" h="4069080">
                <a:moveTo>
                  <a:pt x="0" y="4069080"/>
                </a:moveTo>
                <a:lnTo>
                  <a:pt x="777240" y="0"/>
                </a:lnTo>
                <a:lnTo>
                  <a:pt x="4343400" y="0"/>
                </a:lnTo>
                <a:lnTo>
                  <a:pt x="5349240" y="4069080"/>
                </a:lnTo>
                <a:close/>
              </a:path>
            </a:pathLst>
          </a:custGeom>
          <a:solidFill>
            <a:srgbClr val="1D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26080" y="5120640"/>
            <a:ext cx="497433" cy="310896"/>
          </a:xfrm>
          <a:prstGeom prst="ellipse">
            <a:avLst/>
          </a:prstGeom>
          <a:solidFill>
            <a:srgbClr val="0F1317"/>
          </a:solidFill>
          <a:ln w="9525">
            <a:solidFill>
              <a:srgbClr val="2A3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120640" y="3383280"/>
            <a:ext cx="380390" cy="237744"/>
          </a:xfrm>
          <a:prstGeom prst="ellipse">
            <a:avLst/>
          </a:prstGeom>
          <a:solidFill>
            <a:srgbClr val="0F1317"/>
          </a:solidFill>
          <a:ln w="9525">
            <a:solidFill>
              <a:srgbClr val="2A3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566160" y="416052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4261104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4679" y="475488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Car</a:t>
            </a:r>
          </a:p>
        </p:txBody>
      </p:sp>
      <p:sp>
        <p:nvSpPr>
          <p:cNvPr id="16" name="Oval 15"/>
          <p:cNvSpPr/>
          <p:nvPr/>
        </p:nvSpPr>
        <p:spPr>
          <a:xfrm>
            <a:off x="2148840" y="320040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auto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30098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79476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Auto-rickshaw</a:t>
            </a:r>
          </a:p>
        </p:txBody>
      </p:sp>
      <p:sp>
        <p:nvSpPr>
          <p:cNvPr id="19" name="Oval 18"/>
          <p:cNvSpPr/>
          <p:nvPr/>
        </p:nvSpPr>
        <p:spPr>
          <a:xfrm>
            <a:off x="4754880" y="452628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moto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464" y="4626864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43400" y="51206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Two-wheeler</a:t>
            </a:r>
          </a:p>
        </p:txBody>
      </p:sp>
      <p:sp>
        <p:nvSpPr>
          <p:cNvPr id="22" name="Oval 21"/>
          <p:cNvSpPr/>
          <p:nvPr/>
        </p:nvSpPr>
        <p:spPr>
          <a:xfrm>
            <a:off x="1234440" y="493776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walk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5024" y="5038344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53212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Pedestrian</a:t>
            </a:r>
          </a:p>
        </p:txBody>
      </p:sp>
      <p:sp>
        <p:nvSpPr>
          <p:cNvPr id="25" name="Oval 24"/>
          <p:cNvSpPr/>
          <p:nvPr/>
        </p:nvSpPr>
        <p:spPr>
          <a:xfrm>
            <a:off x="4160520" y="2395728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bu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1104" y="2496312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749039" y="2990088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Bus</a:t>
            </a:r>
          </a:p>
        </p:txBody>
      </p:sp>
      <p:sp>
        <p:nvSpPr>
          <p:cNvPr id="28" name="Oval 27"/>
          <p:cNvSpPr/>
          <p:nvPr/>
        </p:nvSpPr>
        <p:spPr>
          <a:xfrm>
            <a:off x="5715000" y="521208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ru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15584" y="5312664"/>
            <a:ext cx="36576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03520" y="58064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Truck</a:t>
            </a:r>
          </a:p>
        </p:txBody>
      </p:sp>
      <p:sp>
        <p:nvSpPr>
          <p:cNvPr id="31" name="Oval 30"/>
          <p:cNvSpPr/>
          <p:nvPr/>
        </p:nvSpPr>
        <p:spPr>
          <a:xfrm>
            <a:off x="2971800" y="251460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cow_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2384" y="2615184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560320" y="310896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Cattle</a:t>
            </a:r>
          </a:p>
        </p:txBody>
      </p:sp>
      <p:sp>
        <p:nvSpPr>
          <p:cNvPr id="34" name="Oval 33"/>
          <p:cNvSpPr/>
          <p:nvPr/>
        </p:nvSpPr>
        <p:spPr>
          <a:xfrm>
            <a:off x="5989320" y="3154680"/>
            <a:ext cx="566928" cy="566928"/>
          </a:xfrm>
          <a:prstGeom prst="ellipse">
            <a:avLst/>
          </a:prstGeom>
          <a:solidFill>
            <a:srgbClr val="181D23"/>
          </a:solidFill>
          <a:ln w="15875">
            <a:solidFill>
              <a:srgbClr val="A3A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cart_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9904" y="3255264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577840" y="3749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A3AFBB"/>
                </a:solidFill>
                <a:latin typeface="Calibri"/>
              </a:rPr>
              <a:t>Pushcart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20440" y="5532120"/>
            <a:ext cx="640080" cy="502920"/>
          </a:xfrm>
          <a:prstGeom prst="roundRect">
            <a:avLst>
              <a:gd name="adj" fmla="val 18181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20440" y="55321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0E11"/>
                </a:solidFill>
                <a:latin typeface="Calibri"/>
              </a:rPr>
              <a:t>EGO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606040" y="3611880"/>
            <a:ext cx="777240" cy="731520"/>
          </a:xfrm>
          <a:prstGeom prst="line">
            <a:avLst/>
          </a:prstGeom>
          <a:ln w="2222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83080" y="4846320"/>
            <a:ext cx="1051560" cy="274320"/>
          </a:xfrm>
          <a:prstGeom prst="line">
            <a:avLst/>
          </a:prstGeom>
          <a:ln w="22225">
            <a:solidFill>
              <a:srgbClr val="F973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20440" y="2971800"/>
            <a:ext cx="594360" cy="594360"/>
          </a:xfrm>
          <a:prstGeom prst="line">
            <a:avLst/>
          </a:prstGeom>
          <a:ln w="22225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7589520" y="2240279"/>
            <a:ext cx="502920" cy="50292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rule_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00162" y="2350922"/>
            <a:ext cx="281635" cy="28163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275320" y="21945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No lane discipline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252374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3AFBB"/>
                </a:solidFill>
                <a:latin typeface="Calibri"/>
              </a:rPr>
              <a:t>Missing markings, unclear road edges, informal merging</a:t>
            </a:r>
          </a:p>
        </p:txBody>
      </p:sp>
      <p:sp>
        <p:nvSpPr>
          <p:cNvPr id="46" name="Oval 45"/>
          <p:cNvSpPr/>
          <p:nvPr/>
        </p:nvSpPr>
        <p:spPr>
          <a:xfrm>
            <a:off x="7589520" y="3264408"/>
            <a:ext cx="502920" cy="50292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merge_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00162" y="3375050"/>
            <a:ext cx="281635" cy="28163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75320" y="3218688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Irregular motion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354787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3AFBB"/>
                </a:solidFill>
                <a:latin typeface="Calibri"/>
              </a:rPr>
              <a:t>Cut-ins, wrong-way riders, sudden pedestrian and animal crossings</a:t>
            </a:r>
          </a:p>
        </p:txBody>
      </p:sp>
      <p:sp>
        <p:nvSpPr>
          <p:cNvPr id="50" name="Oval 49"/>
          <p:cNvSpPr/>
          <p:nvPr/>
        </p:nvSpPr>
        <p:spPr>
          <a:xfrm>
            <a:off x="7589520" y="4288536"/>
            <a:ext cx="502920" cy="50292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layers_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00162" y="4399178"/>
            <a:ext cx="281635" cy="28163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275320" y="4242816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Unusual road users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45720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3AFBB"/>
                </a:solidFill>
                <a:latin typeface="Calibri"/>
              </a:rPr>
              <a:t>Auto-rickshaws, pushcarts and cattle are not in standard detector classes</a:t>
            </a:r>
          </a:p>
        </p:txBody>
      </p:sp>
      <p:sp>
        <p:nvSpPr>
          <p:cNvPr id="54" name="Oval 53"/>
          <p:cNvSpPr/>
          <p:nvPr/>
        </p:nvSpPr>
        <p:spPr>
          <a:xfrm>
            <a:off x="7589520" y="5312664"/>
            <a:ext cx="502920" cy="50292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pothole_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00162" y="5423306"/>
            <a:ext cx="281635" cy="28163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275320" y="526694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Unstructured surface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559612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3AFBB"/>
                </a:solidFill>
                <a:latin typeface="Calibri"/>
              </a:rPr>
              <a:t>Potholes, unpaved shoulders, obstacles on the carriageway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WHY EXISTING APPROACHES STRUGGLE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Structured-road stacks assume what India does not guarantee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5440680" cy="3977639"/>
          </a:xfrm>
          <a:prstGeom prst="roundRect">
            <a:avLst>
              <a:gd name="adj" fmla="val 4137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957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3AFBB"/>
                </a:solidFill>
                <a:latin typeface="Calibri"/>
              </a:rPr>
              <a:t>Typical structured-road stack</a:t>
            </a:r>
          </a:p>
        </p:txBody>
      </p:sp>
      <p:pic>
        <p:nvPicPr>
          <p:cNvPr id="11" name="Picture 10" descr="block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3580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301752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A3AFBB"/>
                </a:solidFill>
                <a:latin typeface="Calibri"/>
              </a:rPr>
              <a:t>Lane-marking based path</a:t>
            </a:r>
          </a:p>
        </p:txBody>
      </p:sp>
      <p:pic>
        <p:nvPicPr>
          <p:cNvPr id="13" name="Picture 12" descr="block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94759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25880" y="3776472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A3AFBB"/>
                </a:solidFill>
                <a:latin typeface="Calibri"/>
              </a:rPr>
              <a:t>Traffic assumed to follow lanes</a:t>
            </a:r>
          </a:p>
        </p:txBody>
      </p:sp>
      <p:pic>
        <p:nvPicPr>
          <p:cNvPr id="15" name="Picture 14" descr="block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53712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25880" y="4535424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A3AFBB"/>
                </a:solidFill>
                <a:latin typeface="Calibri"/>
              </a:rPr>
              <a:t>Fixed object classes (car / truck / person)</a:t>
            </a:r>
          </a:p>
        </p:txBody>
      </p:sp>
      <p:pic>
        <p:nvPicPr>
          <p:cNvPr id="17" name="Picture 16" descr="block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12663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25880" y="5294375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A3AFBB"/>
                </a:solidFill>
                <a:latin typeface="Calibri"/>
              </a:rPr>
              <a:t>Obstacle = anything close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194560"/>
            <a:ext cx="5440680" cy="3977639"/>
          </a:xfrm>
          <a:prstGeom prst="roundRect">
            <a:avLst>
              <a:gd name="adj" fmla="val 4137"/>
            </a:avLst>
          </a:prstGeom>
          <a:solidFill>
            <a:srgbClr val="0F1B1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23957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DD4BF"/>
                </a:solidFill>
                <a:latin typeface="Calibri"/>
              </a:rPr>
              <a:t>PathSense</a:t>
            </a:r>
          </a:p>
        </p:txBody>
      </p:sp>
      <p:pic>
        <p:nvPicPr>
          <p:cNvPr id="21" name="Picture 20" descr="check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035808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95160" y="301752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F3F5F7"/>
                </a:solidFill>
                <a:latin typeface="Calibri"/>
              </a:rPr>
              <a:t>Free-space corridor + 17 candidate arcs, no lanes needed</a:t>
            </a:r>
          </a:p>
        </p:txBody>
      </p:sp>
      <p:pic>
        <p:nvPicPr>
          <p:cNvPr id="23" name="Picture 22" descr="check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794759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95160" y="3776472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F3F5F7"/>
                </a:solidFill>
                <a:latin typeface="Calibri"/>
              </a:rPr>
              <a:t>Per-track motion: cut-in, crossing, oncoming, side-pass</a:t>
            </a:r>
          </a:p>
        </p:txBody>
      </p:sp>
      <p:pic>
        <p:nvPicPr>
          <p:cNvPr id="25" name="Picture 24" descr="check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553712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5160" y="4535424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F3F5F7"/>
                </a:solidFill>
                <a:latin typeface="Calibri"/>
              </a:rPr>
              <a:t>Auto-rickshaw refinement, animals and riders handled</a:t>
            </a:r>
          </a:p>
        </p:txBody>
      </p:sp>
      <p:pic>
        <p:nvPicPr>
          <p:cNvPr id="27" name="Picture 26" descr="check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312663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95160" y="5294375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F3F5F7"/>
                </a:solidFill>
                <a:latin typeface="Calibri"/>
              </a:rPr>
              <a:t>Threat = conflict with the ego path, not proximity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61888" y="4160520"/>
            <a:ext cx="192024" cy="0"/>
          </a:xfrm>
          <a:prstGeom prst="line">
            <a:avLst/>
          </a:prstGeom>
          <a:ln w="317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PathSense: see, predict, plan, decide — every 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7335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3AFBB"/>
                </a:solidFill>
                <a:latin typeface="Calibri"/>
              </a:rPr>
              <a:t>A camera-first perception → planning → decision pipeline tuned for Indian mixed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04 / 17</a:t>
            </a:r>
          </a:p>
        </p:txBody>
      </p:sp>
      <p:pic>
        <p:nvPicPr>
          <p:cNvPr id="10" name="Picture 9" descr="web_web_demo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40280"/>
            <a:ext cx="6949440" cy="347472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sp>
        <p:nvSpPr>
          <p:cNvPr id="11" name="Oval 10"/>
          <p:cNvSpPr/>
          <p:nvPr/>
        </p:nvSpPr>
        <p:spPr>
          <a:xfrm>
            <a:off x="7772400" y="2240280"/>
            <a:ext cx="530352" cy="530352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visibility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9077" y="2356957"/>
            <a:ext cx="296997" cy="2969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0" y="222199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Perceive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542032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Detect &amp; track road users, estimate distance and time-to-collision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3227832"/>
            <a:ext cx="530352" cy="530352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077" y="3344509"/>
            <a:ext cx="296997" cy="2969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0" y="320954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529584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Bird's-eye costmap, 17 candidate trajectories, safest steering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0" y="4215384"/>
            <a:ext cx="530352" cy="530352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shield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9077" y="4332061"/>
            <a:ext cx="296997" cy="29699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03920" y="41970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51713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GO / SLOW DOWN / BRAKE / NO SAFE PATH with the reason and the threat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0" y="5202936"/>
            <a:ext cx="530352" cy="530352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crash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9077" y="5319613"/>
            <a:ext cx="296997" cy="29699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03920" y="518464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50468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Accident detection with a confirmation-first emergency workflow (simulated)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83387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F7C89"/>
                </a:solidFill>
                <a:latin typeface="Calibri"/>
              </a:rPr>
              <a:t>Web app — Demo view: processed drive, live decision panel, clickable decision timeline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A decision loop, re-evaluated on every 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79437" y="2794084"/>
            <a:ext cx="752525" cy="546742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882267" y="4072526"/>
            <a:ext cx="287439" cy="884647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329674" y="5409388"/>
            <a:ext cx="930171" cy="0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419813" y="4072526"/>
            <a:ext cx="287439" cy="884647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657557" y="2794084"/>
            <a:ext cx="752525" cy="546742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383280" y="2103120"/>
            <a:ext cx="822960" cy="82296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visibilit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28600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7680" y="22219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Perception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963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detect · track · depth</a:t>
            </a:r>
          </a:p>
        </p:txBody>
      </p:sp>
      <p:sp>
        <p:nvSpPr>
          <p:cNvPr id="18" name="Oval 17"/>
          <p:cNvSpPr/>
          <p:nvPr/>
        </p:nvSpPr>
        <p:spPr>
          <a:xfrm>
            <a:off x="4905160" y="3208831"/>
            <a:ext cx="822960" cy="82296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imeline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040" y="3391711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19560" y="3327703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9560" y="3602023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motion cues · TTC</a:t>
            </a:r>
          </a:p>
        </p:txBody>
      </p:sp>
      <p:sp>
        <p:nvSpPr>
          <p:cNvPr id="22" name="Oval 21"/>
          <p:cNvSpPr/>
          <p:nvPr/>
        </p:nvSpPr>
        <p:spPr>
          <a:xfrm>
            <a:off x="4323853" y="4997908"/>
            <a:ext cx="822960" cy="82296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733" y="5180788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38253" y="51167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Planning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253" y="53911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costmap · 17 arcs</a:t>
            </a:r>
          </a:p>
        </p:txBody>
      </p:sp>
      <p:sp>
        <p:nvSpPr>
          <p:cNvPr id="26" name="Oval 25"/>
          <p:cNvSpPr/>
          <p:nvPr/>
        </p:nvSpPr>
        <p:spPr>
          <a:xfrm>
            <a:off x="2442706" y="4997908"/>
            <a:ext cx="822960" cy="82296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shield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5586" y="5180788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13906" y="51167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3F5F7"/>
                </a:solidFill>
                <a:latin typeface="Calibri"/>
              </a:rPr>
              <a:t>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3906" y="53911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A3AFBB"/>
                </a:solidFill>
                <a:latin typeface="Calibri"/>
              </a:rPr>
              <a:t>risk state · hysteresis</a:t>
            </a:r>
          </a:p>
        </p:txBody>
      </p:sp>
      <p:sp>
        <p:nvSpPr>
          <p:cNvPr id="30" name="Oval 29"/>
          <p:cNvSpPr/>
          <p:nvPr/>
        </p:nvSpPr>
        <p:spPr>
          <a:xfrm>
            <a:off x="1861399" y="3208831"/>
            <a:ext cx="822960" cy="82296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loop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4279" y="3391711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599" y="3327703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F3F5F7"/>
                </a:solidFill>
                <a:latin typeface="Calibri"/>
              </a:rPr>
              <a:t>Replanning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599" y="3602023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A3AFBB"/>
                </a:solidFill>
                <a:latin typeface="Calibri"/>
              </a:rPr>
              <a:t>next frame, new data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86600" y="2240280"/>
            <a:ext cx="4572000" cy="3931920"/>
          </a:xfrm>
          <a:prstGeom prst="roundRect">
            <a:avLst>
              <a:gd name="adj" fmla="val 41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360920" y="242316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Per-frame budget (measured)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920" y="2807208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60920" y="2807208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32461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Detection + tracking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72600" y="3282696"/>
            <a:ext cx="332920" cy="219456"/>
          </a:xfrm>
          <a:prstGeom prst="roundRect">
            <a:avLst>
              <a:gd name="adj" fmla="val 20833"/>
            </a:avLst>
          </a:prstGeom>
          <a:solidFill>
            <a:srgbClr val="3B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796960" y="3246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3F5F7"/>
                </a:solidFill>
                <a:latin typeface="Calibri"/>
              </a:rPr>
              <a:t>14.7 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3776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Depth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72600" y="3813048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3B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27080" y="37764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3F5F7"/>
                </a:solidFill>
                <a:latin typeface="Calibri"/>
              </a:rPr>
              <a:t>64.6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4306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Ego-motion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72600" y="4343400"/>
            <a:ext cx="335185" cy="219456"/>
          </a:xfrm>
          <a:prstGeom prst="roundRect">
            <a:avLst>
              <a:gd name="adj" fmla="val 20833"/>
            </a:avLst>
          </a:prstGeom>
          <a:solidFill>
            <a:srgbClr val="3B4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799225" y="43068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3F5F7"/>
                </a:solidFill>
                <a:latin typeface="Calibri"/>
              </a:rPr>
              <a:t>14.8 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483717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Costmap + planner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72600" y="4873751"/>
            <a:ext cx="67943" cy="21945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531983" y="4837175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3F5F7"/>
                </a:solidFill>
                <a:latin typeface="Calibri"/>
              </a:rPr>
              <a:t>3.0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536752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Decision + accident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72600" y="5404103"/>
            <a:ext cx="36576" cy="219456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491217" y="536752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3F5F7"/>
                </a:solidFill>
                <a:latin typeface="Calibri"/>
              </a:rPr>
              <a:t>1.2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5806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F7C89"/>
                </a:solidFill>
                <a:latin typeface="Calibri"/>
              </a:rPr>
              <a:t>india_bangalore, RTX 3050 6GB Laptop GPU, 720p. Replanning itself is a few ms; depth dominates.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One pipeline, reused by batch video, web upload and live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06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camera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71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24231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Camera / video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43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dashcam · upload · phone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52928" y="2715768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00400" y="224028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visibility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48716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77639" y="24231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YOLOv8n + ByteTrack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743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detect_track.py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50408" y="2715768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897880" y="224028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layers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2487168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5120" y="24231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Depth (road-plane)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743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depth.py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59168" y="3218688"/>
            <a:ext cx="0" cy="329184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897880" y="356616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speed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813048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374904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Ego-motion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0690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ego_motion.py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550408" y="4041648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200400" y="356616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map_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813048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77639" y="374904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BEV costmap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40690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costmap.py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852928" y="4041648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356616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brain_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13048"/>
            <a:ext cx="457200" cy="457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80160" y="374904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Behaviour + threat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690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behavior.py · decision.py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64208" y="4544568"/>
            <a:ext cx="0" cy="329184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2920" y="489204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0F1B1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138927"/>
            <a:ext cx="457200" cy="457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80160" y="507492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Candidate trajectories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394959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planner.py · 17 arcs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52928" y="5367527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200400" y="489204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0F1B1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shield_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3280" y="5138927"/>
            <a:ext cx="457200" cy="457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977639" y="507492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Risk decision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77639" y="5394959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decision.py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550408" y="5367527"/>
            <a:ext cx="32918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897880" y="4892040"/>
            <a:ext cx="2331720" cy="960120"/>
          </a:xfrm>
          <a:prstGeom prst="roundRect">
            <a:avLst>
              <a:gd name="adj" fmla="val 1333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flag_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0760" y="5138927"/>
            <a:ext cx="457200" cy="457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675120" y="507492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Path recommendation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5394959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onsolas"/>
              </a:rPr>
              <a:t>HUD · web · events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Calibri"/>
              </a:rPr>
              <a:t>OUTPUTS</a:t>
            </a:r>
          </a:p>
        </p:txBody>
      </p:sp>
      <p:sp>
        <p:nvSpPr>
          <p:cNvPr id="54" name="Oval 53"/>
          <p:cNvSpPr/>
          <p:nvPr/>
        </p:nvSpPr>
        <p:spPr>
          <a:xfrm>
            <a:off x="8732520" y="2606039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web_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3104" y="2706623"/>
            <a:ext cx="256032" cy="2560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32688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Web app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0" y="28620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app.py · Flask, one command</a:t>
            </a:r>
          </a:p>
        </p:txBody>
      </p:sp>
      <p:sp>
        <p:nvSpPr>
          <p:cNvPr id="58" name="Oval 57"/>
          <p:cNvSpPr/>
          <p:nvPr/>
        </p:nvSpPr>
        <p:spPr>
          <a:xfrm>
            <a:off x="8732520" y="3502151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9" name="Picture 58" descr="event_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3104" y="3602735"/>
            <a:ext cx="256032" cy="256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26880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Event log + replay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0" y="3758183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events.py · timeline</a:t>
            </a:r>
          </a:p>
        </p:txBody>
      </p:sp>
      <p:sp>
        <p:nvSpPr>
          <p:cNvPr id="62" name="Oval 61"/>
          <p:cNvSpPr/>
          <p:nvPr/>
        </p:nvSpPr>
        <p:spPr>
          <a:xfrm>
            <a:off x="8732520" y="4398264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3" name="Picture 62" descr="crash_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3104" y="4498848"/>
            <a:ext cx="256032" cy="25603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326880" y="43525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Accident monitor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0" y="465429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accident.py · simulated response</a:t>
            </a:r>
          </a:p>
        </p:txBody>
      </p:sp>
      <p:sp>
        <p:nvSpPr>
          <p:cNvPr id="66" name="Oval 65"/>
          <p:cNvSpPr/>
          <p:nvPr/>
        </p:nvSpPr>
        <p:spPr>
          <a:xfrm>
            <a:off x="8732520" y="5294376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mobile_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3104" y="5394960"/>
            <a:ext cx="256032" cy="25603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9326880" y="52486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Live camera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6880" y="555040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live.py · phone over HTTPS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PERCEPTION +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Know who is on the road — including the ones COCO does not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07 / 17</a:t>
            </a:r>
          </a:p>
        </p:txBody>
      </p:sp>
      <p:pic>
        <p:nvPicPr>
          <p:cNvPr id="9" name="Picture 8" descr="percep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94560"/>
            <a:ext cx="6766560" cy="380619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sp>
        <p:nvSpPr>
          <p:cNvPr id="10" name="Oval 9"/>
          <p:cNvSpPr/>
          <p:nvPr/>
        </p:nvSpPr>
        <p:spPr>
          <a:xfrm>
            <a:off x="7635240" y="2194560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visibility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823" y="2295144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320" y="21671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YOLOv8n + ByteTrack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468879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Persistent track IDs; degenerate boxes filtered</a:t>
            </a:r>
          </a:p>
        </p:txBody>
      </p:sp>
      <p:sp>
        <p:nvSpPr>
          <p:cNvPr id="14" name="Oval 13"/>
          <p:cNvSpPr/>
          <p:nvPr/>
        </p:nvSpPr>
        <p:spPr>
          <a:xfrm>
            <a:off x="7635240" y="3063239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moto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823" y="316382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20" y="30358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Rider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337559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A person on a two-wheeler is one road user, not a pedestrian</a:t>
            </a:r>
          </a:p>
        </p:txBody>
      </p:sp>
      <p:sp>
        <p:nvSpPr>
          <p:cNvPr id="18" name="Oval 17"/>
          <p:cNvSpPr/>
          <p:nvPr/>
        </p:nvSpPr>
        <p:spPr>
          <a:xfrm>
            <a:off x="7635240" y="3931920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auto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823" y="403250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3904487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Auto-rickshaw refinement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20624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CLIP zero-shot re-check of truck/bus tracks → “auto (est.)”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4800600"/>
            <a:ext cx="457200" cy="45720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cow_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3" y="4901184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5320" y="47731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3F5F7"/>
                </a:solidFill>
                <a:latin typeface="Calibri"/>
              </a:rPr>
              <a:t>Animals &amp; vulnerable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507492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Cattle, dogs and pedestrians get larger safety margins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5669280"/>
            <a:ext cx="406908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818120" y="5669280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Calibri"/>
              </a:rPr>
              <a:t>14</a:t>
            </a:r>
            <a:r>
              <a:rPr sz="1150" b="0" i="0">
                <a:solidFill>
                  <a:srgbClr val="A3AFBB"/>
                </a:solidFill>
                <a:latin typeface="Calibri"/>
              </a:rPr>
              <a:t>  auto-rickshaw tracks confirmed across the 6 Indian clips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DEPTH + EGO-MOTION + BIRD'S-EYE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From one camera to a top-down map of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08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56032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layers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59152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2834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3F5F7"/>
                </a:solidFill>
                <a:latin typeface="Calibri"/>
              </a:rPr>
              <a:t>Relative depth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2724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Depth-Anything-V2-Small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81528" y="2898648"/>
            <a:ext cx="23774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37560" y="2194560"/>
            <a:ext cx="256032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ule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2359152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0440" y="2834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3F5F7"/>
                </a:solidFill>
                <a:latin typeface="Calibri"/>
              </a:rPr>
              <a:t>Road-plane 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2724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flat-road fit per frame; horizon &amp; camera height self-calibrated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16168" y="2898648"/>
            <a:ext cx="23774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72200" y="2194560"/>
            <a:ext cx="256032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speed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359152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5080" y="2834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3F5F7"/>
                </a:solidFill>
                <a:latin typeface="Calibri"/>
              </a:rPr>
              <a:t>Ego-motion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2724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optical flow on the road → speed estimate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50808" y="2898648"/>
            <a:ext cx="237744" cy="0"/>
          </a:xfrm>
          <a:prstGeom prst="line">
            <a:avLst/>
          </a:prstGeom>
          <a:ln w="1905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06840" y="2194560"/>
            <a:ext cx="256032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map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359152"/>
            <a:ext cx="411480" cy="4114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89720" y="2834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3F5F7"/>
                </a:solidFill>
                <a:latin typeface="Calibri"/>
              </a:rPr>
              <a:t>BEV costmap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12724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0.5 m cells, collision radius, 2 m emergency gap</a:t>
            </a:r>
          </a:p>
        </p:txBody>
      </p:sp>
      <p:pic>
        <p:nvPicPr>
          <p:cNvPr id="28" name="Picture 27" descr="bev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840480"/>
            <a:ext cx="2253224" cy="242316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pic>
        <p:nvPicPr>
          <p:cNvPr id="29" name="Picture 28" descr="bev_full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97480" y="3840480"/>
            <a:ext cx="6080760" cy="242316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sp>
        <p:nvSpPr>
          <p:cNvPr id="30" name="Rounded Rectangle 29"/>
          <p:cNvSpPr/>
          <p:nvPr/>
        </p:nvSpPr>
        <p:spPr>
          <a:xfrm>
            <a:off x="8961120" y="3840480"/>
            <a:ext cx="2743200" cy="2423160"/>
          </a:xfrm>
          <a:prstGeom prst="roundRect">
            <a:avLst>
              <a:gd name="adj" fmla="val 5283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0" y="39776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59E0B"/>
                </a:solidFill>
                <a:latin typeface="Calibri"/>
              </a:rPr>
              <a:t>Honest about depth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315968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Monocular distances are calibrated estimates, not metric sensor ranges. Checked against a car-width prior; no LiDAR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ADAPTIVE PATH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17 candidate trajectories, re-scored every 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09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5486400" cy="4023360"/>
          </a:xfrm>
          <a:prstGeom prst="roundRect">
            <a:avLst>
              <a:gd name="adj" fmla="val 409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 flipH="1" flipV="1">
            <a:off x="1845068" y="2675602"/>
            <a:ext cx="1401052" cy="3267998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2016899" y="2648701"/>
            <a:ext cx="1229221" cy="3294899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190047" y="2625328"/>
            <a:ext cx="1056073" cy="3318272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2364326" y="2605509"/>
            <a:ext cx="881794" cy="3338091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2539549" y="2589264"/>
            <a:ext cx="706571" cy="3354336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2715528" y="2576611"/>
            <a:ext cx="530592" cy="3366989"/>
          </a:xfrm>
          <a:prstGeom prst="line">
            <a:avLst/>
          </a:prstGeom>
          <a:ln w="444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2892076" y="2567563"/>
            <a:ext cx="354044" cy="3376037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3069003" y="2562131"/>
            <a:ext cx="177117" cy="3381469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246120" y="2560320"/>
            <a:ext cx="0" cy="3383280"/>
          </a:xfrm>
          <a:prstGeom prst="line">
            <a:avLst/>
          </a:prstGeom>
          <a:ln w="1905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246120" y="2562131"/>
            <a:ext cx="177116" cy="3381469"/>
          </a:xfrm>
          <a:prstGeom prst="line">
            <a:avLst/>
          </a:prstGeom>
          <a:ln w="1905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246120" y="2567563"/>
            <a:ext cx="354043" cy="3376037"/>
          </a:xfrm>
          <a:prstGeom prst="line">
            <a:avLst/>
          </a:prstGeom>
          <a:ln w="1905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246120" y="2576611"/>
            <a:ext cx="530591" cy="3366989"/>
          </a:xfrm>
          <a:prstGeom prst="line">
            <a:avLst/>
          </a:prstGeom>
          <a:ln w="1905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46120" y="2589264"/>
            <a:ext cx="706570" cy="3354336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46120" y="2605509"/>
            <a:ext cx="881793" cy="3338091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246120" y="2625328"/>
            <a:ext cx="1056072" cy="3318272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246120" y="2648701"/>
            <a:ext cx="1229220" cy="3294899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246120" y="2675602"/>
            <a:ext cx="1401051" cy="3267998"/>
          </a:xfrm>
          <a:prstGeom prst="line">
            <a:avLst/>
          </a:prstGeom>
          <a:ln w="19050">
            <a:solidFill>
              <a:srgbClr val="3B46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971800" y="5852160"/>
            <a:ext cx="548640" cy="347472"/>
          </a:xfrm>
          <a:prstGeom prst="roundRect">
            <a:avLst>
              <a:gd name="adj" fmla="val 21052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971800" y="5852160"/>
            <a:ext cx="5486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0B0E11"/>
                </a:solidFill>
                <a:latin typeface="Calibri"/>
              </a:rPr>
              <a:t>EGO</a:t>
            </a:r>
          </a:p>
        </p:txBody>
      </p:sp>
      <p:sp>
        <p:nvSpPr>
          <p:cNvPr id="29" name="Oval 28"/>
          <p:cNvSpPr/>
          <p:nvPr/>
        </p:nvSpPr>
        <p:spPr>
          <a:xfrm>
            <a:off x="3246120" y="3246120"/>
            <a:ext cx="457200" cy="457200"/>
          </a:xfrm>
          <a:prstGeom prst="ellipse">
            <a:avLst/>
          </a:prstGeom>
          <a:solidFill>
            <a:srgbClr val="181D2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auto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331927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1520" y="2331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D4BF"/>
                </a:solidFill>
                <a:latin typeface="Calibri"/>
              </a:rPr>
              <a:t>■ 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chosen arc   </a:t>
            </a:r>
            <a:r>
              <a:rPr sz="1100" b="0" i="0">
                <a:solidFill>
                  <a:srgbClr val="EF4444"/>
                </a:solidFill>
                <a:latin typeface="Calibri"/>
              </a:rPr>
              <a:t>■ 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blocked   </a:t>
            </a:r>
            <a:r>
              <a:rPr sz="1100" b="0" i="0">
                <a:solidFill>
                  <a:srgbClr val="3B4652"/>
                </a:solidFill>
                <a:latin typeface="Calibri"/>
              </a:rPr>
              <a:t>■ 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free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402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Cost per arc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54203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Collision cost along the arc + curvature + deviation from the previous choice (smoothness)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063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Hard vs soft cost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36499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Only CRITICAL occupancy is lethal; nearby objects add soft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886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Bicycle kinematics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18795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Arcs span ±15° steering for a 2.7 m wheelbase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091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All blocked?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01091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NO SAFE PATH - BRAKE — only while every arc stays blocked (0.3 s debounce)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5532120"/>
            <a:ext cx="5349240" cy="713232"/>
          </a:xfrm>
          <a:prstGeom prst="roundRect">
            <a:avLst>
              <a:gd name="adj" fmla="val 1282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492240" y="5614416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92240" y="5614416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907024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3F5F7"/>
                </a:solidFill>
                <a:latin typeface="Calibri"/>
              </a:rPr>
              <a:t>Replanning 2.5 ms/frame · recommended steering holds steady (median rate 0°/s), p95 ≤ 54°/s · 6 Indian clips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RISK &amp; DECISION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Threat = conflict with the ego path, not “object is close”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10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3AFBB"/>
                </a:solidFill>
                <a:latin typeface="Calibri"/>
              </a:rPr>
              <a:t>PATH-CONFLICT CLASS PER OBJECT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EF4444"/>
                </a:solidFill>
                <a:latin typeface="Calibri"/>
              </a:rPr>
              <a:t>IN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5328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inside the corridor, closing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7296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3172968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97316"/>
                </a:solidFill>
                <a:latin typeface="Calibri"/>
              </a:rPr>
              <a:t>ENTERING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1912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lateral motion into the corridor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31335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3831335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59E0B"/>
                </a:solidFill>
                <a:latin typeface="Calibri"/>
              </a:rPr>
              <a:t>APPROACHING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849623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drifting toward the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89704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02920" y="4489704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38BDF8"/>
                </a:solidFill>
                <a:latin typeface="Calibri"/>
              </a:rPr>
              <a:t>NEAR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45079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close, but parallel / moving away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48072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148072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22C55E"/>
                </a:solidFill>
                <a:latin typeface="Calibri"/>
              </a:rPr>
              <a:t>CLEAR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516635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3AFBB"/>
                </a:solidFill>
                <a:latin typeface="Calibri"/>
              </a:rPr>
              <a:t>no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148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3AFBB"/>
                </a:solidFill>
                <a:latin typeface="Calibri"/>
              </a:rPr>
              <a:t>DECISION (with hysteresis)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51460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12161B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5989320" y="2734056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91072" y="26334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2C55E"/>
                </a:solidFill>
                <a:latin typeface="Calibri"/>
              </a:rPr>
              <a:t>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30266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path clear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251460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12161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006840" y="2734056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08592" y="26334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libri"/>
              </a:rPr>
              <a:t>SLOW 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30266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risk developing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37033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12161B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989320" y="3922776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91072" y="3822191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F4444"/>
                </a:solidFill>
                <a:latin typeface="Calibri"/>
              </a:rPr>
              <a:t>BRAKE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215383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conflict imminent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37033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12161B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006840" y="3922776"/>
            <a:ext cx="182880" cy="182880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308592" y="3822191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F4444"/>
                </a:solidFill>
                <a:latin typeface="Calibri"/>
              </a:rPr>
              <a:t>NO SAFE PATH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08592" y="4215383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3AFBB"/>
                </a:solidFill>
                <a:latin typeface="Calibri"/>
              </a:rPr>
              <a:t>every arc blocked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4937760"/>
            <a:ext cx="5806440" cy="1280160"/>
          </a:xfrm>
          <a:prstGeom prst="roundRect">
            <a:avLst>
              <a:gd name="adj" fmla="val 10000"/>
            </a:avLst>
          </a:prstGeom>
          <a:solidFill>
            <a:srgbClr val="0F1B1A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89320" y="504748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libri"/>
              </a:rPr>
              <a:t>India drives on the left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5376672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An oncoming vehicle on its own side → GO / monitor. Drifting toward us → SLOW DOWN. Entering the corridor → BRAKE. Wrong-way vehicle on our side → flagged.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INDIAN-ROAD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The five PS scenarios on real Indian footage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11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103120" cy="4023360"/>
          </a:xfrm>
          <a:prstGeom prst="roundRect">
            <a:avLst>
              <a:gd name="adj" fmla="val 60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en_ka_kad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86000"/>
            <a:ext cx="1920240" cy="1127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52044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Unmarked village road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Rural highway, curves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3F5F7"/>
                </a:solidFill>
                <a:latin typeface="Calibri"/>
              </a:rPr>
              <a:t>47.6 s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  ·  BRAKE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5780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Calibri"/>
              </a:rPr>
              <a:t>REAL CLIP · PROXY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F7C89"/>
                </a:solidFill>
                <a:latin typeface="Calibri"/>
              </a:rPr>
              <a:t>CC0 · L. Shyamal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2194560"/>
            <a:ext cx="2103120" cy="4023360"/>
          </a:xfrm>
          <a:prstGeom prst="roundRect">
            <a:avLst>
              <a:gd name="adj" fmla="val 60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cen_india_bangalo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2286000"/>
            <a:ext cx="1920240" cy="11272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26079" y="352044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Urban intersection, no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79" y="406908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Dense mixed traffic &amp; queue (no turning manoeuvre)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79" y="484632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3F5F7"/>
                </a:solidFill>
                <a:latin typeface="Calibri"/>
              </a:rPr>
              <a:t>126.8 s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  ·  BRAKE 7.2%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79" y="525780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26079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Calibri"/>
              </a:rPr>
              <a:t>REAL CLIP · PROXY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79" y="56692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F7C89"/>
                </a:solidFill>
                <a:latin typeface="Calibri"/>
              </a:rPr>
              <a:t>CC0 · L. Shyamal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2194560"/>
            <a:ext cx="2103120" cy="4023360"/>
          </a:xfrm>
          <a:prstGeom prst="roundRect">
            <a:avLst>
              <a:gd name="adj" fmla="val 60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scen_india_cvram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6359" y="2286000"/>
            <a:ext cx="1920240" cy="11272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212080" y="352044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Highway merge, slow vehicles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06908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Arterial cut-ins + synthetic cut-in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84632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3F5F7"/>
                </a:solidFill>
                <a:latin typeface="Calibri"/>
              </a:rPr>
              <a:t>48.3 s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  ·  BRAKE 4.1%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80" y="525780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212080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Calibri"/>
              </a:rPr>
              <a:t>REAL CLIP · PROXY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56692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F7C89"/>
                </a:solidFill>
                <a:latin typeface="Calibri"/>
              </a:rPr>
              <a:t>CC0 · L. Shyamal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2194560"/>
            <a:ext cx="2103120" cy="4023360"/>
          </a:xfrm>
          <a:prstGeom prst="roundRect">
            <a:avLst>
              <a:gd name="adj" fmla="val 60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scen_blr_iis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2286000"/>
            <a:ext cx="1920240" cy="11272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498080" y="352044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Dense market, mixed traffic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406908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Pedestrians on the carriageway, two-wheelers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484632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3F5F7"/>
                </a:solidFill>
                <a:latin typeface="Calibri"/>
              </a:rPr>
              <a:t>85.6 s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  ·  BRAKE 22.7%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525780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498080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Calibri"/>
              </a:rPr>
              <a:t>REAL CLIP · PROXY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56692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F7C89"/>
                </a:solidFill>
                <a:latin typeface="Calibri"/>
              </a:rPr>
              <a:t>CC0 · L. Shyamal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46920" y="2194560"/>
            <a:ext cx="2103120" cy="4023360"/>
          </a:xfrm>
          <a:prstGeom prst="roundRect">
            <a:avLst>
              <a:gd name="adj" fmla="val 608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scen_delhi_cattl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0" y="2286000"/>
            <a:ext cx="1920240" cy="11272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784080" y="352044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Sudden cattle crossing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8745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Cattle crossing at a traffic island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484632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3F5F7"/>
                </a:solidFill>
                <a:latin typeface="Calibri"/>
              </a:rPr>
              <a:t>45.0 s</a:t>
            </a:r>
            <a:r>
              <a:rPr sz="1100" b="0" i="0">
                <a:solidFill>
                  <a:srgbClr val="A3AFBB"/>
                </a:solidFill>
                <a:latin typeface="Calibri"/>
              </a:rPr>
              <a:t>  ·  BRAKE 65.8%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84080" y="525780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784080" y="52578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REAL CLIP · COVERED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5669280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F7C89"/>
                </a:solidFill>
                <a:latin typeface="Calibri"/>
              </a:rPr>
              <a:t>CC BY-SA 3.0 · Fowler&amp;fowler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WEB APP &amp; 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One command: python app.py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12 / 17</a:t>
            </a:r>
          </a:p>
        </p:txBody>
      </p:sp>
      <p:pic>
        <p:nvPicPr>
          <p:cNvPr id="9" name="Picture 8" descr="web_web_ev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94560"/>
            <a:ext cx="5120640" cy="320040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pic>
        <p:nvPicPr>
          <p:cNvPr id="10" name="Picture 9" descr="web_web_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194560"/>
            <a:ext cx="1859136" cy="402336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sp>
        <p:nvSpPr>
          <p:cNvPr id="11" name="Oval 10"/>
          <p:cNvSpPr/>
          <p:nvPr/>
        </p:nvSpPr>
        <p:spPr>
          <a:xfrm>
            <a:off x="7863840" y="2194560"/>
            <a:ext cx="420624" cy="420624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upload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6377" y="2287097"/>
            <a:ext cx="235549" cy="2355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30768" y="2167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Upload → process → 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2450591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GPU pipeline with live progress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2980944"/>
            <a:ext cx="420624" cy="420624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event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6377" y="3073481"/>
            <a:ext cx="235549" cy="2355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30768" y="29535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Clickable event 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3236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“why did it brake here?” + replay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3767328"/>
            <a:ext cx="420624" cy="420624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mobile_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6377" y="3859865"/>
            <a:ext cx="235549" cy="2355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30768" y="37398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Phone camera → 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40233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HTTPS on the LAN, results overlaid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0" y="4553712"/>
            <a:ext cx="420624" cy="420624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tune_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6377" y="4646249"/>
            <a:ext cx="235549" cy="2355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30768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3F5F7"/>
                </a:solidFill>
                <a:latin typeface="Calibri"/>
              </a:rPr>
              <a:t>Dark / light, responsive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480974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3AFBB"/>
                </a:solidFill>
                <a:latin typeface="Calibri"/>
              </a:rPr>
              <a:t>desktop · tablet · phone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5440680"/>
            <a:ext cx="3840480" cy="777240"/>
          </a:xfrm>
          <a:prstGeom prst="roundRect">
            <a:avLst>
              <a:gd name="adj" fmla="val 11764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001000" y="5513832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01000" y="5513832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81558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3F5F7"/>
                </a:solidFill>
                <a:latin typeface="Calibri"/>
              </a:rPr>
              <a:t>Live mode 11.0 FPS · round trip 76 ms · 640×360, server on the same PC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350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F7C89"/>
                </a:solidFill>
                <a:latin typeface="Calibri"/>
              </a:rPr>
              <a:t>Events view: every BRAKE with its reason and the responsible object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ACCIDENT DETECTION &amp; EMERGENCY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Detect conservatively. Confirm with a human. Never call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crash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58568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1945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Accident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505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multi-cue + persistence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2724912"/>
            <a:ext cx="0" cy="91440"/>
          </a:xfrm>
          <a:prstGeom prst="line">
            <a:avLst/>
          </a:prstGeom>
          <a:ln w="15875">
            <a:solidFill>
              <a:srgbClr val="6F7C8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2920" y="2825496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check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935224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2871215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1272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impact / jolt / stop + stillness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68880" y="3401568"/>
            <a:ext cx="0" cy="91440"/>
          </a:xfrm>
          <a:prstGeom prst="line">
            <a:avLst/>
          </a:prstGeom>
          <a:ln w="15875">
            <a:solidFill>
              <a:srgbClr val="6F7C8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2920" y="3502152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location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11880"/>
            <a:ext cx="347472" cy="3474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5478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8039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browser GPS or labelled demo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4078224"/>
            <a:ext cx="0" cy="91440"/>
          </a:xfrm>
          <a:prstGeom prst="line">
            <a:avLst/>
          </a:prstGeom>
          <a:ln w="15875">
            <a:solidFill>
              <a:srgbClr val="6F7C8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4178808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one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88536"/>
            <a:ext cx="347472" cy="3474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2245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Emergency contact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simulated SMS / e-mail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68880" y="4754880"/>
            <a:ext cx="0" cy="91440"/>
          </a:xfrm>
          <a:prstGeom prst="line">
            <a:avLst/>
          </a:prstGeom>
          <a:ln w="15875">
            <a:solidFill>
              <a:srgbClr val="6F7C8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2920" y="4855464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ospital_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965192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Nearby hospital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15721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OpenStreetMap lookup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8880" y="5431536"/>
            <a:ext cx="0" cy="91440"/>
          </a:xfrm>
          <a:prstGeom prst="line">
            <a:avLst/>
          </a:prstGeom>
          <a:ln w="15875">
            <a:solidFill>
              <a:srgbClr val="6F7C8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553212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12161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ambulance_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641848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3000" y="55778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Ambulance request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58338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3AFBB"/>
                </a:solidFill>
                <a:latin typeface="Calibri"/>
              </a:rPr>
              <a:t>SIMULATION — user confirms</a:t>
            </a:r>
          </a:p>
        </p:txBody>
      </p:sp>
      <p:pic>
        <p:nvPicPr>
          <p:cNvPr id="38" name="Picture 37" descr="web_web_emergency_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440" y="2148840"/>
            <a:ext cx="3134880" cy="4069080"/>
          </a:xfrm>
          <a:prstGeom prst="rect">
            <a:avLst/>
          </a:prstGeom>
          <a:ln w="9525">
            <a:solidFill>
              <a:srgbClr val="262D36"/>
            </a:solidFill>
          </a:ln>
        </p:spPr>
      </p:pic>
      <p:sp>
        <p:nvSpPr>
          <p:cNvPr id="39" name="Rounded Rectangle 38"/>
          <p:cNvSpPr/>
          <p:nvPr/>
        </p:nvSpPr>
        <p:spPr>
          <a:xfrm>
            <a:off x="8092440" y="2148840"/>
            <a:ext cx="3611880" cy="1920240"/>
          </a:xfrm>
          <a:prstGeom prst="roundRect">
            <a:avLst>
              <a:gd name="adj" fmla="val 5714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8229600" y="2258568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600" y="2258568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26060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Real public-domain dashcam rear-end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29260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NOT CONFIRMED</a:t>
            </a:r>
            <a:r>
              <a:rPr sz="1050" b="0" i="0">
                <a:solidFill>
                  <a:srgbClr val="A3AFBB"/>
                </a:solidFill>
                <a:latin typeface="Calibri"/>
              </a:rPr>
              <a:t>  — the cutting-in car filled the frame, motion-blurred; the detector lost it in the last second (conf &lt; 0.2). Near-field sensing needed.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4206240"/>
            <a:ext cx="3611880" cy="1005840"/>
          </a:xfrm>
          <a:prstGeom prst="roundRect">
            <a:avLst>
              <a:gd name="adj" fmla="val 10909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29600" y="4315968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C55E"/>
                </a:solidFill>
                <a:latin typeface="Calibri"/>
              </a:rPr>
              <a:t>6 / 6</a:t>
            </a:r>
          </a:p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Indian drives without a false accident confirmation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5349240"/>
            <a:ext cx="3611880" cy="868680"/>
          </a:xfrm>
          <a:prstGeom prst="roundRect">
            <a:avLst>
              <a:gd name="adj" fmla="val 12631"/>
            </a:avLst>
          </a:prstGeom>
          <a:solidFill>
            <a:srgbClr val="1F0F10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542239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5F7"/>
                </a:solidFill>
                <a:latin typeface="Calibri"/>
              </a:rPr>
              <a:t>Nothing is sent or called. Real services need an authorised provider, credentials outside Git and explicit user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VALIDATION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What we measured — and on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14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260604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60/60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regression scenarios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2724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synthetic decision scenarios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148840"/>
            <a:ext cx="260604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40" y="22128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2DD4B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real Indian drives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2724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7.5 min, CC-licensed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48840"/>
            <a:ext cx="260604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22128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38BDF8"/>
                </a:solidFill>
                <a:latin typeface="Calibri"/>
              </a:rPr>
              <a:t>8.6–9.0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FPS offline (720p)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2724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RTX 3050 6GB Laptop GPU · not real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2148840"/>
            <a:ext cx="2606040" cy="1417320"/>
          </a:xfrm>
          <a:prstGeom prst="roundRect">
            <a:avLst>
              <a:gd name="adj" fmla="val 903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89720" y="221284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9E0B"/>
                </a:solidFill>
                <a:latin typeface="Calibri"/>
              </a:rPr>
              <a:t>211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3F5F7"/>
                </a:solidFill>
                <a:latin typeface="Calibri"/>
              </a:rPr>
              <a:t>behaviour cues logged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312724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3AFBB"/>
                </a:solidFill>
                <a:latin typeface="Calibri"/>
              </a:rPr>
              <a:t>cut-in · crossing · oncoming · side-pass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730752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3730752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069080"/>
          <a:ext cx="11201400" cy="21762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3520440"/>
                <a:gridCol w="914400"/>
                <a:gridCol w="1005840"/>
                <a:gridCol w="1005840"/>
                <a:gridCol w="1371600"/>
                <a:gridCol w="777240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Clip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GO %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SLOW %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BRAKE %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BRAKE episodes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Autos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A3AFBB"/>
                          </a:solidFill>
                          <a:latin typeface="Calibri"/>
                        </a:rPr>
                        <a:t>FPS</a:t>
                      </a:r>
                    </a:p>
                  </a:txBody>
                  <a:tcPr marL="73152" marR="73152" marT="18288" marB="18288" anchor="ctr">
                    <a:solidFill>
                      <a:srgbClr val="181D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ka_kadur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Rural highway / village-type road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100.0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8.98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india_bangalore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Dense mixed traffic, autos, queue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86.3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7.2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8.65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india_newbel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Narrow road, pedestrians, oncoming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46.8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38.6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8.62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india_cvraman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Arterial road, cut-ins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56.0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39.9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8.75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blr_iisc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Pedestrians on the carriageway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26.7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50.6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22.7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8.55</a:t>
                      </a:r>
                    </a:p>
                  </a:txBody>
                  <a:tcPr marL="73152" marR="73152" marT="18288" marB="18288" anchor="ctr">
                    <a:solidFill>
                      <a:srgbClr val="12161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onsolas"/>
                        </a:rPr>
                        <a:t>delhi_cattle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Cattle crossing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30.5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F3F5F7"/>
                          </a:solidFill>
                          <a:latin typeface="Calibri"/>
                        </a:rPr>
                        <a:t>8.59</a:t>
                      </a:r>
                    </a:p>
                  </a:txBody>
                  <a:tcPr marL="73152" marR="73152" marT="18288" marB="18288" anchor="ctr">
                    <a:solidFill>
                      <a:srgbClr val="0B0E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WHAT IS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Built for Indian traffic, explainable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15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77240" y="2450591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merge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0" y="2571292"/>
            <a:ext cx="307238" cy="3072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089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Directional path-threat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643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Left-hand traffic aware: oncoming on its side is not a threat; drifting or entering 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2000" y="2450591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auto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700" y="2571292"/>
            <a:ext cx="307238" cy="30723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0" y="31089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Indian road-user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5643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Auto-rickshaw refinement, rider merge, cattle and pedestrian margins.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19456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366760" y="2450591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event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7460" y="2571292"/>
            <a:ext cx="307238" cy="3072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66760" y="31089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Explainable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45643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Every BRAKE has a reason, a responsible object and a replayable clip.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062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77240" y="4462272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check_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40" y="4582972"/>
            <a:ext cx="307238" cy="30723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120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Safety regression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6811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60 scenarios incl. cut-ins, crossings, wrong-way and accident false alarms.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2062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72000" y="4462272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crash_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700" y="4582972"/>
            <a:ext cx="307238" cy="3072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72000" y="5120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Confirmation-first emergency 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46811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Conservative detection; nothing is sent without a human.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2062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366760" y="4462272"/>
            <a:ext cx="548640" cy="548640"/>
          </a:xfrm>
          <a:prstGeom prst="ellipse">
            <a:avLst/>
          </a:prstGeom>
          <a:solidFill>
            <a:srgbClr val="181D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mobile_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7460" y="4582972"/>
            <a:ext cx="307238" cy="30723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5120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3F5F7"/>
                </a:solidFill>
                <a:latin typeface="Calibri"/>
              </a:rPr>
              <a:t>Phone-to-PC live mode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5468112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A3AFBB"/>
                </a:solidFill>
                <a:latin typeface="Calibri"/>
              </a:rPr>
              <a:t>Any phone camera; heavy models stay on the PC GPU.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out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9184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3017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3291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A3AFBB"/>
                </a:solidFill>
                <a:latin typeface="Calibri"/>
              </a:rPr>
              <a:t>SMART INDIA HACKATHON 2026  ·  PS 26037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DD4BF"/>
                </a:solidFill>
                <a:latin typeface="Calibri"/>
              </a:rPr>
              <a:t>LIMITATIONS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3F5F7"/>
                </a:solidFill>
                <a:latin typeface="Calibri"/>
              </a:rPr>
              <a:t>Where the prototype stands — stated plainly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F7C89"/>
                </a:solidFill>
                <a:latin typeface="Calibri"/>
              </a:rPr>
              <a:t>PathSense — research prototype, not a certified autonomous-driving or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F7C89"/>
                </a:solidFill>
                <a:latin typeface="Calibri"/>
              </a:rPr>
              <a:t>16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3566160" cy="4023360"/>
          </a:xfrm>
          <a:prstGeom prst="roundRect">
            <a:avLst>
              <a:gd name="adj" fmla="val 410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683306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68330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2C55E"/>
                </a:solidFill>
                <a:latin typeface="Calibri"/>
              </a:rPr>
              <a:t>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614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Today (measured)</a:t>
            </a:r>
          </a:p>
        </p:txBody>
      </p:sp>
      <p:sp>
        <p:nvSpPr>
          <p:cNvPr id="13" name="Oval 12"/>
          <p:cNvSpPr/>
          <p:nvPr/>
        </p:nvSpPr>
        <p:spPr>
          <a:xfrm>
            <a:off x="795528" y="333756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0584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60/60 synthetic scenarios pass</a:t>
            </a:r>
          </a:p>
        </p:txBody>
      </p:sp>
      <p:sp>
        <p:nvSpPr>
          <p:cNvPr id="15" name="Oval 14"/>
          <p:cNvSpPr/>
          <p:nvPr/>
        </p:nvSpPr>
        <p:spPr>
          <a:xfrm>
            <a:off x="795528" y="3904487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5840" y="3813048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6 real Indian clips, offline 8.6–9.0 FPS</a:t>
            </a:r>
          </a:p>
        </p:txBody>
      </p:sp>
      <p:sp>
        <p:nvSpPr>
          <p:cNvPr id="17" name="Oval 16"/>
          <p:cNvSpPr/>
          <p:nvPr/>
        </p:nvSpPr>
        <p:spPr>
          <a:xfrm>
            <a:off x="795528" y="4471416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437997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Live mode 11.0 FPS (same-PC benchmark)</a:t>
            </a:r>
          </a:p>
        </p:txBody>
      </p:sp>
      <p:sp>
        <p:nvSpPr>
          <p:cNvPr id="19" name="Oval 18"/>
          <p:cNvSpPr/>
          <p:nvPr/>
        </p:nvSpPr>
        <p:spPr>
          <a:xfrm>
            <a:off x="795528" y="5038344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05840" y="4946904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Accident flow: synthetic tests + labelled demo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2194560"/>
            <a:ext cx="3566160" cy="4023360"/>
          </a:xfrm>
          <a:prstGeom prst="roundRect">
            <a:avLst>
              <a:gd name="adj" fmla="val 410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72000" y="2377440"/>
            <a:ext cx="1488809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77440"/>
            <a:ext cx="148880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38BDF8"/>
                </a:solidFill>
                <a:latin typeface="Calibri"/>
              </a:rPr>
              <a:t>PROTOTYPE CAPABILITY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7614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Prototype limits</a:t>
            </a:r>
          </a:p>
        </p:txBody>
      </p:sp>
      <p:sp>
        <p:nvSpPr>
          <p:cNvPr id="25" name="Oval 24"/>
          <p:cNvSpPr/>
          <p:nvPr/>
        </p:nvSpPr>
        <p:spPr>
          <a:xfrm>
            <a:off x="4590288" y="3337560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0060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Camera only — misses frame-filling, blurred vehicles at contact range</a:t>
            </a:r>
          </a:p>
        </p:txBody>
      </p:sp>
      <p:sp>
        <p:nvSpPr>
          <p:cNvPr id="27" name="Oval 26"/>
          <p:cNvSpPr/>
          <p:nvPr/>
        </p:nvSpPr>
        <p:spPr>
          <a:xfrm>
            <a:off x="4590288" y="3904487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00600" y="3813048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Monocular depth: estimates, not metric</a:t>
            </a:r>
          </a:p>
        </p:txBody>
      </p:sp>
      <p:sp>
        <p:nvSpPr>
          <p:cNvPr id="29" name="Oval 28"/>
          <p:cNvSpPr/>
          <p:nvPr/>
        </p:nvSpPr>
        <p:spPr>
          <a:xfrm>
            <a:off x="4590288" y="4471416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800600" y="437997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Open-loop on recorded video — no vehicle control</a:t>
            </a:r>
          </a:p>
        </p:txBody>
      </p:sp>
      <p:sp>
        <p:nvSpPr>
          <p:cNvPr id="31" name="Oval 30"/>
          <p:cNvSpPr/>
          <p:nvPr/>
        </p:nvSpPr>
        <p:spPr>
          <a:xfrm>
            <a:off x="4590288" y="5038344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00600" y="4946904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Daytime clips; no night or rain</a:t>
            </a:r>
          </a:p>
        </p:txBody>
      </p:sp>
      <p:sp>
        <p:nvSpPr>
          <p:cNvPr id="33" name="Oval 32"/>
          <p:cNvSpPr/>
          <p:nvPr/>
        </p:nvSpPr>
        <p:spPr>
          <a:xfrm>
            <a:off x="4590288" y="5605271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800600" y="5513831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Not real time on a laptop GPU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2194560"/>
            <a:ext cx="3566160" cy="4023360"/>
          </a:xfrm>
          <a:prstGeom prst="roundRect">
            <a:avLst>
              <a:gd name="adj" fmla="val 4102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8366760" y="2377440"/>
            <a:ext cx="884682" cy="246888"/>
          </a:xfrm>
          <a:prstGeom prst="roundRect">
            <a:avLst>
              <a:gd name="adj" fmla="val 50000"/>
            </a:avLst>
          </a:prstGeom>
          <a:solidFill>
            <a:srgbClr val="181D2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66760" y="2377440"/>
            <a:ext cx="8846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59E0B"/>
                </a:solidFill>
                <a:latin typeface="Calibri"/>
              </a:rPr>
              <a:t>FUTURE 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7614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3F5F7"/>
                </a:solidFill>
                <a:latin typeface="Calibri"/>
              </a:rPr>
              <a:t>Next steps</a:t>
            </a:r>
          </a:p>
        </p:txBody>
      </p:sp>
      <p:sp>
        <p:nvSpPr>
          <p:cNvPr id="39" name="Oval 38"/>
          <p:cNvSpPr/>
          <p:nvPr/>
        </p:nvSpPr>
        <p:spPr>
          <a:xfrm>
            <a:off x="8385048" y="333756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595360" y="32461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MATLAB / Simulink port, RoadRunner village &amp; intersection scenes</a:t>
            </a:r>
          </a:p>
        </p:txBody>
      </p:sp>
      <p:sp>
        <p:nvSpPr>
          <p:cNvPr id="41" name="Oval 40"/>
          <p:cNvSpPr/>
          <p:nvPr/>
        </p:nvSpPr>
        <p:spPr>
          <a:xfrm>
            <a:off x="8385048" y="3904487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595360" y="3813048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Closed-loop tests with a bicycle model; completion-rate metrics</a:t>
            </a:r>
          </a:p>
        </p:txBody>
      </p:sp>
      <p:sp>
        <p:nvSpPr>
          <p:cNvPr id="43" name="Oval 42"/>
          <p:cNvSpPr/>
          <p:nvPr/>
        </p:nvSpPr>
        <p:spPr>
          <a:xfrm>
            <a:off x="8385048" y="4471416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595360" y="437997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Camera + radar/LiDAR fusion (Automated Driving Toolbox)</a:t>
            </a:r>
          </a:p>
        </p:txBody>
      </p:sp>
      <p:sp>
        <p:nvSpPr>
          <p:cNvPr id="45" name="Oval 44"/>
          <p:cNvSpPr/>
          <p:nvPr/>
        </p:nvSpPr>
        <p:spPr>
          <a:xfrm>
            <a:off x="8385048" y="5038344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95360" y="4946904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IDD fine-tuning for autos, pushcarts, animals</a:t>
            </a:r>
          </a:p>
        </p:txBody>
      </p:sp>
      <p:sp>
        <p:nvSpPr>
          <p:cNvPr id="47" name="Oval 46"/>
          <p:cNvSpPr/>
          <p:nvPr/>
        </p:nvSpPr>
        <p:spPr>
          <a:xfrm>
            <a:off x="8385048" y="5605271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595360" y="5513831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3F5F7"/>
                </a:solidFill>
                <a:latin typeface="Calibri"/>
              </a:rPr>
              <a:t>Authorised emergency-provider integration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route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1097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3F5F7"/>
                </a:solidFill>
                <a:latin typeface="Calibri"/>
              </a:rPr>
              <a:t>PathSense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3F5F7"/>
                </a:solidFill>
                <a:latin typeface="Calibri"/>
              </a:rPr>
              <a:t>Perceive the chaos. Predict the conflict. Plan the safest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3AFBB"/>
                </a:solidFill>
                <a:latin typeface="Calibri"/>
              </a:rPr>
              <a:t>A working, explainable research prototype for Indian mixed traffic — with honest numbers and a clear path to a MATLAB / RoadRunner closed-loop evaluation.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4754880" cy="548640"/>
          </a:xfrm>
          <a:prstGeom prst="roundRect">
            <a:avLst>
              <a:gd name="adj" fmla="val 16666"/>
            </a:avLst>
          </a:prstGeom>
          <a:solidFill>
            <a:srgbClr val="12161B"/>
          </a:solidFill>
          <a:ln w="9525">
            <a:solidFill>
              <a:srgbClr val="262D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2DD4BF"/>
                </a:solidFill>
                <a:latin typeface="Consolas"/>
              </a:rPr>
              <a:t>$ </a:t>
            </a:r>
            <a:r>
              <a:rPr sz="1500" b="1" i="0">
                <a:solidFill>
                  <a:srgbClr val="F3F5F7"/>
                </a:solidFill>
                <a:latin typeface="Consolas"/>
              </a:rPr>
              <a:t>python app.py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Calibri"/>
              </a:rPr>
              <a:t>Thank you  ·  SIH 2026  ·  PS 26037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F7C89"/>
                </a:solidFill>
                <a:latin typeface="Calibri"/>
              </a:rPr>
              <a:t>Research prototype — not a certified autonomous-driving or safety system. Emergency features run in simulation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