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92" r:id="rId2"/>
    <p:sldId id="293" r:id="rId9"/>
    <p:sldId id="294" r:id="rId8"/>
    <p:sldId id="295" r:id="rId7"/>
    <p:sldId id="296" r:id="rId6"/>
    <p:sldId id="297" r:id="rId5"/>
    <p:sldId id="298" r:id="rId4"/>
    <p:sldId id="299" r:id="rId3"/>
  </p:sldIdLst>
  <p:sldSz cx="12192000" cy="6784975"/>
  <p:notesSz cx="678497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D22C6E-A578-4F12-BB54-7AC7C40E232E}">
          <p14:sldIdLst>
            <p14:sldId id="292"/>
            <p14:sldId id="297"/>
            <p14:sldId id="298"/>
            <p14:sldId id="281"/>
            <p14:sldId id="258"/>
            <p14:sldId id="295"/>
            <p14:sldId id="261"/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8DFB8F-39E4-4589-A902-B2ED13D4B6B1}" v="23" dt="2026-09-25T19:19:20.7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970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07743"/>
            <a:ext cx="10363200" cy="14543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44819"/>
            <a:ext cx="8534400" cy="17339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2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04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5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094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617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14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66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18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7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8867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jpg"/><Relationship Id="rId12" Type="http://schemas.openxmlformats.org/officeDocument/2006/relationships/image" Target="../media/image13.jpg"/><Relationship Id="rId13" Type="http://schemas.openxmlformats.org/officeDocument/2006/relationships/image" Target="../media/image1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4.png"/><Relationship Id="rId12" Type="http://schemas.openxmlformats.org/officeDocument/2006/relationships/image" Target="../media/image22.png"/><Relationship Id="rId13" Type="http://schemas.openxmlformats.org/officeDocument/2006/relationships/image" Target="../media/image11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Relationship Id="rId26" Type="http://schemas.openxmlformats.org/officeDocument/2006/relationships/image" Target="../media/image35.png"/><Relationship Id="rId27" Type="http://schemas.openxmlformats.org/officeDocument/2006/relationships/image" Target="../media/image3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Relationship Id="rId6" Type="http://schemas.openxmlformats.org/officeDocument/2006/relationships/image" Target="../media/image40.jpg"/><Relationship Id="rId7" Type="http://schemas.openxmlformats.org/officeDocument/2006/relationships/hyperlink" Target="https://github.com/MalyalaKarthik66/pathsense-prototyp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5.png"/><Relationship Id="rId7" Type="http://schemas.openxmlformats.org/officeDocument/2006/relationships/image" Target="../media/image44.png"/><Relationship Id="rId8" Type="http://schemas.openxmlformats.org/officeDocument/2006/relationships/image" Target="../media/image20.png"/><Relationship Id="rId9" Type="http://schemas.openxmlformats.org/officeDocument/2006/relationships/image" Target="../media/image23.png"/><Relationship Id="rId10" Type="http://schemas.openxmlformats.org/officeDocument/2006/relationships/image" Target="../media/image45.png"/><Relationship Id="rId11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16.png"/><Relationship Id="rId6" Type="http://schemas.openxmlformats.org/officeDocument/2006/relationships/image" Target="../media/image23.png"/><Relationship Id="rId7" Type="http://schemas.openxmlformats.org/officeDocument/2006/relationships/image" Target="../media/image42.png"/><Relationship Id="rId8" Type="http://schemas.openxmlformats.org/officeDocument/2006/relationships/image" Target="../media/image46.png"/><Relationship Id="rId9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20.png"/><Relationship Id="rId6" Type="http://schemas.openxmlformats.org/officeDocument/2006/relationships/image" Target="../media/image41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.png"/><Relationship Id="rId10" Type="http://schemas.openxmlformats.org/officeDocument/2006/relationships/image" Target="../media/image46.png"/><Relationship Id="rId11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hyperlink" Target="https://arxiv.org/abs/1604.07446" TargetMode="External"/><Relationship Id="rId4" Type="http://schemas.openxmlformats.org/officeDocument/2006/relationships/hyperlink" Target="https://arxiv.org/abs/2110.06864" TargetMode="External"/><Relationship Id="rId5" Type="http://schemas.openxmlformats.org/officeDocument/2006/relationships/hyperlink" Target="https://arxiv.org/abs/2406.09414" TargetMode="External"/><Relationship Id="rId6" Type="http://schemas.openxmlformats.org/officeDocument/2006/relationships/hyperlink" Target="https://openaccess.thecvf.com" TargetMode="External"/><Relationship Id="rId7" Type="http://schemas.openxmlformats.org/officeDocument/2006/relationships/image" Target="../media/image16.png"/><Relationship Id="rId8" Type="http://schemas.openxmlformats.org/officeDocument/2006/relationships/hyperlink" Target="https://idd.insaan.iiit.ac.in" TargetMode="External"/><Relationship Id="rId9" Type="http://schemas.openxmlformats.org/officeDocument/2006/relationships/hyperlink" Target="https://morth.nic.in" TargetMode="External"/><Relationship Id="rId10" Type="http://schemas.openxmlformats.org/officeDocument/2006/relationships/hyperlink" Target="https://openstreetmap.org" TargetMode="External"/><Relationship Id="rId11" Type="http://schemas.openxmlformats.org/officeDocument/2006/relationships/hyperlink" Target="https://commons.wikimedia.org" TargetMode="External"/><Relationship Id="rId12" Type="http://schemas.openxmlformats.org/officeDocument/2006/relationships/image" Target="../media/image47.png"/><Relationship Id="rId13" Type="http://schemas.openxmlformats.org/officeDocument/2006/relationships/hyperlink" Target="https://sih.gov.in" TargetMode="External"/><Relationship Id="rId14" Type="http://schemas.openxmlformats.org/officeDocument/2006/relationships/hyperlink" Target="https://mathworks.com" TargetMode="External"/><Relationship Id="rId15" Type="http://schemas.openxmlformats.org/officeDocument/2006/relationships/image" Target="../media/image51.png"/><Relationship Id="rId16" Type="http://schemas.openxmlformats.org/officeDocument/2006/relationships/hyperlink" Target="https://docs.ultralytics.com" TargetMode="External"/><Relationship Id="rId17" Type="http://schemas.openxmlformats.org/officeDocument/2006/relationships/hyperlink" Target="https://pytorch.org/docs" TargetMode="External"/><Relationship Id="rId18" Type="http://schemas.openxmlformats.org/officeDocument/2006/relationships/hyperlink" Target="https://docs.opencv.org" TargetMode="External"/><Relationship Id="rId19" Type="http://schemas.openxmlformats.org/officeDocument/2006/relationships/hyperlink" Target="https://flask.palletsprojects.com" TargetMode="External"/><Relationship Id="rId20" Type="http://schemas.openxmlformats.org/officeDocument/2006/relationships/image" Target="../media/image23.png"/><Relationship Id="rId21" Type="http://schemas.openxmlformats.org/officeDocument/2006/relationships/image" Target="../media/image21.png"/><Relationship Id="rId22" Type="http://schemas.openxmlformats.org/officeDocument/2006/relationships/image" Target="../media/image42.png"/><Relationship Id="rId2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72684" y="-1"/>
            <a:ext cx="9046633" cy="6784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81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1458" y="842454"/>
            <a:ext cx="4589212" cy="5100076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8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46810" y="1697610"/>
            <a:ext cx="3169398" cy="3389754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2871" y="226836"/>
            <a:ext cx="8443524" cy="173393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66465" y="-1"/>
            <a:ext cx="10252851" cy="2054340"/>
          </a:xfrm>
        </p:spPr>
        <p:txBody>
          <a:bodyPr/>
          <a:lstStyle/>
          <a:p>
            <a:r>
              <a:rPr lang="en-US" sz="3958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3958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8208" y="1600200"/>
            <a:ext cx="6454140" cy="4410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2721" indent="-282721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SIH26037</a:t>
            </a:r>
          </a:p>
          <a:p>
            <a:pPr marL="282721" indent="-282721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Adaptive Path Planning and Collision Avoidance for Autonomous Vehicles on Unstructured Indian Roads</a:t>
            </a:r>
          </a:p>
          <a:p>
            <a:pPr marL="282721" indent="-282721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– Smart Vehicles</a:t>
            </a:r>
          </a:p>
          <a:p>
            <a:pPr marL="282721" indent="-282721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2721" indent="-282721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– 161638</a:t>
            </a:r>
          </a:p>
          <a:p>
            <a:pPr marL="282721" indent="-282721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Ctrl Alt Elite</a:t>
            </a:r>
          </a:p>
          <a:p>
            <a:pPr marL="282721" indent="-282721" algn="l">
              <a:lnSpc>
                <a:spcPct val="115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Solution – PathSense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857" y="1484"/>
            <a:ext cx="2225893" cy="105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29944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7432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7432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Ctrl Alt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FD6CB"/>
                </a:solidFill>
                <a:latin typeface="Arial"/>
              </a:rPr>
              <a:t>SMART INDIA HACKATHON 2026   ·   SIH26037   ·   PATHSENSE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Arial"/>
              </a:rPr>
              <a:t>PATHSENSE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68580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9D6E8"/>
                </a:solidFill>
                <a:latin typeface="Arial"/>
              </a:rPr>
              <a:t>Adaptive Path Planning &amp; Collision Avoidance for Unstructured Indian Roads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18872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150876"/>
            <a:ext cx="1426464" cy="6734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92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20272" y="6464808"/>
            <a:ext cx="502920" cy="256032"/>
          </a:xfrm>
          <a:prstGeom prst="roundRect">
            <a:avLst>
              <a:gd name="adj" fmla="val 2142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20272" y="64648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115568"/>
            <a:ext cx="1362456" cy="228600"/>
          </a:xfrm>
          <a:prstGeom prst="roundRect">
            <a:avLst>
              <a:gd name="adj" fmla="val 24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115568"/>
            <a:ext cx="13624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408176"/>
            <a:ext cx="77266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 u="none">
                <a:solidFill>
                  <a:srgbClr val="1A1A1A"/>
                </a:solidFill>
                <a:latin typeface="Arial"/>
              </a:rPr>
              <a:t>PathSense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is an adaptive autonomous-driving intelligence system for Indian roads where lane markings may be absent and traffic behaviour is irregular.</a:t>
            </a:r>
          </a:p>
          <a:p>
            <a:pPr algn="l">
              <a:spcAft>
                <a:spcPts val="200"/>
              </a:spcAft>
            </a:pPr>
            <a:r>
              <a:rPr sz="900" b="1" i="0" u="none">
                <a:solidFill>
                  <a:srgbClr val="1A1A1A"/>
                </a:solidFill>
                <a:latin typeface="Arial"/>
              </a:rPr>
              <a:t>Core idea: 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perceive every road user, understand its motion, reason about the vehicle’s real drivable corridor and keep re-planning a collision-free trajectory.</a:t>
            </a:r>
          </a:p>
        </p:txBody>
      </p:sp>
      <p:sp>
        <p:nvSpPr>
          <p:cNvPr id="16" name="Pentagon 15"/>
          <p:cNvSpPr/>
          <p:nvPr/>
        </p:nvSpPr>
        <p:spPr>
          <a:xfrm>
            <a:off x="365760" y="2048256"/>
            <a:ext cx="1335024" cy="365760"/>
          </a:xfrm>
          <a:prstGeom prst="homePlat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0482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 u="none">
                <a:solidFill>
                  <a:srgbClr val="FFFFFF"/>
                </a:solidFill>
                <a:latin typeface="Arial"/>
              </a:rPr>
              <a:t>Perception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441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u="none">
                <a:solidFill>
                  <a:srgbClr val="333F55"/>
                </a:solidFill>
                <a:latin typeface="Arial"/>
              </a:rPr>
              <a:t>Detects road users &amp; obstacles</a:t>
            </a:r>
          </a:p>
        </p:txBody>
      </p:sp>
      <p:sp>
        <p:nvSpPr>
          <p:cNvPr id="19" name="Chevron 18"/>
          <p:cNvSpPr/>
          <p:nvPr/>
        </p:nvSpPr>
        <p:spPr>
          <a:xfrm>
            <a:off x="1645919" y="2048256"/>
            <a:ext cx="1335024" cy="365760"/>
          </a:xfrm>
          <a:prstGeom prst="chevron">
            <a:avLst/>
          </a:prstGeom>
          <a:solidFill>
            <a:srgbClr val="1B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799" y="20482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 u="none">
                <a:solidFill>
                  <a:srgbClr val="FFFFFF"/>
                </a:solidFill>
                <a:latin typeface="Arial"/>
              </a:rPr>
              <a:t>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2441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u="none">
                <a:solidFill>
                  <a:srgbClr val="333F55"/>
                </a:solidFill>
                <a:latin typeface="Arial"/>
              </a:rPr>
              <a:t>Keeps identities &amp; motion over time</a:t>
            </a:r>
          </a:p>
        </p:txBody>
      </p:sp>
      <p:sp>
        <p:nvSpPr>
          <p:cNvPr id="22" name="Chevron 21"/>
          <p:cNvSpPr/>
          <p:nvPr/>
        </p:nvSpPr>
        <p:spPr>
          <a:xfrm>
            <a:off x="2926079" y="2048256"/>
            <a:ext cx="1335024" cy="365760"/>
          </a:xfrm>
          <a:prstGeom prst="chevron">
            <a:avLst/>
          </a:prstGeom>
          <a:solidFill>
            <a:srgbClr val="176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20482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 u="none">
                <a:solidFill>
                  <a:srgbClr val="FFFFFF"/>
                </a:solidFill>
                <a:latin typeface="Arial"/>
              </a:rPr>
              <a:t>Motion Understanding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9232" y="2441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u="none">
                <a:solidFill>
                  <a:srgbClr val="333F55"/>
                </a:solidFill>
                <a:latin typeface="Arial"/>
              </a:rPr>
              <a:t>Short-term movement &amp; interaction risk</a:t>
            </a:r>
          </a:p>
        </p:txBody>
      </p:sp>
      <p:sp>
        <p:nvSpPr>
          <p:cNvPr id="25" name="Chevron 24"/>
          <p:cNvSpPr/>
          <p:nvPr/>
        </p:nvSpPr>
        <p:spPr>
          <a:xfrm>
            <a:off x="4206240" y="2048256"/>
            <a:ext cx="1335024" cy="365760"/>
          </a:xfrm>
          <a:prstGeom prst="chevron">
            <a:avLst/>
          </a:prstGeom>
          <a:solidFill>
            <a:srgbClr val="13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0482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 u="none">
                <a:solidFill>
                  <a:srgbClr val="FFFFFF"/>
                </a:solidFill>
                <a:latin typeface="Arial"/>
              </a:rPr>
              <a:t>Ego-Path Understanding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2441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u="none">
                <a:solidFill>
                  <a:srgbClr val="333F55"/>
                </a:solidFill>
                <a:latin typeface="Arial"/>
              </a:rPr>
              <a:t>The vehicle’s real drivable corridor</a:t>
            </a:r>
          </a:p>
        </p:txBody>
      </p:sp>
      <p:sp>
        <p:nvSpPr>
          <p:cNvPr id="28" name="Chevron 27"/>
          <p:cNvSpPr/>
          <p:nvPr/>
        </p:nvSpPr>
        <p:spPr>
          <a:xfrm>
            <a:off x="5486400" y="2048256"/>
            <a:ext cx="1335024" cy="365760"/>
          </a:xfrm>
          <a:prstGeom prst="chevron">
            <a:avLst/>
          </a:prstGeom>
          <a:solidFill>
            <a:srgbClr val="0F8E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20482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 u="none">
                <a:solidFill>
                  <a:srgbClr val="FFFFFF"/>
                </a:solidFill>
                <a:latin typeface="Arial"/>
              </a:rPr>
              <a:t>Adaptive Planning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59552" y="2441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u="none">
                <a:solidFill>
                  <a:srgbClr val="333F55"/>
                </a:solidFill>
                <a:latin typeface="Arial"/>
              </a:rPr>
              <a:t>Generates &amp; scores collision-free paths</a:t>
            </a:r>
          </a:p>
        </p:txBody>
      </p:sp>
      <p:sp>
        <p:nvSpPr>
          <p:cNvPr id="31" name="Chevron 30"/>
          <p:cNvSpPr/>
          <p:nvPr/>
        </p:nvSpPr>
        <p:spPr>
          <a:xfrm>
            <a:off x="6766560" y="2048256"/>
            <a:ext cx="1335024" cy="365760"/>
          </a:xfrm>
          <a:prstGeom prst="chevron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2048256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30" b="1" i="0" u="none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39712" y="24414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50" b="0" i="0" u="none">
                <a:solidFill>
                  <a:srgbClr val="333F55"/>
                </a:solidFill>
                <a:latin typeface="Arial"/>
              </a:rPr>
              <a:t>GO / SLOW / STEER / BRAKE / NO SAFE PATH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2807208"/>
            <a:ext cx="1618488" cy="228600"/>
          </a:xfrm>
          <a:prstGeom prst="roundRect">
            <a:avLst>
              <a:gd name="adj" fmla="val 24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807208"/>
            <a:ext cx="16184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PROBLEMS IT ADDRESSES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090672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38912" y="3163824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" y="3211372"/>
            <a:ext cx="142646" cy="14264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31520" y="316382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Unmarked Roads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3438144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Lane markings are faded, partial or absent, so lane-following assumptions break.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13432" y="3090672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386584" y="3163824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132" y="3211372"/>
            <a:ext cx="142646" cy="14264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2679191" y="316382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Mixed Traffic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04872" y="3438144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Cars, buses, trucks, two-wheelers, auto-rickshaws, cyclists and pedestrians share one space.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61104" y="3090672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334256" y="3163824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merg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804" y="3211372"/>
            <a:ext cx="142646" cy="14264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626864" y="316382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Informal Merges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52544" y="3438144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Vehicles cut in from either side without signalling or lane discipline.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3090672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81928" y="3163824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moto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476" y="3211372"/>
            <a:ext cx="142646" cy="142646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574536" y="3163824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Sudden Direction Changes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0216" y="3438144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Two-wheelers and autos weave, U-turn or stop abruptly.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5760" y="3858768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38912" y="3931920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blo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" y="3979468"/>
            <a:ext cx="142646" cy="14264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31520" y="393192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Wrong-Way Movement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20624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Riders and vehicles travel against the flow on the vehicle’s own side.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313432" y="3858768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386584" y="3931920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wal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4132" y="3979468"/>
            <a:ext cx="142646" cy="14264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679191" y="393192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Pedestrian / Cyclist Interaction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04872" y="420624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People walk along and across the carriageway without crossings.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261104" y="3858768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334256" y="3931920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cow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1804" y="3979468"/>
            <a:ext cx="142646" cy="142646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4626864" y="393192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Animal Crossings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52544" y="420624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Cattle and dogs stand on, or wander into, the road.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08776" y="3858768"/>
            <a:ext cx="1874519" cy="704088"/>
          </a:xfrm>
          <a:prstGeom prst="roundRect">
            <a:avLst>
              <a:gd name="adj" fmla="val 909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81928" y="3931920"/>
            <a:ext cx="237744" cy="237744"/>
          </a:xfrm>
          <a:prstGeom prst="ellipse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warning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9476" y="3979468"/>
            <a:ext cx="142646" cy="142646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574536" y="3931920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Temporary Obstacles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0216" y="4206240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Work zones, parked vehicles, handcarts and debris block the usual path.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65760" y="4654296"/>
            <a:ext cx="2770632" cy="228600"/>
          </a:xfrm>
          <a:prstGeom prst="roundRect">
            <a:avLst>
              <a:gd name="adj" fmla="val 24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65760" y="4654296"/>
            <a:ext cx="277063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DIFFERENTIATION &amp; KEY VALUE PROPOSITION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65760" y="4937760"/>
            <a:ext cx="25237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501091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9E8E"/>
                </a:solidFill>
                <a:latin typeface="Arial"/>
              </a:rPr>
              <a:t>01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8680" y="500176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Lane-Independent Path Planning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" y="52120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Plans around the actual drivable corridor instead of depending only on painted lane markings.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962656" y="4937760"/>
            <a:ext cx="25237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035808" y="501091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9E8E"/>
                </a:solidFill>
                <a:latin typeface="Arial"/>
              </a:rPr>
              <a:t>02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465576" y="500176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Indian Mixed-Traffic Awareness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465576" y="52120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Designed for cars, buses, trucks, motorcycles, auto-rickshaws, pedestrians, bicycles and animals.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559552" y="4937760"/>
            <a:ext cx="25237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632704" y="501091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9E8E"/>
                </a:solidFill>
                <a:latin typeface="Arial"/>
              </a:rPr>
              <a:t>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62472" y="500176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Behaviour-Aware Collision Avoidance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62472" y="521208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Considers object movement and potential path conflict rather than distance alone.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365760" y="5669280"/>
            <a:ext cx="25237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912" y="57424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9E8E"/>
                </a:solidFill>
                <a:latin typeface="Arial"/>
              </a:rPr>
              <a:t>04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" y="573328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Adaptive Replanning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" y="59436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Continuously evaluates candidate trajectories as the road scene changes.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62656" y="5669280"/>
            <a:ext cx="25237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35808" y="57424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9E8E"/>
                </a:solidFill>
                <a:latin typeface="Arial"/>
              </a:rPr>
              <a:t>05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465576" y="573328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Unstructured-Road Operation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65576" y="59436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Targets roads where conventional lane-based assumptions are unreliable.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559552" y="5669280"/>
            <a:ext cx="2523744" cy="667512"/>
          </a:xfrm>
          <a:prstGeom prst="roundRect">
            <a:avLst>
              <a:gd name="adj" fmla="val 9589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32704" y="574243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u="none">
                <a:solidFill>
                  <a:srgbClr val="0F9E8E"/>
                </a:solidFill>
                <a:latin typeface="Arial"/>
              </a:rPr>
              <a:t>06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62472" y="5733288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Safety-First Decision Layer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62472" y="5943600"/>
            <a:ext cx="1965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Escalates from normal travel to caution, steering, braking and no-safe-path according to path threat.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321040" y="1115568"/>
            <a:ext cx="3502152" cy="5239512"/>
          </a:xfrm>
          <a:prstGeom prst="roundRect">
            <a:avLst>
              <a:gd name="adj" fmla="val 1827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58200" y="1225295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u="none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458200" y="1499616"/>
            <a:ext cx="32278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u="none">
                <a:solidFill>
                  <a:srgbClr val="C9D6E8"/>
                </a:solidFill>
                <a:latin typeface="Arial"/>
              </a:rPr>
              <a:t>From the camera view to a safe, explainable path</a:t>
            </a:r>
          </a:p>
        </p:txBody>
      </p:sp>
      <p:sp>
        <p:nvSpPr>
          <p:cNvPr id="105" name="Oval 104"/>
          <p:cNvSpPr/>
          <p:nvPr/>
        </p:nvSpPr>
        <p:spPr>
          <a:xfrm>
            <a:off x="8458200" y="1819656"/>
            <a:ext cx="201168" cy="201168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458200" y="18196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19" y="18013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Arial"/>
              </a:rPr>
              <a:t>Perceive &amp; Track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966960" y="1801368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 u="none">
                <a:solidFill>
                  <a:srgbClr val="9FE3D9"/>
                </a:solidFill>
                <a:latin typeface="Arial"/>
              </a:rPr>
              <a:t>Every road user, every frame</a:t>
            </a:r>
          </a:p>
        </p:txBody>
      </p:sp>
      <p:pic>
        <p:nvPicPr>
          <p:cNvPr id="109" name="Picture 108" descr="hw_perceiv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8200" y="2075688"/>
            <a:ext cx="3227832" cy="1020564"/>
          </a:xfrm>
          <a:prstGeom prst="rect">
            <a:avLst/>
          </a:prstGeom>
        </p:spPr>
      </p:pic>
      <p:sp>
        <p:nvSpPr>
          <p:cNvPr id="110" name="Oval 109"/>
          <p:cNvSpPr/>
          <p:nvPr/>
        </p:nvSpPr>
        <p:spPr>
          <a:xfrm>
            <a:off x="8458200" y="3242556"/>
            <a:ext cx="201168" cy="201168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458200" y="32425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732519" y="32242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Arial"/>
              </a:rPr>
              <a:t>Predict &amp; Plan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60" y="3224268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 u="none">
                <a:solidFill>
                  <a:srgbClr val="9FE3D9"/>
                </a:solidFill>
                <a:latin typeface="Arial"/>
              </a:rPr>
              <a:t>Candidate paths, conflicts rejected</a:t>
            </a:r>
          </a:p>
        </p:txBody>
      </p:sp>
      <p:pic>
        <p:nvPicPr>
          <p:cNvPr id="114" name="Picture 113" descr="hw_plan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58200" y="3498588"/>
            <a:ext cx="3227832" cy="1020564"/>
          </a:xfrm>
          <a:prstGeom prst="rect">
            <a:avLst/>
          </a:prstGeom>
        </p:spPr>
      </p:pic>
      <p:sp>
        <p:nvSpPr>
          <p:cNvPr id="115" name="Oval 114"/>
          <p:cNvSpPr/>
          <p:nvPr/>
        </p:nvSpPr>
        <p:spPr>
          <a:xfrm>
            <a:off x="8458200" y="4665457"/>
            <a:ext cx="201168" cy="201168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458200" y="4665457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732519" y="464716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966960" y="4647169"/>
            <a:ext cx="171907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 u="none">
                <a:solidFill>
                  <a:srgbClr val="9FE3D9"/>
                </a:solidFill>
                <a:latin typeface="Arial"/>
              </a:rPr>
              <a:t>GO · SLOW · STEER · BRAKE</a:t>
            </a:r>
          </a:p>
        </p:txBody>
      </p:sp>
      <p:pic>
        <p:nvPicPr>
          <p:cNvPr id="119" name="Picture 118" descr="hw_decid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58200" y="4921489"/>
            <a:ext cx="3227832" cy="1020564"/>
          </a:xfrm>
          <a:prstGeom prst="rect">
            <a:avLst/>
          </a:prstGeom>
        </p:spPr>
      </p:pic>
      <p:sp>
        <p:nvSpPr>
          <p:cNvPr id="120" name="Rounded Rectangle 119"/>
          <p:cNvSpPr/>
          <p:nvPr/>
        </p:nvSpPr>
        <p:spPr>
          <a:xfrm>
            <a:off x="8458200" y="5961888"/>
            <a:ext cx="3227832" cy="274320"/>
          </a:xfrm>
          <a:prstGeom prst="roundRect">
            <a:avLst>
              <a:gd name="adj" fmla="val 2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58200" y="5961888"/>
            <a:ext cx="32278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 i="0" u="none">
                <a:solidFill>
                  <a:srgbClr val="FFFFFF"/>
                </a:solidFill>
                <a:latin typeface="Arial"/>
              </a:rPr>
              <a:t>SEE · PREDICT · PLAN — SAFE PATHS ON EVERY ROAD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7432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7432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Ctrl Alt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FD6CB"/>
                </a:solidFill>
                <a:latin typeface="Arial"/>
              </a:rPr>
              <a:t>SMART INDIA HACKATHON 2026   ·   SIH26037   ·   PATHSENSE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Arial"/>
              </a:rP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68580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9D6E8"/>
                </a:solidFill>
                <a:latin typeface="Arial"/>
              </a:rPr>
              <a:t>PathSense  |  Adaptive Perception-to-Planning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18872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150876"/>
            <a:ext cx="1426464" cy="6734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92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20272" y="6464808"/>
            <a:ext cx="502920" cy="256032"/>
          </a:xfrm>
          <a:prstGeom prst="roundRect">
            <a:avLst>
              <a:gd name="adj" fmla="val 2142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20272" y="64648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115568"/>
            <a:ext cx="1490472" cy="228600"/>
          </a:xfrm>
          <a:prstGeom prst="roundRect">
            <a:avLst>
              <a:gd name="adj" fmla="val 24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115568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INPUTS / ROAD SCENE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1399032"/>
            <a:ext cx="1901952" cy="475488"/>
          </a:xfrm>
          <a:prstGeom prst="roundRect">
            <a:avLst>
              <a:gd name="adj" fmla="val 1346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8912" y="1463040"/>
            <a:ext cx="329184" cy="329184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mer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" y="1528876"/>
            <a:ext cx="197510" cy="1975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1248" y="143560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Front camera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163677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Monocular dashcam or phone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40864" y="1399032"/>
            <a:ext cx="1901952" cy="475488"/>
          </a:xfrm>
          <a:prstGeom prst="roundRect">
            <a:avLst>
              <a:gd name="adj" fmla="val 1346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414016" y="1463040"/>
            <a:ext cx="329184" cy="329184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a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9852" y="1528876"/>
            <a:ext cx="197510" cy="1975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16352" y="143560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Mixed traffic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6352" y="163677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Cars, 2W, autos, people, animals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1399032"/>
            <a:ext cx="1901952" cy="475488"/>
          </a:xfrm>
          <a:prstGeom prst="roundRect">
            <a:avLst>
              <a:gd name="adj" fmla="val 1346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89120" y="1463040"/>
            <a:ext cx="329184" cy="329184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4956" y="1528876"/>
            <a:ext cx="197510" cy="19751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791456" y="143560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Road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6" y="163677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Unmarked roads, shoulders, junctions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1399032"/>
            <a:ext cx="1901952" cy="475488"/>
          </a:xfrm>
          <a:prstGeom prst="roundRect">
            <a:avLst>
              <a:gd name="adj" fmla="val 13461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64224" y="1463040"/>
            <a:ext cx="329184" cy="329184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spee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0060" y="1528876"/>
            <a:ext cx="197510" cy="19751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66560" y="143560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Ego motion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1636776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From video; CAN / IMU in pilot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297680" y="1901952"/>
            <a:ext cx="0" cy="109728"/>
          </a:xfrm>
          <a:prstGeom prst="line">
            <a:avLst/>
          </a:prstGeom>
          <a:ln w="1524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65760" y="2029968"/>
            <a:ext cx="2487168" cy="274320"/>
          </a:xfrm>
          <a:prstGeom prst="roundRect">
            <a:avLst>
              <a:gd name="adj" fmla="val 16666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02996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1 · PERCEIVE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65760" y="237744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2263F"/>
                </a:solidFill>
                <a:latin typeface="Arial"/>
              </a:rPr>
              <a:t>1</a:t>
            </a:r>
          </a:p>
        </p:txBody>
      </p:sp>
      <p:sp>
        <p:nvSpPr>
          <p:cNvPr id="40" name="Oval 39"/>
          <p:cNvSpPr/>
          <p:nvPr/>
        </p:nvSpPr>
        <p:spPr>
          <a:xfrm>
            <a:off x="731520" y="2523744"/>
            <a:ext cx="365760" cy="365760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camer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596896"/>
            <a:ext cx="219456" cy="21945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88720" y="248716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Camera input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272491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front view, every frame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609344" y="3035808"/>
            <a:ext cx="0" cy="73152"/>
          </a:xfrm>
          <a:prstGeom prst="line">
            <a:avLst/>
          </a:prstGeom>
          <a:ln w="1270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65760" y="310896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" y="32004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2263F"/>
                </a:solidFill>
                <a:latin typeface="Arial"/>
              </a:rPr>
              <a:t>2</a:t>
            </a:r>
          </a:p>
        </p:txBody>
      </p:sp>
      <p:sp>
        <p:nvSpPr>
          <p:cNvPr id="47" name="Oval 46"/>
          <p:cNvSpPr/>
          <p:nvPr/>
        </p:nvSpPr>
        <p:spPr>
          <a:xfrm>
            <a:off x="731520" y="3255264"/>
            <a:ext cx="365760" cy="365760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visibilit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3328416"/>
            <a:ext cx="219456" cy="219456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188720" y="321868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Object detection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345643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vehicles, people, animals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609344" y="3767328"/>
            <a:ext cx="0" cy="73152"/>
          </a:xfrm>
          <a:prstGeom prst="line">
            <a:avLst/>
          </a:prstGeom>
          <a:ln w="1270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65760" y="384048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3931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2263F"/>
                </a:solidFill>
                <a:latin typeface="Arial"/>
              </a:rPr>
              <a:t>3</a:t>
            </a:r>
          </a:p>
        </p:txBody>
      </p:sp>
      <p:sp>
        <p:nvSpPr>
          <p:cNvPr id="54" name="Oval 53"/>
          <p:cNvSpPr/>
          <p:nvPr/>
        </p:nvSpPr>
        <p:spPr>
          <a:xfrm>
            <a:off x="731520" y="3986784"/>
            <a:ext cx="365760" cy="365760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ime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" y="4059936"/>
            <a:ext cx="219456" cy="219456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88720" y="395020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Multi-object tracking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88720" y="418795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IDs &amp; history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2871216" y="3246120"/>
            <a:ext cx="128016" cy="23774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3017520" y="2029968"/>
            <a:ext cx="2487168" cy="274320"/>
          </a:xfrm>
          <a:prstGeom prst="roundRect">
            <a:avLst>
              <a:gd name="adj" fmla="val 16666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17520" y="202996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2 · UNDERSTAND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17520" y="237744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90672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9E8E"/>
                </a:solidFill>
                <a:latin typeface="Arial"/>
              </a:rPr>
              <a:t>4</a:t>
            </a:r>
          </a:p>
        </p:txBody>
      </p:sp>
      <p:sp>
        <p:nvSpPr>
          <p:cNvPr id="63" name="Oval 62"/>
          <p:cNvSpPr/>
          <p:nvPr/>
        </p:nvSpPr>
        <p:spPr>
          <a:xfrm>
            <a:off x="3383280" y="2523744"/>
            <a:ext cx="365760" cy="365760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layer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56432" y="2596896"/>
            <a:ext cx="219456" cy="219456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3840480" y="248716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Depth &amp; scene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0" y="272491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distance, free space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261104" y="3035808"/>
            <a:ext cx="0" cy="73152"/>
          </a:xfrm>
          <a:prstGeom prst="line">
            <a:avLst/>
          </a:prstGeom>
          <a:ln w="1270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017520" y="310896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090672" y="32004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9E8E"/>
                </a:solidFill>
                <a:latin typeface="Arial"/>
              </a:rPr>
              <a:t>5</a:t>
            </a:r>
          </a:p>
        </p:txBody>
      </p:sp>
      <p:sp>
        <p:nvSpPr>
          <p:cNvPr id="70" name="Oval 69"/>
          <p:cNvSpPr/>
          <p:nvPr/>
        </p:nvSpPr>
        <p:spPr>
          <a:xfrm>
            <a:off x="3383280" y="3255264"/>
            <a:ext cx="365760" cy="365760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brai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6432" y="3328416"/>
            <a:ext cx="219456" cy="21945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3840480" y="321868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Motion / threat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40480" y="345643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who is moving where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261104" y="3767328"/>
            <a:ext cx="0" cy="73152"/>
          </a:xfrm>
          <a:prstGeom prst="line">
            <a:avLst/>
          </a:prstGeom>
          <a:ln w="1270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3017520" y="384048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090672" y="3931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9E8E"/>
                </a:solidFill>
                <a:latin typeface="Arial"/>
              </a:rPr>
              <a:t>6</a:t>
            </a:r>
          </a:p>
        </p:txBody>
      </p:sp>
      <p:sp>
        <p:nvSpPr>
          <p:cNvPr id="77" name="Oval 76"/>
          <p:cNvSpPr/>
          <p:nvPr/>
        </p:nvSpPr>
        <p:spPr>
          <a:xfrm>
            <a:off x="3383280" y="3986784"/>
            <a:ext cx="365760" cy="365760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rout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6432" y="4059936"/>
            <a:ext cx="219456" cy="219456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840480" y="395020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Ego-path &amp; corridor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40480" y="418795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real drivable corridor</a:t>
            </a:r>
          </a:p>
        </p:txBody>
      </p:sp>
      <p:sp>
        <p:nvSpPr>
          <p:cNvPr id="81" name="Right Arrow 80"/>
          <p:cNvSpPr/>
          <p:nvPr/>
        </p:nvSpPr>
        <p:spPr>
          <a:xfrm>
            <a:off x="5522976" y="3246120"/>
            <a:ext cx="128016" cy="237744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5669280" y="2029968"/>
            <a:ext cx="2487168" cy="274320"/>
          </a:xfrm>
          <a:prstGeom prst="roundRect">
            <a:avLst>
              <a:gd name="adj" fmla="val 16666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0" y="2029968"/>
            <a:ext cx="24871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3 · PLAN &amp; ACT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669280" y="237744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42432" y="246888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8A33D"/>
                </a:solidFill>
                <a:latin typeface="Arial"/>
              </a:rPr>
              <a:t>7</a:t>
            </a:r>
          </a:p>
        </p:txBody>
      </p:sp>
      <p:sp>
        <p:nvSpPr>
          <p:cNvPr id="86" name="Oval 85"/>
          <p:cNvSpPr/>
          <p:nvPr/>
        </p:nvSpPr>
        <p:spPr>
          <a:xfrm>
            <a:off x="6035040" y="2523744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loo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8192" y="2596896"/>
            <a:ext cx="219456" cy="219456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492240" y="248716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Candidate trajectories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92240" y="272491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kinematic path set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912864" y="3035808"/>
            <a:ext cx="0" cy="73152"/>
          </a:xfrm>
          <a:prstGeom prst="line">
            <a:avLst/>
          </a:prstGeom>
          <a:ln w="127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669280" y="310896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42432" y="320040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8A33D"/>
                </a:solidFill>
                <a:latin typeface="Arial"/>
              </a:rPr>
              <a:t>8</a:t>
            </a:r>
          </a:p>
        </p:txBody>
      </p:sp>
      <p:sp>
        <p:nvSpPr>
          <p:cNvPr id="93" name="Oval 92"/>
          <p:cNvSpPr/>
          <p:nvPr/>
        </p:nvSpPr>
        <p:spPr>
          <a:xfrm>
            <a:off x="6035040" y="3255264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4" name="Picture 93" descr="warning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08192" y="3328416"/>
            <a:ext cx="219456" cy="219456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6492240" y="321868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Risk-aware selection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492240" y="345643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reject conflicts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6912864" y="3767328"/>
            <a:ext cx="0" cy="73152"/>
          </a:xfrm>
          <a:prstGeom prst="line">
            <a:avLst/>
          </a:prstGeom>
          <a:ln w="127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/>
          <p:cNvSpPr/>
          <p:nvPr/>
        </p:nvSpPr>
        <p:spPr>
          <a:xfrm>
            <a:off x="5669280" y="3840480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42432" y="3931920"/>
            <a:ext cx="274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E8A33D"/>
                </a:solidFill>
                <a:latin typeface="Arial"/>
              </a:rPr>
              <a:t>9</a:t>
            </a:r>
          </a:p>
        </p:txBody>
      </p:sp>
      <p:sp>
        <p:nvSpPr>
          <p:cNvPr id="100" name="Oval 99"/>
          <p:cNvSpPr/>
          <p:nvPr/>
        </p:nvSpPr>
        <p:spPr>
          <a:xfrm>
            <a:off x="6035040" y="3986784"/>
            <a:ext cx="365760" cy="36576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1" name="Picture 100" descr="shield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08192" y="4059936"/>
            <a:ext cx="219456" cy="219456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492240" y="3950208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Steering / decision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492240" y="4187952"/>
            <a:ext cx="1618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333F55"/>
                </a:solidFill>
                <a:latin typeface="Arial"/>
              </a:rPr>
              <a:t>path + GO … BRAKE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65760" y="4599432"/>
            <a:ext cx="7790688" cy="310896"/>
          </a:xfrm>
          <a:prstGeom prst="roundRect">
            <a:avLst>
              <a:gd name="adj" fmla="val 14705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shield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4636008"/>
            <a:ext cx="237744" cy="237744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777240" y="4599432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Arial"/>
              </a:rPr>
              <a:t>Safety-First Decision Layer   </a:t>
            </a:r>
            <a:r>
              <a:rPr sz="900" b="0" i="0" u="none">
                <a:solidFill>
                  <a:srgbClr val="C9D6E8"/>
                </a:solidFill>
                <a:latin typeface="Arial"/>
              </a:rPr>
              <a:t>path-threat reasoning  |  persistence &amp; hysteresis  |  reasons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365760" y="5001768"/>
            <a:ext cx="1490472" cy="228600"/>
          </a:xfrm>
          <a:prstGeom prst="roundRect">
            <a:avLst>
              <a:gd name="adj" fmla="val 24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65760" y="5001768"/>
            <a:ext cx="149047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OUTPUTS / DECISIONS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65760" y="5285232"/>
            <a:ext cx="1901952" cy="502920"/>
          </a:xfrm>
          <a:prstGeom prst="roundRect">
            <a:avLst>
              <a:gd name="adj" fmla="val 12727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38912" y="5358384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rout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748" y="5424220"/>
            <a:ext cx="197510" cy="19751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841248" y="531266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Safe trajectory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41248" y="551383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 u="none">
                <a:solidFill>
                  <a:srgbClr val="333F55"/>
                </a:solidFill>
                <a:latin typeface="Arial"/>
              </a:rPr>
              <a:t>Selected collision-free path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340864" y="5285232"/>
            <a:ext cx="1901952" cy="502920"/>
          </a:xfrm>
          <a:prstGeom prst="roundRect">
            <a:avLst>
              <a:gd name="adj" fmla="val 12727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414016" y="5358384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6" name="Picture 115" descr="shield_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79852" y="5424220"/>
            <a:ext cx="197510" cy="19751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2816352" y="531266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Driving decision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816352" y="551383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 u="none">
                <a:solidFill>
                  <a:srgbClr val="333F55"/>
                </a:solidFill>
                <a:latin typeface="Arial"/>
              </a:rPr>
              <a:t>GO · SLOW · STEER · BRAKE · NO SAFE PATH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315968" y="5285232"/>
            <a:ext cx="1901952" cy="502920"/>
          </a:xfrm>
          <a:prstGeom prst="roundRect">
            <a:avLst>
              <a:gd name="adj" fmla="val 12727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389120" y="5358384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1" name="Picture 120" descr="warning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4956" y="5424220"/>
            <a:ext cx="197510" cy="197510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4791456" y="531266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Threat alerts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791456" y="551383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 u="none">
                <a:solidFill>
                  <a:srgbClr val="333F55"/>
                </a:solidFill>
                <a:latin typeface="Arial"/>
              </a:rPr>
              <a:t>Which road user, why, how soon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291072" y="5285232"/>
            <a:ext cx="1901952" cy="502920"/>
          </a:xfrm>
          <a:prstGeom prst="roundRect">
            <a:avLst>
              <a:gd name="adj" fmla="val 12727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364224" y="5358384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6" name="Picture 125" descr="timeli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0060" y="5424220"/>
            <a:ext cx="197510" cy="197510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6766560" y="531266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Decision log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766560" y="5513832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0" i="0" u="none">
                <a:solidFill>
                  <a:srgbClr val="333F55"/>
                </a:solidFill>
                <a:latin typeface="Arial"/>
              </a:rPr>
              <a:t>Explainable, replayable reasons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65760" y="5897880"/>
            <a:ext cx="10515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12263F"/>
                </a:solidFill>
                <a:latin typeface="Arial"/>
              </a:rPr>
              <a:t>Designed for: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1389888" y="5916168"/>
            <a:ext cx="1645920" cy="384048"/>
          </a:xfrm>
          <a:prstGeom prst="roundRect">
            <a:avLst>
              <a:gd name="adj" fmla="val 14285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444752" y="593445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Urban dense traffic</a:t>
            </a:r>
          </a:p>
          <a:p>
            <a:pPr algn="l"/>
            <a:r>
              <a:rPr sz="630" b="0" i="0" u="none">
                <a:solidFill>
                  <a:srgbClr val="333F55"/>
                </a:solidFill>
                <a:latin typeface="Arial"/>
              </a:rPr>
              <a:t>crowds, vendors, turning buses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090672" y="5916168"/>
            <a:ext cx="1645920" cy="384048"/>
          </a:xfrm>
          <a:prstGeom prst="roundRect">
            <a:avLst>
              <a:gd name="adj" fmla="val 14285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145536" y="593445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Village roads</a:t>
            </a:r>
          </a:p>
          <a:p>
            <a:pPr algn="l"/>
            <a:r>
              <a:rPr sz="630" b="0" i="0" u="none">
                <a:solidFill>
                  <a:srgbClr val="333F55"/>
                </a:solidFill>
                <a:latin typeface="Arial"/>
              </a:rPr>
              <a:t>narrow, unmarked, cattle, tractors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791456" y="5916168"/>
            <a:ext cx="1645920" cy="384048"/>
          </a:xfrm>
          <a:prstGeom prst="roundRect">
            <a:avLst>
              <a:gd name="adj" fmla="val 14285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846320" y="593445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Highways &amp; transitions</a:t>
            </a:r>
          </a:p>
          <a:p>
            <a:pPr algn="l"/>
            <a:r>
              <a:rPr sz="630" b="0" i="0" u="none">
                <a:solidFill>
                  <a:srgbClr val="333F55"/>
                </a:solidFill>
                <a:latin typeface="Arial"/>
              </a:rPr>
              <a:t>merges, trucks, higher speeds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492240" y="5916168"/>
            <a:ext cx="1645920" cy="384048"/>
          </a:xfrm>
          <a:prstGeom prst="roundRect">
            <a:avLst>
              <a:gd name="adj" fmla="val 14285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547103" y="5934456"/>
            <a:ext cx="15544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Unmarked city roads</a:t>
            </a:r>
          </a:p>
          <a:p>
            <a:pPr algn="l"/>
            <a:r>
              <a:rPr sz="630" b="0" i="0" u="none">
                <a:solidFill>
                  <a:srgbClr val="333F55"/>
                </a:solidFill>
                <a:latin typeface="Arial"/>
              </a:rPr>
              <a:t>work zones, wrong-way riders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412480" y="1115568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412480" y="111556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TECH STACK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8412480" y="1417320"/>
            <a:ext cx="3410712" cy="32004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503919" y="141732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2F6DB5"/>
                </a:solidFill>
                <a:latin typeface="Arial"/>
              </a:rPr>
              <a:t>Perception</a:t>
            </a:r>
          </a:p>
        </p:txBody>
      </p:sp>
      <p:pic>
        <p:nvPicPr>
          <p:cNvPr id="142" name="Picture 141" descr="ultralytic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64040" y="1481328"/>
            <a:ext cx="192024" cy="19202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9692640" y="1417320"/>
            <a:ext cx="303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YOLO</a:t>
            </a:r>
          </a:p>
        </p:txBody>
      </p:sp>
      <p:pic>
        <p:nvPicPr>
          <p:cNvPr id="144" name="Picture 143" descr="opencv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51668" y="1481328"/>
            <a:ext cx="192024" cy="192024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0380268" y="1417320"/>
            <a:ext cx="4096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OpenCV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412480" y="1783080"/>
            <a:ext cx="3410712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503919" y="178308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2E8B57"/>
                </a:solidFill>
                <a:latin typeface="Arial"/>
              </a:rPr>
              <a:t>Tracking</a:t>
            </a:r>
          </a:p>
        </p:txBody>
      </p:sp>
      <p:pic>
        <p:nvPicPr>
          <p:cNvPr id="148" name="Picture 147" descr="timeline_g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4040" y="1847088"/>
            <a:ext cx="192024" cy="19202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9692640" y="1783080"/>
            <a:ext cx="5687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ByteTrack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8412480" y="2148840"/>
            <a:ext cx="3410712" cy="32004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503919" y="214884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6A4C9C"/>
                </a:solidFill>
                <a:latin typeface="Arial"/>
              </a:rPr>
              <a:t>Depth / Vision</a:t>
            </a:r>
          </a:p>
        </p:txBody>
      </p:sp>
      <p:pic>
        <p:nvPicPr>
          <p:cNvPr id="152" name="Picture 151" descr="layers_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64040" y="2212848"/>
            <a:ext cx="192024" cy="192024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692640" y="2148840"/>
            <a:ext cx="83393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Depth Anything</a:t>
            </a:r>
          </a:p>
        </p:txBody>
      </p:sp>
      <p:pic>
        <p:nvPicPr>
          <p:cNvPr id="154" name="Picture 153" descr="visibility_n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82020" y="2212848"/>
            <a:ext cx="192024" cy="192024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0910620" y="2148840"/>
            <a:ext cx="303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CLIP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412480" y="2514600"/>
            <a:ext cx="3410712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8503919" y="25146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E07B39"/>
                </a:solidFill>
                <a:latin typeface="Arial"/>
              </a:rPr>
              <a:t>Planning</a:t>
            </a:r>
          </a:p>
        </p:txBody>
      </p:sp>
      <p:pic>
        <p:nvPicPr>
          <p:cNvPr id="158" name="Picture 157" descr="pytho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64040" y="2578608"/>
            <a:ext cx="192024" cy="192024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9692640" y="2514600"/>
            <a:ext cx="409651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Python</a:t>
            </a:r>
          </a:p>
        </p:txBody>
      </p:sp>
      <p:pic>
        <p:nvPicPr>
          <p:cNvPr id="160" name="Picture 159" descr="nump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57739" y="2578608"/>
            <a:ext cx="192024" cy="192024"/>
          </a:xfrm>
          <a:prstGeom prst="rect">
            <a:avLst/>
          </a:prstGeom>
        </p:spPr>
      </p:pic>
      <p:sp>
        <p:nvSpPr>
          <p:cNvPr id="161" name="TextBox 160"/>
          <p:cNvSpPr txBox="1"/>
          <p:nvPr/>
        </p:nvSpPr>
        <p:spPr>
          <a:xfrm>
            <a:off x="10486339" y="2514600"/>
            <a:ext cx="35661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NumPy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8412480" y="2880360"/>
            <a:ext cx="3410712" cy="320040"/>
          </a:xfrm>
          <a:prstGeom prst="roundRect">
            <a:avLst>
              <a:gd name="adj" fmla="val 20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503919" y="288036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C0392B"/>
                </a:solidFill>
                <a:latin typeface="Arial"/>
              </a:rPr>
              <a:t>Web / Demo</a:t>
            </a:r>
          </a:p>
        </p:txBody>
      </p:sp>
      <p:pic>
        <p:nvPicPr>
          <p:cNvPr id="164" name="Picture 163" descr="flask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64040" y="2944368"/>
            <a:ext cx="192024" cy="192024"/>
          </a:xfrm>
          <a:prstGeom prst="rect">
            <a:avLst/>
          </a:prstGeom>
        </p:spPr>
      </p:pic>
      <p:sp>
        <p:nvSpPr>
          <p:cNvPr id="165" name="TextBox 164"/>
          <p:cNvSpPr txBox="1"/>
          <p:nvPr/>
        </p:nvSpPr>
        <p:spPr>
          <a:xfrm>
            <a:off x="9692640" y="2880360"/>
            <a:ext cx="35661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Flask</a:t>
            </a:r>
          </a:p>
        </p:txBody>
      </p:sp>
      <p:pic>
        <p:nvPicPr>
          <p:cNvPr id="166" name="Picture 165" descr="html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131552" y="2944368"/>
            <a:ext cx="192024" cy="192024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10360152" y="2880360"/>
            <a:ext cx="303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HTML</a:t>
            </a:r>
          </a:p>
        </p:txBody>
      </p:sp>
      <p:pic>
        <p:nvPicPr>
          <p:cNvPr id="168" name="Picture 167" descr="cs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46028" y="2944368"/>
            <a:ext cx="192024" cy="192024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10974628" y="2880360"/>
            <a:ext cx="250545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CSS</a:t>
            </a:r>
          </a:p>
        </p:txBody>
      </p:sp>
      <p:pic>
        <p:nvPicPr>
          <p:cNvPr id="170" name="Picture 169" descr="javascript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307470" y="2944368"/>
            <a:ext cx="192024" cy="192024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1536070" y="2880360"/>
            <a:ext cx="19751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JS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8412480" y="3246120"/>
            <a:ext cx="3410712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503919" y="324612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 u="none">
                <a:solidFill>
                  <a:srgbClr val="2C5F7C"/>
                </a:solidFill>
                <a:latin typeface="Arial"/>
              </a:rPr>
              <a:t>Runtime</a:t>
            </a:r>
          </a:p>
        </p:txBody>
      </p:sp>
      <p:pic>
        <p:nvPicPr>
          <p:cNvPr id="174" name="Picture 173" descr="pytorch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464040" y="3310127"/>
            <a:ext cx="192024" cy="192024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9692640" y="3246120"/>
            <a:ext cx="46268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PyTorch</a:t>
            </a:r>
          </a:p>
        </p:txBody>
      </p:sp>
      <p:pic>
        <p:nvPicPr>
          <p:cNvPr id="176" name="Picture 175" descr="nvidia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310774" y="3310127"/>
            <a:ext cx="192024" cy="192024"/>
          </a:xfrm>
          <a:prstGeom prst="rect">
            <a:avLst/>
          </a:prstGeom>
        </p:spPr>
      </p:pic>
      <p:sp>
        <p:nvSpPr>
          <p:cNvPr id="177" name="TextBox 176"/>
          <p:cNvSpPr txBox="1"/>
          <p:nvPr/>
        </p:nvSpPr>
        <p:spPr>
          <a:xfrm>
            <a:off x="10539374" y="3246120"/>
            <a:ext cx="3035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30" b="1" i="0" u="none">
                <a:solidFill>
                  <a:srgbClr val="12263F"/>
                </a:solidFill>
                <a:latin typeface="Arial"/>
              </a:rPr>
              <a:t>CUDA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8412480" y="3639312"/>
            <a:ext cx="34107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1" u="none">
                <a:solidFill>
                  <a:srgbClr val="333F55"/>
                </a:solidFill>
                <a:latin typeface="Arial"/>
              </a:rPr>
              <a:t>GPU-accelerated inference with open pretrained models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8412480" y="3931920"/>
            <a:ext cx="978408" cy="228600"/>
          </a:xfrm>
          <a:prstGeom prst="roundRect">
            <a:avLst>
              <a:gd name="adj" fmla="val 24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412480" y="3931920"/>
            <a:ext cx="97840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8412480" y="4224528"/>
            <a:ext cx="3410712" cy="2103120"/>
          </a:xfrm>
          <a:prstGeom prst="roundRect">
            <a:avLst>
              <a:gd name="adj" fmla="val 3043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695944" y="4352544"/>
            <a:ext cx="438912" cy="43891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camera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504" y="4449104"/>
            <a:ext cx="245790" cy="245790"/>
          </a:xfrm>
          <a:prstGeom prst="rect">
            <a:avLst/>
          </a:prstGeom>
        </p:spPr>
      </p:pic>
      <p:sp>
        <p:nvSpPr>
          <p:cNvPr id="184" name="Oval 183"/>
          <p:cNvSpPr/>
          <p:nvPr/>
        </p:nvSpPr>
        <p:spPr>
          <a:xfrm>
            <a:off x="8641080" y="4297680"/>
            <a:ext cx="155448" cy="155448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8641080" y="4297680"/>
            <a:ext cx="15544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8348472" y="481888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u="none">
                <a:solidFill>
                  <a:srgbClr val="12263F"/>
                </a:solidFill>
                <a:latin typeface="Arial"/>
              </a:rPr>
              <a:t>Sense</a:t>
            </a:r>
          </a:p>
        </p:txBody>
      </p:sp>
      <p:sp>
        <p:nvSpPr>
          <p:cNvPr id="187" name="Oval 186"/>
          <p:cNvSpPr/>
          <p:nvPr/>
        </p:nvSpPr>
        <p:spPr>
          <a:xfrm>
            <a:off x="9893807" y="4352544"/>
            <a:ext cx="438912" cy="43891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8" name="Picture 187" descr="visibility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0368" y="4449104"/>
            <a:ext cx="245790" cy="245790"/>
          </a:xfrm>
          <a:prstGeom prst="rect">
            <a:avLst/>
          </a:prstGeom>
        </p:spPr>
      </p:pic>
      <p:sp>
        <p:nvSpPr>
          <p:cNvPr id="189" name="Oval 188"/>
          <p:cNvSpPr/>
          <p:nvPr/>
        </p:nvSpPr>
        <p:spPr>
          <a:xfrm>
            <a:off x="9838943" y="4297680"/>
            <a:ext cx="155448" cy="155448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9838943" y="4297680"/>
            <a:ext cx="15544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546336" y="481888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u="none">
                <a:solidFill>
                  <a:srgbClr val="12263F"/>
                </a:solidFill>
                <a:latin typeface="Arial"/>
              </a:rPr>
              <a:t>Detect &amp; track</a:t>
            </a:r>
          </a:p>
        </p:txBody>
      </p:sp>
      <p:sp>
        <p:nvSpPr>
          <p:cNvPr id="192" name="Oval 191"/>
          <p:cNvSpPr/>
          <p:nvPr/>
        </p:nvSpPr>
        <p:spPr>
          <a:xfrm>
            <a:off x="11091672" y="4352544"/>
            <a:ext cx="438912" cy="438912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3" name="Picture 192" descr="brain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88232" y="4449104"/>
            <a:ext cx="245790" cy="245790"/>
          </a:xfrm>
          <a:prstGeom prst="rect">
            <a:avLst/>
          </a:prstGeom>
        </p:spPr>
      </p:pic>
      <p:sp>
        <p:nvSpPr>
          <p:cNvPr id="194" name="Oval 193"/>
          <p:cNvSpPr/>
          <p:nvPr/>
        </p:nvSpPr>
        <p:spPr>
          <a:xfrm>
            <a:off x="11036807" y="4297680"/>
            <a:ext cx="155448" cy="155448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1036807" y="4297680"/>
            <a:ext cx="15544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0744200" y="4818888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u="none">
                <a:solidFill>
                  <a:srgbClr val="12263F"/>
                </a:solidFill>
                <a:latin typeface="Arial"/>
              </a:rPr>
              <a:t>Predict motion</a:t>
            </a:r>
          </a:p>
        </p:txBody>
      </p:sp>
      <p:sp>
        <p:nvSpPr>
          <p:cNvPr id="197" name="Oval 196"/>
          <p:cNvSpPr/>
          <p:nvPr/>
        </p:nvSpPr>
        <p:spPr>
          <a:xfrm>
            <a:off x="11091672" y="5285231"/>
            <a:ext cx="438912" cy="438912"/>
          </a:xfrm>
          <a:prstGeom prst="ellipse">
            <a:avLst/>
          </a:prstGeom>
          <a:solidFill>
            <a:srgbClr val="6A4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8" name="Picture 197" descr="warning_w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88232" y="5381792"/>
            <a:ext cx="245790" cy="245790"/>
          </a:xfrm>
          <a:prstGeom prst="rect">
            <a:avLst/>
          </a:prstGeom>
        </p:spPr>
      </p:pic>
      <p:sp>
        <p:nvSpPr>
          <p:cNvPr id="199" name="Oval 198"/>
          <p:cNvSpPr/>
          <p:nvPr/>
        </p:nvSpPr>
        <p:spPr>
          <a:xfrm>
            <a:off x="11036807" y="5230368"/>
            <a:ext cx="155448" cy="155448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1036807" y="5230368"/>
            <a:ext cx="15544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0744200" y="5751575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u="none">
                <a:solidFill>
                  <a:srgbClr val="12263F"/>
                </a:solidFill>
                <a:latin typeface="Arial"/>
              </a:rPr>
              <a:t>Assess path threat</a:t>
            </a:r>
          </a:p>
        </p:txBody>
      </p:sp>
      <p:sp>
        <p:nvSpPr>
          <p:cNvPr id="202" name="Oval 201"/>
          <p:cNvSpPr/>
          <p:nvPr/>
        </p:nvSpPr>
        <p:spPr>
          <a:xfrm>
            <a:off x="9893807" y="5285231"/>
            <a:ext cx="438912" cy="438912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3" name="Picture 202" descr="route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90368" y="5381792"/>
            <a:ext cx="245790" cy="245790"/>
          </a:xfrm>
          <a:prstGeom prst="rect">
            <a:avLst/>
          </a:prstGeom>
        </p:spPr>
      </p:pic>
      <p:sp>
        <p:nvSpPr>
          <p:cNvPr id="204" name="Oval 203"/>
          <p:cNvSpPr/>
          <p:nvPr/>
        </p:nvSpPr>
        <p:spPr>
          <a:xfrm>
            <a:off x="9838943" y="5230368"/>
            <a:ext cx="155448" cy="155448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9838943" y="5230368"/>
            <a:ext cx="15544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9546336" y="5751575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u="none">
                <a:solidFill>
                  <a:srgbClr val="12263F"/>
                </a:solidFill>
                <a:latin typeface="Arial"/>
              </a:rPr>
              <a:t>Plan trajectory</a:t>
            </a:r>
          </a:p>
        </p:txBody>
      </p:sp>
      <p:sp>
        <p:nvSpPr>
          <p:cNvPr id="207" name="Oval 206"/>
          <p:cNvSpPr/>
          <p:nvPr/>
        </p:nvSpPr>
        <p:spPr>
          <a:xfrm>
            <a:off x="8695944" y="5285231"/>
            <a:ext cx="438912" cy="43891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8" name="Picture 207" descr="loop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92504" y="5381792"/>
            <a:ext cx="245790" cy="245790"/>
          </a:xfrm>
          <a:prstGeom prst="rect">
            <a:avLst/>
          </a:prstGeom>
        </p:spPr>
      </p:pic>
      <p:sp>
        <p:nvSpPr>
          <p:cNvPr id="209" name="Oval 208"/>
          <p:cNvSpPr/>
          <p:nvPr/>
        </p:nvSpPr>
        <p:spPr>
          <a:xfrm>
            <a:off x="8641080" y="5230368"/>
            <a:ext cx="155448" cy="155448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8641080" y="5230368"/>
            <a:ext cx="15544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348472" y="5751575"/>
            <a:ext cx="11338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i="0" u="none">
                <a:solidFill>
                  <a:srgbClr val="12263F"/>
                </a:solidFill>
                <a:latin typeface="Arial"/>
              </a:rPr>
              <a:t>Act &amp; re-plan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9189720" y="4572000"/>
            <a:ext cx="649223" cy="0"/>
          </a:xfrm>
          <a:prstGeom prst="line">
            <a:avLst/>
          </a:prstGeom>
          <a:ln w="1524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H="1">
            <a:off x="9189720" y="5504688"/>
            <a:ext cx="649223" cy="0"/>
          </a:xfrm>
          <a:prstGeom prst="line">
            <a:avLst/>
          </a:prstGeom>
          <a:ln w="1524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0387584" y="4572000"/>
            <a:ext cx="649223" cy="0"/>
          </a:xfrm>
          <a:prstGeom prst="line">
            <a:avLst/>
          </a:prstGeom>
          <a:ln w="1524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H="1">
            <a:off x="10387584" y="5504688"/>
            <a:ext cx="649223" cy="0"/>
          </a:xfrm>
          <a:prstGeom prst="line">
            <a:avLst/>
          </a:prstGeom>
          <a:ln w="1524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1311128" y="5020056"/>
            <a:ext cx="0" cy="228600"/>
          </a:xfrm>
          <a:prstGeom prst="line">
            <a:avLst/>
          </a:prstGeom>
          <a:ln w="1524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8915400" y="5020056"/>
            <a:ext cx="0" cy="228600"/>
          </a:xfrm>
          <a:prstGeom prst="line">
            <a:avLst/>
          </a:prstGeom>
          <a:ln w="15240">
            <a:solidFill>
              <a:srgbClr val="12263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TextBox 217"/>
          <p:cNvSpPr txBox="1"/>
          <p:nvPr/>
        </p:nvSpPr>
        <p:spPr>
          <a:xfrm>
            <a:off x="9235440" y="4974336"/>
            <a:ext cx="17647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80" b="0" i="1" u="none">
                <a:solidFill>
                  <a:srgbClr val="333F55"/>
                </a:solidFill>
                <a:latin typeface="Arial"/>
              </a:rPr>
              <a:t>Continuous perception-to-planning loop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7432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7432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Ctrl Alt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FD6CB"/>
                </a:solidFill>
                <a:latin typeface="Arial"/>
              </a:rPr>
              <a:t>SMART INDIA HACKATHON 2026   ·   SIH26037   ·   PATHSENSE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Arial"/>
              </a:rPr>
              <a:t>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685800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9D6E8"/>
                </a:solidFill>
                <a:latin typeface="Arial"/>
              </a:rPr>
              <a:t>Screens from the working PathSense web application (research prototype)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41280" y="118872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150876"/>
            <a:ext cx="1426464" cy="67349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92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20272" y="6464808"/>
            <a:ext cx="502920" cy="256032"/>
          </a:xfrm>
          <a:prstGeom prst="roundRect">
            <a:avLst>
              <a:gd name="adj" fmla="val 2142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20272" y="64648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115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115568"/>
            <a:ext cx="3602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Landing page  </a:t>
            </a:r>
            <a:r>
              <a:rPr sz="700" b="0" i="0" u="none">
                <a:solidFill>
                  <a:srgbClr val="333F55"/>
                </a:solidFill>
                <a:latin typeface="Arial"/>
              </a:rPr>
              <a:t>Entry point; “Try PathSense” opens the app (Demo · Live · Emergency)</a:t>
            </a:r>
          </a:p>
        </p:txBody>
      </p:sp>
      <p:pic>
        <p:nvPicPr>
          <p:cNvPr id="15" name="Picture 14" descr="screen_1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08176"/>
            <a:ext cx="3986784" cy="2242566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4498848" y="1115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82896" y="1115568"/>
            <a:ext cx="3602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Demo playback  </a:t>
            </a:r>
            <a:r>
              <a:rPr sz="700" b="0" i="0" u="none">
                <a:solidFill>
                  <a:srgbClr val="333F55"/>
                </a:solidFill>
                <a:latin typeface="Arial"/>
              </a:rPr>
              <a:t>Processed drive: detections, bird’s-eye candidate trajectories, decision and reason</a:t>
            </a:r>
          </a:p>
        </p:txBody>
      </p:sp>
      <p:pic>
        <p:nvPicPr>
          <p:cNvPr id="18" name="Picture 17" descr="screen_2_dem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1408176"/>
            <a:ext cx="3986784" cy="2242566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365760" y="375132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751326"/>
            <a:ext cx="3602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Replay of key moments  </a:t>
            </a:r>
            <a:r>
              <a:rPr sz="700" b="0" i="0" u="none">
                <a:solidFill>
                  <a:srgbClr val="333F55"/>
                </a:solidFill>
                <a:latin typeface="Arial"/>
              </a:rPr>
              <a:t>Each moment lists object, distance, TTC and path status; click to replay</a:t>
            </a:r>
          </a:p>
        </p:txBody>
      </p:sp>
      <p:pic>
        <p:nvPicPr>
          <p:cNvPr id="21" name="Picture 20" descr="screen_3_replay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43934"/>
            <a:ext cx="3986784" cy="2242566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4498848" y="375132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2896" y="3751326"/>
            <a:ext cx="36027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Emergency (simulation mode)  </a:t>
            </a:r>
            <a:r>
              <a:rPr sz="700" b="0" i="0" u="none">
                <a:solidFill>
                  <a:srgbClr val="333F55"/>
                </a:solidFill>
                <a:latin typeface="Arial"/>
              </a:rPr>
              <a:t>Confirmation-first workflow; never contacts real services automatically</a:t>
            </a:r>
          </a:p>
        </p:txBody>
      </p:sp>
      <p:pic>
        <p:nvPicPr>
          <p:cNvPr id="24" name="Picture 23" descr="screen_4_emergenc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043934"/>
            <a:ext cx="3986784" cy="2242566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25" name="Rounded Rectangle 24"/>
          <p:cNvSpPr/>
          <p:nvPr/>
        </p:nvSpPr>
        <p:spPr>
          <a:xfrm>
            <a:off x="8668512" y="1115568"/>
            <a:ext cx="3154679" cy="2514600"/>
          </a:xfrm>
          <a:prstGeom prst="roundRect">
            <a:avLst>
              <a:gd name="adj" fmla="val 2545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33104" y="1225296"/>
            <a:ext cx="2880359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Current Development</a:t>
            </a:r>
          </a:p>
          <a:p>
            <a:pPr algn="l">
              <a:spcAft>
                <a:spcPts val="6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Working prototype: </a:t>
            </a:r>
            <a:r>
              <a:rPr sz="950" b="0" i="0" u="none">
                <a:solidFill>
                  <a:srgbClr val="FFFFFF"/>
                </a:solidFill>
                <a:latin typeface="Arial"/>
              </a:rPr>
              <a:t>camera-based perception, tracking, motion understanding and adaptive path planning</a:t>
            </a:r>
          </a:p>
          <a:p>
            <a:pPr algn="l">
              <a:spcAft>
                <a:spcPts val="600"/>
              </a:spcAft>
            </a:pPr>
            <a:r>
              <a:rPr sz="950" b="1" i="0" u="none">
                <a:solidFill>
                  <a:srgbClr val="FFFFFF"/>
                </a:solidFill>
                <a:latin typeface="Arial"/>
              </a:rPr>
              <a:t>Code repository:</a:t>
            </a:r>
          </a:p>
          <a:p>
            <a:pPr algn="l">
              <a:spcAft>
                <a:spcPts val="600"/>
              </a:spcAft>
            </a:pPr>
            <a:r>
              <a:rPr sz="850" b="0" i="0" u="sng">
                <a:solidFill>
                  <a:srgbClr val="9FE3D9"/>
                </a:solidFill>
                <a:latin typeface="Arial"/>
                <a:hlinkClick r:id="rId7"/>
              </a:rPr>
              <a:t>github.com/MalyalaKarthik66/pathsense-prototype</a:t>
            </a:r>
          </a:p>
          <a:p>
            <a:pPr algn="l">
              <a:spcAft>
                <a:spcPts val="600"/>
              </a:spcAft>
            </a:pPr>
            <a:r>
              <a:rPr sz="850" b="0" i="1" u="none">
                <a:solidFill>
                  <a:srgbClr val="C9D6E8"/>
                </a:solidFill>
                <a:latin typeface="Arial"/>
              </a:rPr>
              <a:t>Live demonstration shown separately during evaluation.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68512" y="3767328"/>
            <a:ext cx="3154679" cy="2560320"/>
          </a:xfrm>
          <a:prstGeom prst="roundRect">
            <a:avLst>
              <a:gd name="adj" fmla="val 2500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33104" y="3877056"/>
            <a:ext cx="28803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2263F"/>
                </a:solidFill>
                <a:latin typeface="Arial"/>
              </a:rPr>
              <a:t>What the prototype demonstrates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4206240"/>
            <a:ext cx="2862071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600"/>
              </a:spcAft>
              <a:buFont typeface="Arial"/>
              <a:buChar char="•"/>
            </a:pPr>
            <a:r>
              <a:rPr sz="900" b="0" i="0" u="none">
                <a:solidFill>
                  <a:srgbClr val="1A1A1A"/>
                </a:solidFill>
                <a:latin typeface="Arial"/>
              </a:rPr>
              <a:t>Detection &amp; tracking of mixed Indian road users</a:t>
            </a:r>
          </a:p>
          <a:p>
            <a:pPr algn="l" marL="109728" indent="-109728">
              <a:spcAft>
                <a:spcPts val="600"/>
              </a:spcAft>
              <a:buFont typeface="Arial"/>
              <a:buChar char="•"/>
            </a:pPr>
            <a:r>
              <a:rPr sz="900" b="0" i="0" u="none">
                <a:solidFill>
                  <a:srgbClr val="1A1A1A"/>
                </a:solidFill>
                <a:latin typeface="Arial"/>
              </a:rPr>
              <a:t>Path-threat reasoning: oncoming vs. entering the path</a:t>
            </a:r>
          </a:p>
          <a:p>
            <a:pPr algn="l" marL="109728" indent="-109728">
              <a:spcAft>
                <a:spcPts val="600"/>
              </a:spcAft>
              <a:buFont typeface="Arial"/>
              <a:buChar char="•"/>
            </a:pPr>
            <a:r>
              <a:rPr sz="900" b="0" i="0" u="none">
                <a:solidFill>
                  <a:srgbClr val="1A1A1A"/>
                </a:solidFill>
                <a:latin typeface="Arial"/>
              </a:rPr>
              <a:t>Adaptive candidate-path planning around obstacles</a:t>
            </a:r>
          </a:p>
          <a:p>
            <a:pPr algn="l" marL="109728" indent="-109728">
              <a:spcAft>
                <a:spcPts val="600"/>
              </a:spcAft>
              <a:buFont typeface="Arial"/>
              <a:buChar char="•"/>
            </a:pPr>
            <a:r>
              <a:rPr sz="900" b="0" i="0" u="none">
                <a:solidFill>
                  <a:srgbClr val="1A1A1A"/>
                </a:solidFill>
                <a:latin typeface="Arial"/>
              </a:rPr>
              <a:t>Explainable decisions with replay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7432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7432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Ctrl Alt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FD6CB"/>
                </a:solidFill>
                <a:latin typeface="Arial"/>
              </a:rPr>
              <a:t>SMART INDIA HACKATHON 2026   ·   SIH26037   ·   PATHSENSE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Arial"/>
              </a:rPr>
              <a:t>FEASIBILITY AND VIABILITY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18872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150876"/>
            <a:ext cx="1426464" cy="6734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20272" y="6464808"/>
            <a:ext cx="502920" cy="256032"/>
          </a:xfrm>
          <a:prstGeom prst="roundRect">
            <a:avLst>
              <a:gd name="adj" fmla="val 2142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20272" y="64648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115568"/>
            <a:ext cx="3566160" cy="1874519"/>
          </a:xfrm>
          <a:prstGeom prst="roundRect">
            <a:avLst>
              <a:gd name="adj" fmla="val 341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115568"/>
            <a:ext cx="3566160" cy="384048"/>
          </a:xfrm>
          <a:prstGeom prst="roundRect">
            <a:avLst>
              <a:gd name="adj" fmla="val 16666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79576"/>
            <a:ext cx="256032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" y="111556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" y="1627632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500"/>
              </a:spcAft>
              <a:buFont typeface="Arial"/>
              <a:buChar char="•"/>
            </a:pPr>
            <a:r>
              <a:rPr sz="950" b="1" i="0" u="none">
                <a:solidFill>
                  <a:srgbClr val="12263F"/>
                </a:solidFill>
                <a:latin typeface="Arial"/>
              </a:rPr>
              <a:t>Technology: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Established computer-vision and motion-planning building blocks; camera-based perception to start.</a:t>
            </a:r>
          </a:p>
          <a:p>
            <a:pPr algn="l" marL="109728" indent="-109728">
              <a:spcAft>
                <a:spcPts val="500"/>
              </a:spcAft>
              <a:buFont typeface="Arial"/>
              <a:buChar char="•"/>
            </a:pPr>
            <a:r>
              <a:rPr sz="950" b="1" i="0" u="none">
                <a:solidFill>
                  <a:srgbClr val="12263F"/>
                </a:solidFill>
                <a:latin typeface="Arial"/>
              </a:rPr>
              <a:t>Architecture: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Modular perception → prediction → planning; radar / LiDAR and vehicle-state inputs added progressively; scenario-based simulation supports development.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41648" y="1115568"/>
            <a:ext cx="3566160" cy="1874519"/>
          </a:xfrm>
          <a:prstGeom prst="roundRect">
            <a:avLst>
              <a:gd name="adj" fmla="val 341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041648" y="1115568"/>
            <a:ext cx="3566160" cy="384048"/>
          </a:xfrm>
          <a:prstGeom prst="roundRect">
            <a:avLst>
              <a:gd name="adj" fmla="val 16666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ock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1179576"/>
            <a:ext cx="256032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498848" y="111556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Arial"/>
              </a:rPr>
              <a:t>VIABILITY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1627632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500"/>
              </a:spcAft>
              <a:buFont typeface="Arial"/>
              <a:buChar char="•"/>
            </a:pPr>
            <a:r>
              <a:rPr sz="950" b="1" i="0" u="none">
                <a:solidFill>
                  <a:srgbClr val="12263F"/>
                </a:solidFill>
                <a:latin typeface="Arial"/>
              </a:rPr>
              <a:t>Relevance: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Mixed, irregular traffic on urban roads, village roads, highways and dense traffic.</a:t>
            </a:r>
          </a:p>
          <a:p>
            <a:pPr algn="l" marL="109728" indent="-109728">
              <a:spcAft>
                <a:spcPts val="500"/>
              </a:spcAft>
              <a:buFont typeface="Arial"/>
              <a:buChar char="•"/>
            </a:pPr>
            <a:r>
              <a:rPr sz="950" b="1" i="0" u="none">
                <a:solidFill>
                  <a:srgbClr val="12263F"/>
                </a:solidFill>
                <a:latin typeface="Arial"/>
              </a:rPr>
              <a:t>Deployment: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Modular architecture supports incremental deployment through controlled pilots.</a:t>
            </a:r>
          </a:p>
          <a:p>
            <a:pPr algn="l" marL="109728" indent="-109728">
              <a:spcAft>
                <a:spcPts val="500"/>
              </a:spcAft>
              <a:buFont typeface="Arial"/>
              <a:buChar char="•"/>
            </a:pPr>
            <a:r>
              <a:rPr sz="950" b="1" i="0" u="none">
                <a:solidFill>
                  <a:srgbClr val="12263F"/>
                </a:solidFill>
                <a:latin typeface="Arial"/>
              </a:rPr>
              <a:t>Future fit: </a:t>
            </a:r>
            <a:r>
              <a:rPr sz="950" b="0" i="0" u="none">
                <a:solidFill>
                  <a:srgbClr val="1A1A1A"/>
                </a:solidFill>
                <a:latin typeface="Arial"/>
              </a:rPr>
              <a:t>Can integrate with future intelligent-vehicle platforms.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154680"/>
            <a:ext cx="1426464" cy="228600"/>
          </a:xfrm>
          <a:prstGeom prst="roundRect">
            <a:avLst>
              <a:gd name="adj" fmla="val 24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154680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RISKS → MITIGATION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47288"/>
            <a:ext cx="7242048" cy="310896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44728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u="none">
                <a:solidFill>
                  <a:srgbClr val="FFFFFF"/>
                </a:solidFill>
                <a:latin typeface="Arial"/>
              </a:rPr>
              <a:t>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3447288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 i="0" u="none">
                <a:solidFill>
                  <a:srgbClr val="FFFFFF"/>
                </a:solidFill>
                <a:latin typeface="Arial"/>
              </a:rPr>
              <a:t>MITIGATION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758184"/>
            <a:ext cx="7242048" cy="640080"/>
          </a:xfrm>
          <a:prstGeom prst="rect">
            <a:avLst/>
          </a:prstGeom>
          <a:solidFill>
            <a:srgbClr val="F2F4F7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warning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959352"/>
            <a:ext cx="237744" cy="23774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04672" y="375818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12263F"/>
                </a:solidFill>
                <a:latin typeface="Arial"/>
              </a:rPr>
              <a:t>Unstructured road geometry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74720" y="4078224"/>
            <a:ext cx="292608" cy="0"/>
          </a:xfrm>
          <a:prstGeom prst="line">
            <a:avLst/>
          </a:prstGeom>
          <a:ln w="1905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86200" y="3758184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1A1A1A"/>
                </a:solidFill>
                <a:latin typeface="Arial"/>
              </a:rPr>
              <a:t>Drivable-corridor estimation and path-aware planning.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98264"/>
            <a:ext cx="72420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warning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4599432"/>
            <a:ext cx="237744" cy="23774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04672" y="439826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12263F"/>
                </a:solidFill>
                <a:latin typeface="Arial"/>
              </a:rPr>
              <a:t>Unpredictable road-user behaviour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474720" y="4718304"/>
            <a:ext cx="292608" cy="0"/>
          </a:xfrm>
          <a:prstGeom prst="line">
            <a:avLst/>
          </a:prstGeom>
          <a:ln w="1905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886200" y="4398264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1A1A1A"/>
                </a:solidFill>
                <a:latin typeface="Arial"/>
              </a:rPr>
              <a:t>Temporal tracking and short-term motion reasoning.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038344"/>
            <a:ext cx="7242048" cy="640080"/>
          </a:xfrm>
          <a:prstGeom prst="rect">
            <a:avLst/>
          </a:prstGeom>
          <a:solidFill>
            <a:srgbClr val="F2F4F7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warning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5239512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04672" y="503834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12263F"/>
                </a:solidFill>
                <a:latin typeface="Arial"/>
              </a:rPr>
              <a:t>Perception uncertainty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474720" y="5358383"/>
            <a:ext cx="292608" cy="0"/>
          </a:xfrm>
          <a:prstGeom prst="line">
            <a:avLst/>
          </a:prstGeom>
          <a:ln w="1905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886200" y="5038344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1A1A1A"/>
                </a:solidFill>
                <a:latin typeface="Arial"/>
              </a:rPr>
              <a:t>Confidence-aware decisions and future sensor fusion.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678424"/>
            <a:ext cx="7242048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warning_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5879592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04672" y="5678424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12263F"/>
                </a:solidFill>
                <a:latin typeface="Arial"/>
              </a:rPr>
              <a:t>Real-world validation complexity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474720" y="5998464"/>
            <a:ext cx="292608" cy="0"/>
          </a:xfrm>
          <a:prstGeom prst="line">
            <a:avLst/>
          </a:prstGeom>
          <a:ln w="19050">
            <a:solidFill>
              <a:srgbClr val="0F9E8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886200" y="5678424"/>
            <a:ext cx="36118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 u="none">
                <a:solidFill>
                  <a:srgbClr val="1A1A1A"/>
                </a:solidFill>
                <a:latin typeface="Arial"/>
              </a:rPr>
              <a:t>Scenario library + simulation + controlled field testing.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82127" y="1115568"/>
            <a:ext cx="2194560" cy="228600"/>
          </a:xfrm>
          <a:prstGeom prst="roundRect">
            <a:avLst>
              <a:gd name="adj" fmla="val 24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82127" y="111556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PROTOTYPE → PILOT → PRODUCTION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01583" y="1572768"/>
            <a:ext cx="36576" cy="2103120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55279" y="1499616"/>
            <a:ext cx="329184" cy="329184"/>
          </a:xfrm>
          <a:prstGeom prst="ellipse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9" y="149961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1481328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12263F"/>
                </a:solidFill>
                <a:latin typeface="Arial"/>
              </a:rPr>
              <a:t>PROTOTYPE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1755648"/>
            <a:ext cx="3392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u="none">
                <a:solidFill>
                  <a:srgbClr val="1A1A1A"/>
                </a:solidFill>
                <a:latin typeface="Arial"/>
              </a:rPr>
              <a:t>Camera-based proof of concept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for perception, tracking and adaptive path planning.</a:t>
            </a:r>
          </a:p>
        </p:txBody>
      </p:sp>
      <p:sp>
        <p:nvSpPr>
          <p:cNvPr id="54" name="Oval 53"/>
          <p:cNvSpPr/>
          <p:nvPr/>
        </p:nvSpPr>
        <p:spPr>
          <a:xfrm>
            <a:off x="7955279" y="2368296"/>
            <a:ext cx="329184" cy="329184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55279" y="236829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2350008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0F9E8E"/>
                </a:solidFill>
                <a:latin typeface="Arial"/>
              </a:rPr>
              <a:t>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24328"/>
            <a:ext cx="3392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u="none">
                <a:solidFill>
                  <a:srgbClr val="1A1A1A"/>
                </a:solidFill>
                <a:latin typeface="Arial"/>
              </a:rPr>
              <a:t>Multi-scenario validation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with richer sensing, simulation and controlled road testing.</a:t>
            </a:r>
          </a:p>
        </p:txBody>
      </p:sp>
      <p:sp>
        <p:nvSpPr>
          <p:cNvPr id="58" name="Oval 57"/>
          <p:cNvSpPr/>
          <p:nvPr/>
        </p:nvSpPr>
        <p:spPr>
          <a:xfrm>
            <a:off x="7955279" y="3236976"/>
            <a:ext cx="329184" cy="329184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55279" y="323697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0" y="3218688"/>
            <a:ext cx="33924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u="none">
                <a:solidFill>
                  <a:srgbClr val="E8A33D"/>
                </a:solidFill>
                <a:latin typeface="Arial"/>
              </a:rPr>
              <a:t>PRODUCTION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80" y="3493008"/>
            <a:ext cx="3392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" b="1" i="0" u="none">
                <a:solidFill>
                  <a:srgbClr val="1A1A1A"/>
                </a:solidFill>
                <a:latin typeface="Arial"/>
              </a:rPr>
              <a:t>Vehicle-grade multi-sensor integration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, closed-loop validation and automotive safety engineering.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82127" y="4160520"/>
            <a:ext cx="2450592" cy="228600"/>
          </a:xfrm>
          <a:prstGeom prst="roundRect">
            <a:avLst>
              <a:gd name="adj" fmla="val 24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82127" y="4160520"/>
            <a:ext cx="24505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POTENTIAL COLLABORATORS / PARTNERS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882127" y="4480560"/>
            <a:ext cx="1915668" cy="548640"/>
          </a:xfrm>
          <a:prstGeom prst="roundRect">
            <a:avLst>
              <a:gd name="adj" fmla="val 11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946136" y="4590288"/>
            <a:ext cx="329184" cy="329184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ca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1972" y="4656124"/>
            <a:ext cx="197510" cy="19751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339327" y="4544568"/>
            <a:ext cx="14218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12263F"/>
                </a:solidFill>
                <a:latin typeface="Arial"/>
              </a:rPr>
              <a:t>Automotive OEMs &amp; Tier-1s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9327" y="4791456"/>
            <a:ext cx="1421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ADAS / AV integration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70948" y="4480560"/>
            <a:ext cx="1915668" cy="548640"/>
          </a:xfrm>
          <a:prstGeom prst="roundRect">
            <a:avLst>
              <a:gd name="adj" fmla="val 11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934956" y="4590288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scienc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0792" y="4656124"/>
            <a:ext cx="197510" cy="19751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10328148" y="4544568"/>
            <a:ext cx="14218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12263F"/>
                </a:solidFill>
                <a:latin typeface="Arial"/>
              </a:rPr>
              <a:t>Research institutes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28148" y="4791456"/>
            <a:ext cx="1421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IITs, IISc, AV labs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882127" y="5102352"/>
            <a:ext cx="1915668" cy="548640"/>
          </a:xfrm>
          <a:prstGeom prst="roundRect">
            <a:avLst>
              <a:gd name="adj" fmla="val 11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46136" y="5212080"/>
            <a:ext cx="329184" cy="329184"/>
          </a:xfrm>
          <a:prstGeom prst="ellipse">
            <a:avLst/>
          </a:prstGeom>
          <a:solidFill>
            <a:srgbClr val="6A4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layers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11972" y="5277916"/>
            <a:ext cx="197510" cy="19751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339327" y="5166360"/>
            <a:ext cx="14218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12263F"/>
                </a:solidFill>
                <a:latin typeface="Arial"/>
              </a:rPr>
              <a:t>Simulation partners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39327" y="5413248"/>
            <a:ext cx="1421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e.g. MathWorks toolchain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70948" y="5102352"/>
            <a:ext cx="1915668" cy="548640"/>
          </a:xfrm>
          <a:prstGeom prst="roundRect">
            <a:avLst>
              <a:gd name="adj" fmla="val 11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34956" y="5212080"/>
            <a:ext cx="329184" cy="329184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shield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00792" y="5277916"/>
            <a:ext cx="197510" cy="19751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328148" y="5166360"/>
            <a:ext cx="14218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12263F"/>
                </a:solidFill>
                <a:latin typeface="Arial"/>
              </a:rPr>
              <a:t>Road-safety bodies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28148" y="5413248"/>
            <a:ext cx="1421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MoRTH, state transport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82127" y="5724144"/>
            <a:ext cx="1915668" cy="548640"/>
          </a:xfrm>
          <a:prstGeom prst="roundRect">
            <a:avLst>
              <a:gd name="adj" fmla="val 11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946136" y="5833872"/>
            <a:ext cx="329184" cy="329184"/>
          </a:xfrm>
          <a:prstGeom prst="ellipse">
            <a:avLst/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bu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1972" y="5899708"/>
            <a:ext cx="197510" cy="19751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8339327" y="5788152"/>
            <a:ext cx="14218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12263F"/>
                </a:solidFill>
                <a:latin typeface="Arial"/>
              </a:rPr>
              <a:t>Fleet operators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39327" y="6035040"/>
            <a:ext cx="1421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Buses, taxis, logistics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9870948" y="5724144"/>
            <a:ext cx="1915668" cy="548640"/>
          </a:xfrm>
          <a:prstGeom prst="roundRect">
            <a:avLst>
              <a:gd name="adj" fmla="val 11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934956" y="5833872"/>
            <a:ext cx="329184" cy="329184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map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0792" y="5899708"/>
            <a:ext cx="197510" cy="197510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0328148" y="5788152"/>
            <a:ext cx="14218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12263F"/>
                </a:solidFill>
                <a:latin typeface="Arial"/>
              </a:rPr>
              <a:t>Mapping &amp; data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328148" y="6035040"/>
            <a:ext cx="1421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" b="0" i="0" u="none">
                <a:solidFill>
                  <a:srgbClr val="333F55"/>
                </a:solidFill>
                <a:latin typeface="Arial"/>
              </a:rPr>
              <a:t>OpenStreetMap, IDD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7432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7432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Ctrl Alt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FD6CB"/>
                </a:solidFill>
                <a:latin typeface="Arial"/>
              </a:rPr>
              <a:t>SMART INDIA HACKATHON 2026   ·   SIH26037   ·   PATHSENSE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Arial"/>
              </a:rPr>
              <a:t>PROOF OF CONCEPT, IMPACT &amp; 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18872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150876"/>
            <a:ext cx="1426464" cy="6734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20272" y="6464808"/>
            <a:ext cx="502920" cy="256032"/>
          </a:xfrm>
          <a:prstGeom prst="roundRect">
            <a:avLst>
              <a:gd name="adj" fmla="val 2142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20272" y="64648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115568"/>
            <a:ext cx="1298448" cy="228600"/>
          </a:xfrm>
          <a:prstGeom prst="roundRect">
            <a:avLst>
              <a:gd name="adj" fmla="val 24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15568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PROOF OF CONCEPT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0546" y="1673352"/>
            <a:ext cx="9547860" cy="36576"/>
          </a:xfrm>
          <a:prstGeom prst="rect">
            <a:avLst/>
          </a:prstGeom>
          <a:solidFill>
            <a:srgbClr val="C9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1090" y="1472184"/>
            <a:ext cx="438912" cy="438912"/>
          </a:xfrm>
          <a:prstGeom prst="ellipse">
            <a:avLst/>
          </a:prstGeom>
          <a:solidFill>
            <a:srgbClr val="2F6DB5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1090" y="1472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1993392"/>
            <a:ext cx="1818132" cy="960120"/>
          </a:xfrm>
          <a:prstGeom prst="roundRect">
            <a:avLst>
              <a:gd name="adj" fmla="val 6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057400"/>
            <a:ext cx="16535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2F6DB5"/>
                </a:solidFill>
                <a:latin typeface="Arial"/>
              </a:rP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286000"/>
            <a:ext cx="16535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u="none">
                <a:solidFill>
                  <a:srgbClr val="1A1A1A"/>
                </a:solidFill>
                <a:latin typeface="Arial"/>
              </a:rPr>
              <a:t>Unstructured Indian roads create difficult path-planning conditions</a:t>
            </a:r>
          </a:p>
        </p:txBody>
      </p:sp>
      <p:sp>
        <p:nvSpPr>
          <p:cNvPr id="20" name="Oval 19"/>
          <p:cNvSpPr/>
          <p:nvPr/>
        </p:nvSpPr>
        <p:spPr>
          <a:xfrm>
            <a:off x="3010661" y="1472184"/>
            <a:ext cx="438912" cy="438912"/>
          </a:xfrm>
          <a:prstGeom prst="ellipse">
            <a:avLst/>
          </a:prstGeom>
          <a:solidFill>
            <a:srgbClr val="D4A01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10661" y="1472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21052" y="1993392"/>
            <a:ext cx="1818132" cy="960120"/>
          </a:xfrm>
          <a:prstGeom prst="roundRect">
            <a:avLst>
              <a:gd name="adj" fmla="val 6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3348" y="2057400"/>
            <a:ext cx="16535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D4A017"/>
                </a:solidFill>
                <a:latin typeface="Arial"/>
              </a:rPr>
              <a:t>OBJECTIVE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03348" y="2286000"/>
            <a:ext cx="16535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u="none">
                <a:solidFill>
                  <a:srgbClr val="1A1A1A"/>
                </a:solidFill>
                <a:latin typeface="Arial"/>
              </a:rPr>
              <a:t>Safe adaptive trajectories without relying solely on lane markings</a:t>
            </a:r>
          </a:p>
        </p:txBody>
      </p:sp>
      <p:sp>
        <p:nvSpPr>
          <p:cNvPr id="25" name="Oval 24"/>
          <p:cNvSpPr/>
          <p:nvPr/>
        </p:nvSpPr>
        <p:spPr>
          <a:xfrm>
            <a:off x="4920234" y="1472184"/>
            <a:ext cx="438912" cy="438912"/>
          </a:xfrm>
          <a:prstGeom prst="ellipse">
            <a:avLst/>
          </a:prstGeom>
          <a:solidFill>
            <a:srgbClr val="2E8B57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20234" y="1472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30624" y="1993392"/>
            <a:ext cx="1818132" cy="960120"/>
          </a:xfrm>
          <a:prstGeom prst="roundRect">
            <a:avLst>
              <a:gd name="adj" fmla="val 6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2920" y="2057400"/>
            <a:ext cx="16535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2E8B57"/>
                </a:solidFill>
                <a:latin typeface="Arial"/>
              </a:rPr>
              <a:t>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2920" y="2286000"/>
            <a:ext cx="16535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u="none">
                <a:solidFill>
                  <a:srgbClr val="1A1A1A"/>
                </a:solidFill>
                <a:latin typeface="Arial"/>
              </a:rPr>
              <a:t>Camera-based perception, tracking, motion understanding and adaptive planning</a:t>
            </a:r>
          </a:p>
        </p:txBody>
      </p:sp>
      <p:sp>
        <p:nvSpPr>
          <p:cNvPr id="30" name="Oval 29"/>
          <p:cNvSpPr/>
          <p:nvPr/>
        </p:nvSpPr>
        <p:spPr>
          <a:xfrm>
            <a:off x="6829806" y="1472184"/>
            <a:ext cx="438912" cy="438912"/>
          </a:xfrm>
          <a:prstGeom prst="ellipse">
            <a:avLst/>
          </a:prstGeom>
          <a:solidFill>
            <a:srgbClr val="6A4C9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29806" y="1472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0196" y="1993392"/>
            <a:ext cx="1818132" cy="960120"/>
          </a:xfrm>
          <a:prstGeom prst="roundRect">
            <a:avLst>
              <a:gd name="adj" fmla="val 6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2492" y="2057400"/>
            <a:ext cx="16535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6A4C9C"/>
                </a:solidFill>
                <a:latin typeface="Arial"/>
              </a:rPr>
              <a:t>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22492" y="2286000"/>
            <a:ext cx="16535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u="none">
                <a:solidFill>
                  <a:srgbClr val="1A1A1A"/>
                </a:solidFill>
                <a:latin typeface="Arial"/>
              </a:rPr>
              <a:t>Scenario-based evaluation across mixed-traffic road situations</a:t>
            </a:r>
          </a:p>
        </p:txBody>
      </p:sp>
      <p:sp>
        <p:nvSpPr>
          <p:cNvPr id="35" name="Oval 34"/>
          <p:cNvSpPr/>
          <p:nvPr/>
        </p:nvSpPr>
        <p:spPr>
          <a:xfrm>
            <a:off x="8739378" y="1472184"/>
            <a:ext cx="438912" cy="438912"/>
          </a:xfrm>
          <a:prstGeom prst="ellipse">
            <a:avLst/>
          </a:prstGeom>
          <a:solidFill>
            <a:srgbClr val="E07B39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9378" y="1472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9768" y="1993392"/>
            <a:ext cx="1818132" cy="960120"/>
          </a:xfrm>
          <a:prstGeom prst="roundRect">
            <a:avLst>
              <a:gd name="adj" fmla="val 6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2064" y="2057400"/>
            <a:ext cx="16535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E07B39"/>
                </a:solidFill>
                <a:latin typeface="Arial"/>
              </a:rPr>
              <a:t>SUCCESS CRITERIA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2064" y="2286000"/>
            <a:ext cx="16535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u="none">
                <a:solidFill>
                  <a:srgbClr val="1A1A1A"/>
                </a:solidFill>
                <a:latin typeface="Arial"/>
              </a:rPr>
              <a:t>Safe path selection, appropriate risk response, robust behaviour across roads</a:t>
            </a:r>
          </a:p>
        </p:txBody>
      </p:sp>
      <p:sp>
        <p:nvSpPr>
          <p:cNvPr id="40" name="Oval 39"/>
          <p:cNvSpPr/>
          <p:nvPr/>
        </p:nvSpPr>
        <p:spPr>
          <a:xfrm>
            <a:off x="10648950" y="1472184"/>
            <a:ext cx="438912" cy="438912"/>
          </a:xfrm>
          <a:prstGeom prst="ellipse">
            <a:avLst/>
          </a:prstGeom>
          <a:solidFill>
            <a:srgbClr val="0F9E8E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48950" y="147218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959340" y="1993392"/>
            <a:ext cx="1818132" cy="960120"/>
          </a:xfrm>
          <a:prstGeom prst="roundRect">
            <a:avLst>
              <a:gd name="adj" fmla="val 666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41636" y="2057400"/>
            <a:ext cx="16535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80" b="1" i="0" u="none">
                <a:solidFill>
                  <a:srgbClr val="0F9E8E"/>
                </a:solidFill>
                <a:latin typeface="Arial"/>
              </a:rPr>
              <a:t>NEXT STEPS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1636" y="2286000"/>
            <a:ext cx="16535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 u="none">
                <a:solidFill>
                  <a:srgbClr val="1A1A1A"/>
                </a:solidFill>
                <a:latin typeface="Arial"/>
              </a:rPr>
              <a:t>Sensor fusion, closed-loop simulation, broader field trials, vehicle integration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5760" y="3044952"/>
            <a:ext cx="11457432" cy="292608"/>
          </a:xfrm>
          <a:prstGeom prst="roundRect">
            <a:avLst>
              <a:gd name="adj" fmla="val 15625"/>
            </a:avLst>
          </a:prstGeom>
          <a:solidFill>
            <a:srgbClr val="E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3044952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12263F"/>
                </a:solidFill>
                <a:latin typeface="Arial"/>
              </a:rPr>
              <a:t>Resources: 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computer vision &amp; motion planning, road-scene video, simulation tools, compute hardware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3520440"/>
            <a:ext cx="1362456" cy="228600"/>
          </a:xfrm>
          <a:prstGeom prst="roundRect">
            <a:avLst>
              <a:gd name="adj" fmla="val 24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520440"/>
            <a:ext cx="13624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POTENTIAL IMPACTS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35204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 u="none">
                <a:solidFill>
                  <a:srgbClr val="0F9E8E"/>
                </a:solidFill>
                <a:latin typeface="Arial"/>
              </a:rPr>
              <a:t>Target Audience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3840480"/>
            <a:ext cx="5577840" cy="448056"/>
          </a:xfrm>
          <a:prstGeom prst="roundRect">
            <a:avLst>
              <a:gd name="adj" fmla="val 1428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57200" y="3913632"/>
            <a:ext cx="301752" cy="301752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c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50" y="3973982"/>
            <a:ext cx="181051" cy="18105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68680" y="3840480"/>
            <a:ext cx="49834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 i="0" u="none">
                <a:solidFill>
                  <a:srgbClr val="12263F"/>
                </a:solidFill>
                <a:latin typeface="Arial"/>
              </a:rPr>
              <a:t>Drivers / Passengers: </a:t>
            </a:r>
            <a:r>
              <a:rPr sz="930" b="0" i="0" u="none">
                <a:solidFill>
                  <a:srgbClr val="1A1A1A"/>
                </a:solidFill>
                <a:latin typeface="Arial"/>
              </a:rPr>
              <a:t>Improved handling of unpredictable road interactions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65760" y="4343400"/>
            <a:ext cx="5577840" cy="44805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57200" y="4416552"/>
            <a:ext cx="301752" cy="301752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bu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" y="4476902"/>
            <a:ext cx="181051" cy="18105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68680" y="4343400"/>
            <a:ext cx="49834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 i="0" u="none">
                <a:solidFill>
                  <a:srgbClr val="12263F"/>
                </a:solidFill>
                <a:latin typeface="Arial"/>
              </a:rPr>
              <a:t>Urban Mobility: </a:t>
            </a:r>
            <a:r>
              <a:rPr sz="930" b="0" i="0" u="none">
                <a:solidFill>
                  <a:srgbClr val="1A1A1A"/>
                </a:solidFill>
                <a:latin typeface="Arial"/>
              </a:rPr>
              <a:t>More adaptive navigation in dense mixed traffic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4846320"/>
            <a:ext cx="5577840" cy="448056"/>
          </a:xfrm>
          <a:prstGeom prst="roundRect">
            <a:avLst>
              <a:gd name="adj" fmla="val 1428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7200" y="4919472"/>
            <a:ext cx="301752" cy="301752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m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550" y="4979822"/>
            <a:ext cx="181051" cy="181051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8680" y="4846320"/>
            <a:ext cx="49834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 i="0" u="none">
                <a:solidFill>
                  <a:srgbClr val="12263F"/>
                </a:solidFill>
                <a:latin typeface="Arial"/>
              </a:rPr>
              <a:t>Rural Mobility: </a:t>
            </a:r>
            <a:r>
              <a:rPr sz="930" b="0" i="0" u="none">
                <a:solidFill>
                  <a:srgbClr val="1A1A1A"/>
                </a:solidFill>
                <a:latin typeface="Arial"/>
              </a:rPr>
              <a:t>Better operation on roads with limited lane structure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5349240"/>
            <a:ext cx="5577840" cy="448056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E3E8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57200" y="5422392"/>
            <a:ext cx="301752" cy="301752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" y="5482742"/>
            <a:ext cx="181051" cy="181051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8680" y="5349240"/>
            <a:ext cx="49834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 i="0" u="none">
                <a:solidFill>
                  <a:srgbClr val="12263F"/>
                </a:solidFill>
                <a:latin typeface="Arial"/>
              </a:rPr>
              <a:t>Road Safety: </a:t>
            </a:r>
            <a:r>
              <a:rPr sz="930" b="0" i="0" u="none">
                <a:solidFill>
                  <a:srgbClr val="1A1A1A"/>
                </a:solidFill>
                <a:latin typeface="Arial"/>
              </a:rPr>
              <a:t>Earlier recognition of path conflicts and adaptive response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65760" y="5852160"/>
            <a:ext cx="5577840" cy="448056"/>
          </a:xfrm>
          <a:prstGeom prst="roundRect">
            <a:avLst>
              <a:gd name="adj" fmla="val 1428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57200" y="5925312"/>
            <a:ext cx="301752" cy="301752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rocke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550" y="5985662"/>
            <a:ext cx="181051" cy="181051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68680" y="5852160"/>
            <a:ext cx="4983480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 i="0" u="none">
                <a:solidFill>
                  <a:srgbClr val="12263F"/>
                </a:solidFill>
                <a:latin typeface="Arial"/>
              </a:rPr>
              <a:t>Future Autonomous Vehicles: </a:t>
            </a:r>
            <a:r>
              <a:rPr sz="930" b="0" i="0" u="none">
                <a:solidFill>
                  <a:srgbClr val="1A1A1A"/>
                </a:solidFill>
                <a:latin typeface="Arial"/>
              </a:rPr>
              <a:t>A foundation for Indian-road-aware navigation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72200" y="3520440"/>
            <a:ext cx="786384" cy="228600"/>
          </a:xfrm>
          <a:prstGeom prst="roundRect">
            <a:avLst>
              <a:gd name="adj" fmla="val 24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172200" y="3520440"/>
            <a:ext cx="7863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BENEFITS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72200" y="3840480"/>
            <a:ext cx="277063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281928" y="3950208"/>
            <a:ext cx="329184" cy="329184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7764" y="4016044"/>
            <a:ext cx="197510" cy="19751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684264" y="3950208"/>
            <a:ext cx="22219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2F6DB5"/>
                </a:solidFill>
                <a:latin typeface="Arial"/>
              </a:rPr>
              <a:t>SAFETY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0216" y="4352544"/>
            <a:ext cx="2542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Path-aware collision avoidance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Earlier recognition of path conflicts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2560" y="3840480"/>
            <a:ext cx="277063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162288" y="3950208"/>
            <a:ext cx="329184" cy="329184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tun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8124" y="4016044"/>
            <a:ext cx="197510" cy="197510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9564624" y="3950208"/>
            <a:ext cx="22219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D4A017"/>
                </a:solidFill>
                <a:latin typeface="Arial"/>
              </a:rPr>
              <a:t>ADAPTABILITY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0576" y="4352544"/>
            <a:ext cx="2542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Handles changing road and traffic conditions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Works where lane markings are unreliable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72200" y="5102352"/>
            <a:ext cx="277063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281928" y="5212080"/>
            <a:ext cx="329184" cy="329184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layers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7764" y="5277916"/>
            <a:ext cx="197510" cy="197510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6684264" y="5212080"/>
            <a:ext cx="22219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2E8B57"/>
                </a:solidFill>
                <a:latin typeface="Arial"/>
              </a:rPr>
              <a:t>SCALABILITY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0216" y="5614416"/>
            <a:ext cx="2542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Can evolve from prototype → pilot → production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Modular: new sensors and platforms plug in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052560" y="5102352"/>
            <a:ext cx="2770632" cy="1188720"/>
          </a:xfrm>
          <a:prstGeom prst="roundRect">
            <a:avLst>
              <a:gd name="adj" fmla="val 5384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62288" y="5212080"/>
            <a:ext cx="329184" cy="329184"/>
          </a:xfrm>
          <a:prstGeom prst="ellipse">
            <a:avLst/>
          </a:prstGeom>
          <a:solidFill>
            <a:srgbClr val="6A4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map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124" y="5277916"/>
            <a:ext cx="197510" cy="19751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9564624" y="5212080"/>
            <a:ext cx="22219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6A4C9C"/>
                </a:solidFill>
                <a:latin typeface="Arial"/>
              </a:rPr>
              <a:t>INDIAN-ROAD RELEVANCE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80576" y="5614416"/>
            <a:ext cx="254203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Designed around mixed and irregular road behaviour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50" b="0" i="0" u="none">
                <a:solidFill>
                  <a:srgbClr val="1A1A1A"/>
                </a:solidFill>
                <a:latin typeface="Arial"/>
              </a:rPr>
              <a:t>Safer shared roads for pedestrians and two-wheelers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7432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7432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Ctrl Alt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FD6CB"/>
                </a:solidFill>
                <a:latin typeface="Arial"/>
              </a:rPr>
              <a:t>SMART INDIA HACKATHON 2026   ·   SIH26037   ·   PATHSENSE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Arial"/>
              </a:rPr>
              <a:t>BUSINESS MODEL 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18872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150876"/>
            <a:ext cx="1426464" cy="6734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20272" y="6464808"/>
            <a:ext cx="502920" cy="256032"/>
          </a:xfrm>
          <a:prstGeom prst="roundRect">
            <a:avLst>
              <a:gd name="adj" fmla="val 2142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20272" y="64648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115568"/>
            <a:ext cx="2218334" cy="3566160"/>
          </a:xfrm>
          <a:prstGeom prst="roundRect">
            <a:avLst>
              <a:gd name="adj" fmla="val 288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1115568"/>
            <a:ext cx="2218334" cy="310896"/>
          </a:xfrm>
          <a:prstGeom prst="roundRect">
            <a:avLst>
              <a:gd name="adj" fmla="val 2058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lag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432"/>
            <a:ext cx="201168" cy="201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" y="1115568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Key Partnerships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99616"/>
            <a:ext cx="2053742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OEMs: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Automotive OEMs &amp; Tier-1 ADAS suppliers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ACADEMIA: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IITs, IISc &amp; autonomy research labs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SIMULATION: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MathWorks toolchain (RoadRunner, Automated Driving Toolbox)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DATA: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Indian driving datasets (IDD), OpenStreetMap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GOVT: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MoRTH, state transport &amp; road-safety bodies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FLEETS: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Logistics, taxi &amp; public-transport operators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5534" y="1115568"/>
            <a:ext cx="2218334" cy="1737360"/>
          </a:xfrm>
          <a:prstGeom prst="roundRect">
            <a:avLst>
              <a:gd name="adj" fmla="val 36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675534" y="1115568"/>
            <a:ext cx="2218334" cy="310896"/>
          </a:xfrm>
          <a:prstGeom prst="roundRect">
            <a:avLst>
              <a:gd name="adj" fmla="val 20588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l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6974" y="1170432"/>
            <a:ext cx="201168" cy="2011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023006" y="1115568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Key Activities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6974" y="1499616"/>
            <a:ext cx="2053742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PERCEPTION R&amp;D: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Detection, tracking &amp; depth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PLANNING: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Adaptive trajectory &amp; risk logic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VALIDATION: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Scenario library &amp; simulation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INTEGRATION: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Vehicle / ADAS interfaces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5534" y="2944368"/>
            <a:ext cx="2218334" cy="1737360"/>
          </a:xfrm>
          <a:prstGeom prst="roundRect">
            <a:avLst>
              <a:gd name="adj" fmla="val 36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75534" y="2944368"/>
            <a:ext cx="2218334" cy="310896"/>
          </a:xfrm>
          <a:prstGeom prst="roundRect">
            <a:avLst>
              <a:gd name="adj" fmla="val 20588"/>
            </a:avLst>
          </a:prstGeom>
          <a:solidFill>
            <a:srgbClr val="2C5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ayer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974" y="2999232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023006" y="2944368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Key Resources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6974" y="3328415"/>
            <a:ext cx="2053742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SOFTWARE STACK: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Perception-to-planning pipeline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DATA: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Indian-road scenario library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TEAM: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CV, robotics &amp; software engineers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TOOLS: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Simulation &amp; compute infrastructure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85308" y="1115568"/>
            <a:ext cx="2218334" cy="3566160"/>
          </a:xfrm>
          <a:prstGeom prst="roundRect">
            <a:avLst>
              <a:gd name="adj" fmla="val 288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985308" y="1115568"/>
            <a:ext cx="2218334" cy="310896"/>
          </a:xfrm>
          <a:prstGeom prst="roundRect">
            <a:avLst>
              <a:gd name="adj" fmla="val 20588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6748" y="1170432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32780" y="1115568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Value Propositions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6748" y="1499616"/>
            <a:ext cx="2053742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OEMs: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An Indian-road-aware planning layer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FLEETS: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Fewer conflicts in mixed traffic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ROAD USERS: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Earlier recognition of path conflicts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RESEARCHERS: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Scenario-based validation workflow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EXPLAINABLE: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Every decision comes with its reason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MODULAR: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Camera-first, sensor-ready architecture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5083" y="1115568"/>
            <a:ext cx="2218334" cy="1737360"/>
          </a:xfrm>
          <a:prstGeom prst="roundRect">
            <a:avLst>
              <a:gd name="adj" fmla="val 36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95083" y="1115568"/>
            <a:ext cx="2218334" cy="310896"/>
          </a:xfrm>
          <a:prstGeom prst="roundRect">
            <a:avLst>
              <a:gd name="adj" fmla="val 20588"/>
            </a:avLst>
          </a:prstGeom>
          <a:solidFill>
            <a:srgbClr val="1B4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ho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6523" y="1170432"/>
            <a:ext cx="201168" cy="2011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42555" y="1115568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Customer Relationships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86523" y="1499616"/>
            <a:ext cx="2053742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CO-DEVELOPMENT: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Pilot programmes with OEMs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SUPPORT: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Integration &amp; tuning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UPDATES: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Continuous model &amp; scenario updates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TRANSPARENCY: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Decision logs for audit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95083" y="2944368"/>
            <a:ext cx="2218334" cy="1737360"/>
          </a:xfrm>
          <a:prstGeom prst="roundRect">
            <a:avLst>
              <a:gd name="adj" fmla="val 3684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95083" y="2944368"/>
            <a:ext cx="2218334" cy="310896"/>
          </a:xfrm>
          <a:prstGeom prst="roundRect">
            <a:avLst>
              <a:gd name="adj" fmla="val 20588"/>
            </a:avLst>
          </a:prstGeom>
          <a:solidFill>
            <a:srgbClr val="137A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6523" y="2999232"/>
            <a:ext cx="201168" cy="2011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642555" y="2944368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Channels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86523" y="3328415"/>
            <a:ext cx="2053742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DIRECT B2B: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OEM &amp; Tier-1 partnerships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PILOTS: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Fleet &amp; campus deployments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RESEARCH: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Academic collaborations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SDK / API: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Licensable software modules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4857" y="1115568"/>
            <a:ext cx="2218334" cy="3566160"/>
          </a:xfrm>
          <a:prstGeom prst="roundRect">
            <a:avLst>
              <a:gd name="adj" fmla="val 2885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604857" y="1115568"/>
            <a:ext cx="2218334" cy="310896"/>
          </a:xfrm>
          <a:prstGeom prst="roundRect">
            <a:avLst>
              <a:gd name="adj" fmla="val 20588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car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297" y="1170432"/>
            <a:ext cx="201168" cy="20116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952329" y="1115568"/>
            <a:ext cx="185257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Customer Segments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6297" y="1499616"/>
            <a:ext cx="2053742" cy="3127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PRIMARY: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Automotive OEMs &amp; ADAS suppliers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SECONDARY: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Fleet &amp; logistics operators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PUBLIC: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Transport &amp; road-safety agencies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RESEARCH: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AV labs &amp; testing bodies</a:t>
            </a:r>
          </a:p>
          <a:p>
            <a:pPr algn="l" marL="109728" indent="-109728">
              <a:spcAft>
                <a:spcPts val="300"/>
              </a:spcAft>
              <a:buFont typeface="Arial"/>
              <a:buChar char="•"/>
            </a:pPr>
            <a:r>
              <a:rPr sz="880" b="1" i="0" u="none">
                <a:solidFill>
                  <a:srgbClr val="12263F"/>
                </a:solidFill>
                <a:latin typeface="Arial"/>
              </a:rPr>
              <a:t>SCALE-UP:</a:t>
            </a:r>
            <a:r>
              <a:rPr sz="880" b="0" i="0" u="none">
                <a:solidFill>
                  <a:srgbClr val="1A1A1A"/>
                </a:solidFill>
                <a:latin typeface="Arial"/>
              </a:rPr>
              <a:t> City → state → national deployments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4773168"/>
            <a:ext cx="5682996" cy="1581912"/>
          </a:xfrm>
          <a:prstGeom prst="roundRect">
            <a:avLst>
              <a:gd name="adj" fmla="val 404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65760" y="4773168"/>
            <a:ext cx="1737360" cy="292608"/>
          </a:xfrm>
          <a:prstGeom prst="roundRect">
            <a:avLst>
              <a:gd name="adj" fmla="val 21875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tune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4818888"/>
            <a:ext cx="201168" cy="201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713232" y="47731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Cost Structure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5120640"/>
            <a:ext cx="5500116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R&amp;D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perception &amp; planning engineering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Data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collection, annotation &amp; scenario building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Compute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training &amp; simulation infrastructure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Validation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field testing &amp; safety engineering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Operations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integration, support &amp; updates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0196" y="4773168"/>
            <a:ext cx="5682996" cy="1581912"/>
          </a:xfrm>
          <a:prstGeom prst="roundRect">
            <a:avLst>
              <a:gd name="adj" fmla="val 404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140196" y="4773168"/>
            <a:ext cx="1819656" cy="292608"/>
          </a:xfrm>
          <a:prstGeom prst="roundRect">
            <a:avLst>
              <a:gd name="adj" fmla="val 21875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rocket_w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1636" y="4818888"/>
            <a:ext cx="201168" cy="20116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487668" y="47731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 i="0" u="none">
                <a:solidFill>
                  <a:srgbClr val="FFFFFF"/>
                </a:solidFill>
                <a:latin typeface="Arial"/>
              </a:rPr>
              <a:t>Revenue Streams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49924" y="5120640"/>
            <a:ext cx="5500116" cy="1197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Software licensing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per-vehicle / per-platform licences for OEMs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Pilot contracts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fleet &amp; campus deployments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Scenario-library access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validation datasets &amp; tools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Integration services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customisation &amp; calibration</a:t>
            </a:r>
          </a:p>
          <a:p>
            <a:pPr algn="l" marL="109728" indent="-109728">
              <a:spcAft>
                <a:spcPts val="200"/>
              </a:spcAft>
              <a:buFont typeface="Arial"/>
              <a:buChar char="•"/>
            </a:pPr>
            <a:r>
              <a:rPr sz="900" b="1" i="0" u="none">
                <a:solidFill>
                  <a:srgbClr val="12263F"/>
                </a:solidFill>
                <a:latin typeface="Arial"/>
              </a:rPr>
              <a:t>Support &amp; updates</a:t>
            </a:r>
            <a:r>
              <a:rPr sz="900" b="0" i="0" u="none">
                <a:solidFill>
                  <a:srgbClr val="1A1A1A"/>
                </a:solidFill>
                <a:latin typeface="Arial"/>
              </a:rPr>
              <a:t> – annual maintenance subscriptions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92608" y="274320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7432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u="none">
                <a:solidFill>
                  <a:srgbClr val="FFFFFF"/>
                </a:solidFill>
                <a:latin typeface="Arial"/>
              </a:rPr>
              <a:t>Ctrl Alt Elite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18872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i="0" u="none">
                <a:solidFill>
                  <a:srgbClr val="7FD6CB"/>
                </a:solidFill>
                <a:latin typeface="Arial"/>
              </a:rPr>
              <a:t>SMART INDIA HACKATHON 2026   ·   SIH26037   ·   PATHSENSE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83464"/>
            <a:ext cx="8229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 u="none">
                <a:solidFill>
                  <a:srgbClr val="FFFFFF"/>
                </a:solidFill>
                <a:latin typeface="Arial"/>
              </a:rPr>
              <a:t>RESEARCH AND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41280" y="118872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i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150876"/>
            <a:ext cx="1426464" cy="6734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922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@SIH Idea submission- Template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320272" y="6464808"/>
            <a:ext cx="502920" cy="256032"/>
          </a:xfrm>
          <a:prstGeom prst="roundRect">
            <a:avLst>
              <a:gd name="adj" fmla="val 21428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20272" y="6464808"/>
            <a:ext cx="502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115568"/>
            <a:ext cx="1938528" cy="228600"/>
          </a:xfrm>
          <a:prstGeom prst="roundRect">
            <a:avLst>
              <a:gd name="adj" fmla="val 24000"/>
            </a:avLst>
          </a:prstGeom>
          <a:solidFill>
            <a:srgbClr val="122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115568"/>
            <a:ext cx="193852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SUPPORTING RESEARCH PAPERS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417320"/>
            <a:ext cx="3671316" cy="1024128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" y="1508760"/>
            <a:ext cx="34427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0F9E8E"/>
                </a:solidFill>
                <a:latin typeface="Arial"/>
              </a:rPr>
              <a:t>AUTONOMOUS DRIVING &amp; PATH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1709928"/>
            <a:ext cx="34427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1" u="none">
                <a:solidFill>
                  <a:srgbClr val="12263F"/>
                </a:solidFill>
                <a:latin typeface="Arial"/>
              </a:rPr>
              <a:t>“A Survey of Motion Planning and Control Techniques for Self-Driving Urban Vehicles”</a:t>
            </a:r>
          </a:p>
          <a:p>
            <a:pPr algn="l">
              <a:spcAft>
                <a:spcPts val="100"/>
              </a:spcAft>
            </a:pPr>
            <a:r>
              <a:rPr sz="800" b="0" i="0" u="none">
                <a:solidFill>
                  <a:srgbClr val="333F55"/>
                </a:solidFill>
                <a:latin typeface="Arial"/>
              </a:rPr>
              <a:t>Paden et al. — IEEE T-IV, 2016</a:t>
            </a:r>
          </a:p>
          <a:p>
            <a:pPr algn="l">
              <a:spcAft>
                <a:spcPts val="100"/>
              </a:spcAft>
            </a:pPr>
            <a:r>
              <a:rPr sz="800" b="0" i="0" u="sng">
                <a:solidFill>
                  <a:srgbClr val="1155CC"/>
                </a:solidFill>
                <a:latin typeface="Arial"/>
                <a:hlinkClick r:id="rId3"/>
              </a:rPr>
              <a:t>arxiv.org/abs/1604.07446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46804" y="1417320"/>
            <a:ext cx="3671316" cy="1024128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4820" y="1508760"/>
            <a:ext cx="34427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0F9E8E"/>
                </a:solidFill>
                <a:latin typeface="Arial"/>
              </a:rPr>
              <a:t>OBJECT DETECTION &amp;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4820" y="1709928"/>
            <a:ext cx="34427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1" u="none">
                <a:solidFill>
                  <a:srgbClr val="12263F"/>
                </a:solidFill>
                <a:latin typeface="Arial"/>
              </a:rPr>
              <a:t>“ByteTrack: Multi-Object Tracking by Associating Every Detection Box”</a:t>
            </a:r>
          </a:p>
          <a:p>
            <a:pPr algn="l">
              <a:spcAft>
                <a:spcPts val="100"/>
              </a:spcAft>
            </a:pPr>
            <a:r>
              <a:rPr sz="800" b="0" i="0" u="none">
                <a:solidFill>
                  <a:srgbClr val="333F55"/>
                </a:solidFill>
                <a:latin typeface="Arial"/>
              </a:rPr>
              <a:t>Zhang et al. — ECCV, 2022</a:t>
            </a:r>
          </a:p>
          <a:p>
            <a:pPr algn="l">
              <a:spcAft>
                <a:spcPts val="100"/>
              </a:spcAft>
            </a:pPr>
            <a:r>
              <a:rPr sz="800" b="0" i="0" u="sng">
                <a:solidFill>
                  <a:srgbClr val="1155CC"/>
                </a:solidFill>
                <a:latin typeface="Arial"/>
                <a:hlinkClick r:id="rId4"/>
              </a:rPr>
              <a:t>arxiv.org/abs/2110.06864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2514600"/>
            <a:ext cx="3671316" cy="1024128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" y="2606040"/>
            <a:ext cx="34427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0F9E8E"/>
                </a:solidFill>
                <a:latin typeface="Arial"/>
              </a:rPr>
              <a:t>DEPTH ESTIMATION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" y="2807208"/>
            <a:ext cx="34427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1" u="none">
                <a:solidFill>
                  <a:srgbClr val="12263F"/>
                </a:solidFill>
                <a:latin typeface="Arial"/>
              </a:rPr>
              <a:t>“Depth Anything V2”</a:t>
            </a:r>
          </a:p>
          <a:p>
            <a:pPr algn="l">
              <a:spcAft>
                <a:spcPts val="100"/>
              </a:spcAft>
            </a:pPr>
            <a:r>
              <a:rPr sz="800" b="0" i="0" u="none">
                <a:solidFill>
                  <a:srgbClr val="333F55"/>
                </a:solidFill>
                <a:latin typeface="Arial"/>
              </a:rPr>
              <a:t>Yang et al. — NeurIPS, 2024</a:t>
            </a:r>
          </a:p>
          <a:p>
            <a:pPr algn="l">
              <a:spcAft>
                <a:spcPts val="100"/>
              </a:spcAft>
            </a:pPr>
            <a:r>
              <a:rPr sz="800" b="0" i="0" u="sng">
                <a:solidFill>
                  <a:srgbClr val="1155CC"/>
                </a:solidFill>
                <a:latin typeface="Arial"/>
                <a:hlinkClick r:id="rId5"/>
              </a:rPr>
              <a:t>arxiv.org/abs/2406.09414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46804" y="2514600"/>
            <a:ext cx="3671316" cy="1024128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4820" y="2606040"/>
            <a:ext cx="34427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80" b="1" i="0" u="none">
                <a:solidFill>
                  <a:srgbClr val="0F9E8E"/>
                </a:solidFill>
                <a:latin typeface="Arial"/>
              </a:rPr>
              <a:t>MOTION PREDICTION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4820" y="2807208"/>
            <a:ext cx="34427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 i="1" u="none">
                <a:solidFill>
                  <a:srgbClr val="12263F"/>
                </a:solidFill>
                <a:latin typeface="Arial"/>
              </a:rPr>
              <a:t>“Social LSTM: Human Trajectory Prediction in Crowded Spaces”</a:t>
            </a:r>
          </a:p>
          <a:p>
            <a:pPr algn="l">
              <a:spcAft>
                <a:spcPts val="100"/>
              </a:spcAft>
            </a:pPr>
            <a:r>
              <a:rPr sz="800" b="0" i="0" u="none">
                <a:solidFill>
                  <a:srgbClr val="333F55"/>
                </a:solidFill>
                <a:latin typeface="Arial"/>
              </a:rPr>
              <a:t>Alahi et al. — CVPR, 2016</a:t>
            </a:r>
          </a:p>
          <a:p>
            <a:pPr algn="l">
              <a:spcAft>
                <a:spcPts val="100"/>
              </a:spcAft>
            </a:pPr>
            <a:r>
              <a:rPr sz="800" b="0" i="0" u="sng">
                <a:solidFill>
                  <a:srgbClr val="1155CC"/>
                </a:solidFill>
                <a:latin typeface="Arial"/>
                <a:hlinkClick r:id="rId6"/>
              </a:rPr>
              <a:t>openaccess.thecvf.com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3703320"/>
            <a:ext cx="241096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75488" y="3794760"/>
            <a:ext cx="274320" cy="27432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849624"/>
            <a:ext cx="164592" cy="16459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22960" y="3794760"/>
            <a:ext cx="1908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 u="none">
                <a:solidFill>
                  <a:srgbClr val="12263F"/>
                </a:solidFill>
                <a:latin typeface="Arial"/>
              </a:rPr>
              <a:t>INDIAN ROAD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4160520"/>
            <a:ext cx="219151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IDD – Indian Driving Dataset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8"/>
              </a:rPr>
              <a:t>idd.insaan.iiit.ac.in</a:t>
            </a:r>
          </a:p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MoRTH – Road Accidents in India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9"/>
              </a:rPr>
              <a:t>morth.nic.in</a:t>
            </a:r>
          </a:p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OpenStreetMap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0"/>
              </a:rPr>
              <a:t>openstreetmap.org</a:t>
            </a:r>
          </a:p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Wikimedia Commons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1"/>
              </a:rPr>
              <a:t>commons.wikimedia.org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6456" y="3703320"/>
            <a:ext cx="241096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96184" y="3794760"/>
            <a:ext cx="274320" cy="2743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lag_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51048" y="3849624"/>
            <a:ext cx="164592" cy="1645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343656" y="3794760"/>
            <a:ext cx="1908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 u="none">
                <a:solidFill>
                  <a:srgbClr val="12263F"/>
                </a:solidFill>
                <a:latin typeface="Arial"/>
              </a:rPr>
              <a:t>SIH &amp;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4472" y="4160520"/>
            <a:ext cx="219151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SIH 2026 – PS SIH26037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3"/>
              </a:rPr>
              <a:t>sih.gov.in</a:t>
            </a:r>
          </a:p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MathWorks – RoadRunner &amp; ADT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4"/>
              </a:rPr>
              <a:t>mathworks.com</a:t>
            </a:r>
          </a:p>
          <a:p>
            <a:pPr algn="l">
              <a:spcAft>
                <a:spcPts val="200"/>
              </a:spcAft>
            </a:pPr>
            <a:r>
              <a:rPr sz="830" b="0" i="0" u="none">
                <a:solidFill>
                  <a:srgbClr val="333F55"/>
                </a:solidFill>
                <a:latin typeface="Arial"/>
              </a:rPr>
              <a:t>Problem focus: unmarked roads, mixed traffic, informal merges, obstacles.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07152" y="3703320"/>
            <a:ext cx="2410968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5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516880" y="3794760"/>
            <a:ext cx="274320" cy="274320"/>
          </a:xfrm>
          <a:prstGeom prst="ellipse">
            <a:avLst/>
          </a:prstGeom>
          <a:solidFill>
            <a:srgbClr val="6A4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web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71744" y="3849624"/>
            <a:ext cx="164592" cy="16459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64352" y="3794760"/>
            <a:ext cx="19080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" b="1" i="0" u="none">
                <a:solidFill>
                  <a:srgbClr val="12263F"/>
                </a:solidFill>
                <a:latin typeface="Arial"/>
              </a:rPr>
              <a:t>TECHNICAL DOCS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5168" y="4160520"/>
            <a:ext cx="2191512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Ultralytics YOLO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6"/>
              </a:rPr>
              <a:t>docs.ultralytics.com</a:t>
            </a:r>
          </a:p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PyTorch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7"/>
              </a:rPr>
              <a:t>pytorch.org/docs</a:t>
            </a:r>
          </a:p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OpenCV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8"/>
              </a:rPr>
              <a:t>docs.opencv.org</a:t>
            </a:r>
          </a:p>
          <a:p>
            <a:pPr algn="l">
              <a:spcAft>
                <a:spcPts val="200"/>
              </a:spcAft>
            </a:pPr>
            <a:r>
              <a:rPr sz="830" b="1" i="0" u="none">
                <a:solidFill>
                  <a:srgbClr val="12263F"/>
                </a:solidFill>
                <a:latin typeface="Arial"/>
              </a:rPr>
              <a:t>Flask</a:t>
            </a:r>
          </a:p>
          <a:p>
            <a:pPr algn="l">
              <a:spcAft>
                <a:spcPts val="200"/>
              </a:spcAft>
            </a:pPr>
            <a:r>
              <a:rPr sz="780" b="0" i="0" u="sng">
                <a:solidFill>
                  <a:srgbClr val="1155CC"/>
                </a:solidFill>
                <a:latin typeface="Arial"/>
                <a:hlinkClick r:id="rId19"/>
              </a:rPr>
              <a:t>flask.palletsprojects.com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062472"/>
            <a:ext cx="7452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i="0" u="none">
                <a:solidFill>
                  <a:srgbClr val="333F55"/>
                </a:solidFill>
                <a:latin typeface="Arial"/>
              </a:rPr>
              <a:t>Sources: </a:t>
            </a:r>
            <a:r>
              <a:rPr sz="750" b="0" i="1" u="none">
                <a:solidFill>
                  <a:srgbClr val="333F55"/>
                </a:solidFill>
                <a:latin typeface="Arial"/>
              </a:rPr>
              <a:t>IEEE T-IV · ECCV · NeurIPS · CVPR · IDD (IIIT-H) · MoRTH · OpenStreetMap · SIH 2026 · Ultralytics · PyTorch · OpenCV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1115568"/>
            <a:ext cx="1426464" cy="228600"/>
          </a:xfrm>
          <a:prstGeom prst="roundRect">
            <a:avLst>
              <a:gd name="adj" fmla="val 24000"/>
            </a:avLst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20" y="1115568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 u="none">
                <a:solidFill>
                  <a:srgbClr val="FFFFFF"/>
                </a:solidFill>
                <a:latin typeface="Arial"/>
              </a:rPr>
              <a:t>NATIONAL ALIGNMENT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1417320"/>
            <a:ext cx="3776471" cy="749808"/>
          </a:xfrm>
          <a:prstGeom prst="roundRect">
            <a:avLst>
              <a:gd name="adj" fmla="val 853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56448" y="1572768"/>
            <a:ext cx="438912" cy="43891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hield_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53008" y="1669328"/>
            <a:ext cx="245790" cy="24579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705088" y="1472184"/>
            <a:ext cx="30449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C0392B"/>
                </a:solidFill>
                <a:latin typeface="Arial"/>
              </a:rPr>
              <a:t>Road Safety</a:t>
            </a:r>
            <a:r>
              <a:rPr sz="750" b="1" i="0" u="none">
                <a:solidFill>
                  <a:srgbClr val="12263F"/>
                </a:solidFill>
                <a:latin typeface="Arial"/>
              </a:rPr>
              <a:t>   MoRTH road-safety goals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05088" y="1764792"/>
            <a:ext cx="30449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Earlier recognition of path conflicts on Indian roads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20" y="2240280"/>
            <a:ext cx="3776471" cy="749808"/>
          </a:xfrm>
          <a:prstGeom prst="roundRect">
            <a:avLst>
              <a:gd name="adj" fmla="val 853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156448" y="2395728"/>
            <a:ext cx="438912" cy="43891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brain_w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53008" y="2492288"/>
            <a:ext cx="245790" cy="24579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705088" y="2295144"/>
            <a:ext cx="30449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2F6DB5"/>
                </a:solidFill>
                <a:latin typeface="Arial"/>
              </a:rPr>
              <a:t>IndiaAI Mission</a:t>
            </a:r>
            <a:r>
              <a:rPr sz="750" b="1" i="0" u="none">
                <a:solidFill>
                  <a:srgbClr val="12263F"/>
                </a:solidFill>
                <a:latin typeface="Arial"/>
              </a:rPr>
              <a:t>   AI for Indian conditions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05088" y="2587752"/>
            <a:ext cx="30449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Perception and planning built for Indian traffic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3063240"/>
            <a:ext cx="3776471" cy="749808"/>
          </a:xfrm>
          <a:prstGeom prst="roundRect">
            <a:avLst>
              <a:gd name="adj" fmla="val 853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156448" y="3218688"/>
            <a:ext cx="438912" cy="438912"/>
          </a:xfrm>
          <a:prstGeom prst="ellipse">
            <a:avLst/>
          </a:prstGeom>
          <a:solidFill>
            <a:srgbClr val="E87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rocket_w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53008" y="3315248"/>
            <a:ext cx="245790" cy="24579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05088" y="3118104"/>
            <a:ext cx="30449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E8731A"/>
                </a:solidFill>
                <a:latin typeface="Arial"/>
              </a:rPr>
              <a:t>Atmanirbhar Bharat</a:t>
            </a:r>
            <a:r>
              <a:rPr sz="750" b="1" i="0" u="none">
                <a:solidFill>
                  <a:srgbClr val="12263F"/>
                </a:solidFill>
                <a:latin typeface="Arial"/>
              </a:rPr>
              <a:t>   Self-reliant technology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05088" y="3410712"/>
            <a:ext cx="30449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Home-grown autonomous-driving intelligence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0" y="3886200"/>
            <a:ext cx="3776471" cy="749808"/>
          </a:xfrm>
          <a:prstGeom prst="roundRect">
            <a:avLst>
              <a:gd name="adj" fmla="val 853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156448" y="4041648"/>
            <a:ext cx="438912" cy="438912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car_w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53008" y="4138208"/>
            <a:ext cx="245790" cy="24579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705088" y="3941063"/>
            <a:ext cx="30449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2E8B57"/>
                </a:solidFill>
                <a:latin typeface="Arial"/>
              </a:rPr>
              <a:t>Make in India</a:t>
            </a:r>
            <a:r>
              <a:rPr sz="750" b="1" i="0" u="none">
                <a:solidFill>
                  <a:srgbClr val="12263F"/>
                </a:solidFill>
                <a:latin typeface="Arial"/>
              </a:rPr>
              <a:t>   Indigenous automotive tech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05088" y="4233672"/>
            <a:ext cx="30449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ADAS software developed for Indian vehicles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20" y="4709160"/>
            <a:ext cx="3776471" cy="749808"/>
          </a:xfrm>
          <a:prstGeom prst="roundRect">
            <a:avLst>
              <a:gd name="adj" fmla="val 853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156448" y="4864608"/>
            <a:ext cx="438912" cy="438912"/>
          </a:xfrm>
          <a:prstGeom prst="ellipse">
            <a:avLst/>
          </a:prstGeom>
          <a:solidFill>
            <a:srgbClr val="6A4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map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008" y="4961168"/>
            <a:ext cx="245790" cy="245790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705088" y="4764024"/>
            <a:ext cx="30449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6A4C9C"/>
                </a:solidFill>
                <a:latin typeface="Arial"/>
              </a:rPr>
              <a:t>Smart Cities Mission</a:t>
            </a:r>
            <a:r>
              <a:rPr sz="750" b="1" i="0" u="none">
                <a:solidFill>
                  <a:srgbClr val="12263F"/>
                </a:solidFill>
                <a:latin typeface="Arial"/>
              </a:rPr>
              <a:t>   Intelligent urban mobility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05088" y="5056632"/>
            <a:ext cx="30449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Adaptive navigation in dense city traffic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46720" y="5532120"/>
            <a:ext cx="3776471" cy="749808"/>
          </a:xfrm>
          <a:prstGeom prst="roundRect">
            <a:avLst>
              <a:gd name="adj" fmla="val 8536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156448" y="5687568"/>
            <a:ext cx="438912" cy="438912"/>
          </a:xfrm>
          <a:prstGeom prst="ellipse">
            <a:avLst/>
          </a:prstGeom>
          <a:solidFill>
            <a:srgbClr val="0F9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web_w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3008" y="5784128"/>
            <a:ext cx="245790" cy="24579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705088" y="5586983"/>
            <a:ext cx="304495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u="none">
                <a:solidFill>
                  <a:srgbClr val="0F9E8E"/>
                </a:solidFill>
                <a:latin typeface="Arial"/>
              </a:rPr>
              <a:t>Digital India</a:t>
            </a:r>
            <a:r>
              <a:rPr sz="750" b="1" i="0" u="none">
                <a:solidFill>
                  <a:srgbClr val="12263F"/>
                </a:solidFill>
                <a:latin typeface="Arial"/>
              </a:rPr>
              <a:t>   Software-first innovation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5879592"/>
            <a:ext cx="3044951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u="none">
                <a:solidFill>
                  <a:srgbClr val="333F55"/>
                </a:solidFill>
                <a:latin typeface="Arial"/>
              </a:rPr>
              <a:t>Open, modular and explainable mobility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1583</TotalTime>
  <Words>1748</Words>
  <Application>Microsoft Office PowerPoint</Application>
  <PresentationFormat>Custom</PresentationFormat>
  <Paragraphs>266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Garamond</vt:lpstr>
      <vt:lpstr>Times New Roman</vt:lpstr>
      <vt:lpstr>Office Theme</vt:lpstr>
      <vt:lpstr>SMART INDIA HACKATHON 2026</vt:lpstr>
      <vt:lpstr>PowerPoint Presentation</vt:lpstr>
      <vt:lpstr>PowerPoint Presentation</vt:lpstr>
      <vt:lpstr> Prototype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Sahithi Udutha</cp:lastModifiedBy>
  <cp:revision>4</cp:revision>
  <dcterms:created xsi:type="dcterms:W3CDTF">2026-09-20T20:17:48Z</dcterms:created>
  <dcterms:modified xsi:type="dcterms:W3CDTF">2026-09-26T05:43:42Z</dcterms:modified>
</cp:coreProperties>
</file>