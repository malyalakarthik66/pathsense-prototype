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92" r:id="rId2"/>
    <p:sldId id="297" r:id="rId3"/>
    <p:sldId id="298" r:id="rId4"/>
    <p:sldId id="281" r:id="rId5"/>
    <p:sldId id="258" r:id="rId6"/>
    <p:sldId id="295" r:id="rId7"/>
    <p:sldId id="261" r:id="rId8"/>
    <p:sldId id="256" r:id="rId9"/>
  </p:sldIdLst>
  <p:sldSz cx="12192000" cy="6784975"/>
  <p:notesSz cx="6784975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9D22C6E-A578-4F12-BB54-7AC7C40E232E}">
          <p14:sldIdLst>
            <p14:sldId id="292"/>
            <p14:sldId id="297"/>
            <p14:sldId id="298"/>
            <p14:sldId id="281"/>
            <p14:sldId id="258"/>
            <p14:sldId id="295"/>
            <p14:sldId id="261"/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8DFB8F-39E4-4589-A902-B2ED13D4B6B1}" v="23" dt="2026-09-25T19:19:20.7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3970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44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4247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49250" y="685800"/>
            <a:ext cx="61595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/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4769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7880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2088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4507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3114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07743"/>
            <a:ext cx="10363200" cy="14543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44819"/>
            <a:ext cx="8534400" cy="173393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23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04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570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094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617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141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664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188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579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8867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8" Type="http://schemas.openxmlformats.org/officeDocument/2006/relationships/image" Target="../media/image34.jpg"/><Relationship Id="rId9" Type="http://schemas.openxmlformats.org/officeDocument/2006/relationships/image" Target="../media/image35.jpg"/><Relationship Id="rId10" Type="http://schemas.openxmlformats.org/officeDocument/2006/relationships/image" Target="../media/image3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7" Type="http://schemas.openxmlformats.org/officeDocument/2006/relationships/image" Target="../media/image37.jpg"/><Relationship Id="rId8" Type="http://schemas.openxmlformats.org/officeDocument/2006/relationships/image" Target="../media/image38.jpg"/><Relationship Id="rId9" Type="http://schemas.openxmlformats.org/officeDocument/2006/relationships/image" Target="../media/image39.jpg"/><Relationship Id="rId10" Type="http://schemas.openxmlformats.org/officeDocument/2006/relationships/image" Target="../media/image40.png"/><Relationship Id="rId11" Type="http://schemas.openxmlformats.org/officeDocument/2006/relationships/image" Target="../media/image41.jpg"/><Relationship Id="rId12" Type="http://schemas.openxmlformats.org/officeDocument/2006/relationships/image" Target="../media/image42.png"/><Relationship Id="rId13" Type="http://schemas.openxmlformats.org/officeDocument/2006/relationships/image" Target="../media/image43.jpg"/><Relationship Id="rId14" Type="http://schemas.openxmlformats.org/officeDocument/2006/relationships/image" Target="../media/image44.png"/><Relationship Id="rId15" Type="http://schemas.openxmlformats.org/officeDocument/2006/relationships/image" Target="../media/image45.png"/><Relationship Id="rId16" Type="http://schemas.openxmlformats.org/officeDocument/2006/relationships/image" Target="../media/image46.png"/><Relationship Id="rId17" Type="http://schemas.openxmlformats.org/officeDocument/2006/relationships/image" Target="../media/image47.png"/><Relationship Id="rId18" Type="http://schemas.openxmlformats.org/officeDocument/2006/relationships/image" Target="../media/image48.png"/><Relationship Id="rId19" Type="http://schemas.openxmlformats.org/officeDocument/2006/relationships/image" Target="../media/image49.png"/><Relationship Id="rId20" Type="http://schemas.openxmlformats.org/officeDocument/2006/relationships/image" Target="../media/image50.png"/><Relationship Id="rId21" Type="http://schemas.openxmlformats.org/officeDocument/2006/relationships/image" Target="../media/image51.png"/><Relationship Id="rId22" Type="http://schemas.openxmlformats.org/officeDocument/2006/relationships/image" Target="../media/image52.png"/><Relationship Id="rId23" Type="http://schemas.openxmlformats.org/officeDocument/2006/relationships/image" Target="../media/image53.png"/><Relationship Id="rId24" Type="http://schemas.openxmlformats.org/officeDocument/2006/relationships/image" Target="../media/image54.png"/><Relationship Id="rId25" Type="http://schemas.openxmlformats.org/officeDocument/2006/relationships/image" Target="../media/image55.png"/><Relationship Id="rId26" Type="http://schemas.openxmlformats.org/officeDocument/2006/relationships/image" Target="../media/image56.png"/><Relationship Id="rId27" Type="http://schemas.openxmlformats.org/officeDocument/2006/relationships/image" Target="../media/image57.png"/><Relationship Id="rId28" Type="http://schemas.openxmlformats.org/officeDocument/2006/relationships/image" Target="../media/image58.jpg"/><Relationship Id="rId29" Type="http://schemas.openxmlformats.org/officeDocument/2006/relationships/image" Target="../media/image59.png"/><Relationship Id="rId30" Type="http://schemas.openxmlformats.org/officeDocument/2006/relationships/image" Target="../media/image60.jpg"/><Relationship Id="rId31" Type="http://schemas.openxmlformats.org/officeDocument/2006/relationships/image" Target="../media/image61.png"/><Relationship Id="rId32" Type="http://schemas.openxmlformats.org/officeDocument/2006/relationships/image" Target="../media/image62.jpg"/><Relationship Id="rId33" Type="http://schemas.openxmlformats.org/officeDocument/2006/relationships/image" Target="../media/image63.png"/><Relationship Id="rId34" Type="http://schemas.openxmlformats.org/officeDocument/2006/relationships/image" Target="../media/image64.jpg"/><Relationship Id="rId35" Type="http://schemas.openxmlformats.org/officeDocument/2006/relationships/image" Target="../media/image65.png"/><Relationship Id="rId36" Type="http://schemas.openxmlformats.org/officeDocument/2006/relationships/image" Target="../media/image66.png"/><Relationship Id="rId37" Type="http://schemas.openxmlformats.org/officeDocument/2006/relationships/image" Target="../media/image67.png"/><Relationship Id="rId38" Type="http://schemas.openxmlformats.org/officeDocument/2006/relationships/image" Target="../media/image68.png"/><Relationship Id="rId39" Type="http://schemas.openxmlformats.org/officeDocument/2006/relationships/image" Target="../media/image69.png"/><Relationship Id="rId40" Type="http://schemas.openxmlformats.org/officeDocument/2006/relationships/image" Target="../media/image70.png"/><Relationship Id="rId41" Type="http://schemas.openxmlformats.org/officeDocument/2006/relationships/image" Target="../media/image71.png"/><Relationship Id="rId42" Type="http://schemas.openxmlformats.org/officeDocument/2006/relationships/image" Target="../media/image72.png"/><Relationship Id="rId43" Type="http://schemas.openxmlformats.org/officeDocument/2006/relationships/image" Target="../media/image7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6" Type="http://schemas.openxmlformats.org/officeDocument/2006/relationships/hyperlink" Target="https://trinetra-3d.netlify.app/" TargetMode="External"/><Relationship Id="rId9" Type="http://schemas.openxmlformats.org/officeDocument/2006/relationships/image" Target="../media/image74.jpg"/><Relationship Id="rId10" Type="http://schemas.openxmlformats.org/officeDocument/2006/relationships/image" Target="../media/image75.jpg"/><Relationship Id="rId11" Type="http://schemas.openxmlformats.org/officeDocument/2006/relationships/image" Target="../media/image76.jpg"/><Relationship Id="rId12" Type="http://schemas.openxmlformats.org/officeDocument/2006/relationships/image" Target="../media/image77.jpg"/><Relationship Id="rId13" Type="http://schemas.openxmlformats.org/officeDocument/2006/relationships/hyperlink" Target="https://github.com/MalyalaKarthik66/pathsense-prototype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8" Type="http://schemas.openxmlformats.org/officeDocument/2006/relationships/image" Target="../media/image78.png"/><Relationship Id="rId9" Type="http://schemas.openxmlformats.org/officeDocument/2006/relationships/image" Target="../media/image79.png"/><Relationship Id="rId10" Type="http://schemas.openxmlformats.org/officeDocument/2006/relationships/image" Target="../media/image51.png"/><Relationship Id="rId11" Type="http://schemas.openxmlformats.org/officeDocument/2006/relationships/image" Target="../media/image42.png"/><Relationship Id="rId12" Type="http://schemas.openxmlformats.org/officeDocument/2006/relationships/image" Target="../media/image80.png"/><Relationship Id="rId13" Type="http://schemas.openxmlformats.org/officeDocument/2006/relationships/image" Target="../media/image8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7.png"/><Relationship Id="rId4" Type="http://schemas.openxmlformats.org/officeDocument/2006/relationships/hyperlink" Target="https://doi.org/10.5194/isprs-archives-XLII-4-W15-81-2019" TargetMode="External"/><Relationship Id="rId5" Type="http://schemas.openxmlformats.org/officeDocument/2006/relationships/hyperlink" Target="https://arxiv.org/abs/1612.00593" TargetMode="External"/><Relationship Id="rId6" Type="http://schemas.openxmlformats.org/officeDocument/2006/relationships/hyperlink" Target="https://doi.org/10.3390/app12041975" TargetMode="External"/><Relationship Id="rId7" Type="http://schemas.openxmlformats.org/officeDocument/2006/relationships/hyperlink" Target="https://doi.org/10.3390/su16198337" TargetMode="External"/><Relationship Id="rId8" Type="http://schemas.openxmlformats.org/officeDocument/2006/relationships/hyperlink" Target="https://bhuvan.nrsc.gov.in/" TargetMode="External"/><Relationship Id="rId9" Type="http://schemas.openxmlformats.org/officeDocument/2006/relationships/hyperlink" Target="https://www.surveyofindia.gov.in/" TargetMode="External"/><Relationship Id="rId10" Type="http://schemas.openxmlformats.org/officeDocument/2006/relationships/hyperlink" Target="https://svamitva.nic.in/" TargetMode="External"/><Relationship Id="rId11" Type="http://schemas.openxmlformats.org/officeDocument/2006/relationships/hyperlink" Target="https://bharatmaps.gov.in/" TargetMode="External"/><Relationship Id="rId12" Type="http://schemas.openxmlformats.org/officeDocument/2006/relationships/hyperlink" Target="https://www.geoweeknews.com/articles/wgic-report-underscores-the-importance-of-geospatial-data-for-digital-twins/" TargetMode="External"/><Relationship Id="rId13" Type="http://schemas.openxmlformats.org/officeDocument/2006/relationships/hyperlink" Target="https://www.researchandmarkets.com/reports/6058260" TargetMode="External"/><Relationship Id="rId14" Type="http://schemas.openxmlformats.org/officeDocument/2006/relationships/hyperlink" Target="https://postgis.net/documentation/" TargetMode="External"/><Relationship Id="rId15" Type="http://schemas.openxmlformats.org/officeDocument/2006/relationships/hyperlink" Target="https://threejs.org/docs/" TargetMode="External"/><Relationship Id="rId16" Type="http://schemas.openxmlformats.org/officeDocument/2006/relationships/hyperlink" Target="https://fastapi.tiangolo.com/" TargetMode="External"/><Relationship Id="rId23" Type="http://schemas.openxmlformats.org/officeDocument/2006/relationships/image" Target="../media/image3.png"/><Relationship Id="rId24" Type="http://schemas.openxmlformats.org/officeDocument/2006/relationships/hyperlink" Target="https://arxiv.org/abs/1604.07446" TargetMode="External"/><Relationship Id="rId25" Type="http://schemas.openxmlformats.org/officeDocument/2006/relationships/hyperlink" Target="https://arxiv.org/abs/2110.06864" TargetMode="External"/><Relationship Id="rId26" Type="http://schemas.openxmlformats.org/officeDocument/2006/relationships/hyperlink" Target="https://arxiv.org/abs/2406.09414" TargetMode="External"/><Relationship Id="rId27" Type="http://schemas.openxmlformats.org/officeDocument/2006/relationships/hyperlink" Target="https://openaccess.thecvf.com" TargetMode="External"/><Relationship Id="rId28" Type="http://schemas.openxmlformats.org/officeDocument/2006/relationships/hyperlink" Target="https://idd.insaan.iiit.ac.in" TargetMode="External"/><Relationship Id="rId29" Type="http://schemas.openxmlformats.org/officeDocument/2006/relationships/hyperlink" Target="https://morth.nic.in" TargetMode="External"/><Relationship Id="rId30" Type="http://schemas.openxmlformats.org/officeDocument/2006/relationships/hyperlink" Target="https://openstreetmap.org" TargetMode="External"/><Relationship Id="rId31" Type="http://schemas.openxmlformats.org/officeDocument/2006/relationships/hyperlink" Target="https://commons.wikimedia.org" TargetMode="External"/><Relationship Id="rId32" Type="http://schemas.openxmlformats.org/officeDocument/2006/relationships/hyperlink" Target="https://sih.gov.in" TargetMode="External"/><Relationship Id="rId33" Type="http://schemas.openxmlformats.org/officeDocument/2006/relationships/hyperlink" Target="https://mathworks.com" TargetMode="External"/><Relationship Id="rId34" Type="http://schemas.openxmlformats.org/officeDocument/2006/relationships/hyperlink" Target="https://docs.ultralytics.com" TargetMode="External"/><Relationship Id="rId35" Type="http://schemas.openxmlformats.org/officeDocument/2006/relationships/hyperlink" Target="https://pytorch.org/docs" TargetMode="External"/><Relationship Id="rId36" Type="http://schemas.openxmlformats.org/officeDocument/2006/relationships/hyperlink" Target="https://docs.opencv.org" TargetMode="External"/><Relationship Id="rId37" Type="http://schemas.openxmlformats.org/officeDocument/2006/relationships/hyperlink" Target="https://flask.palletsproject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72684" y="-1"/>
            <a:ext cx="9046633" cy="67849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81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1458" y="842454"/>
            <a:ext cx="4589212" cy="5100076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781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46810" y="1697610"/>
            <a:ext cx="3169398" cy="3389754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062871" y="226836"/>
            <a:ext cx="8443524" cy="1733938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66465" y="-1"/>
            <a:ext cx="10252851" cy="2054340"/>
          </a:xfrm>
        </p:spPr>
        <p:txBody>
          <a:bodyPr/>
          <a:lstStyle/>
          <a:p>
            <a:r>
              <a:rPr lang="en-US" sz="3958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3958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58208" y="1600200"/>
            <a:ext cx="6454140" cy="44101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2721" indent="-282721" algn="l">
              <a:lnSpc>
                <a:spcPct val="115000"/>
              </a:lnSpc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SIH26037</a:t>
            </a:r>
          </a:p>
          <a:p>
            <a:pPr marL="282721" indent="-282721" algn="l">
              <a:lnSpc>
                <a:spcPct val="115000"/>
              </a:lnSpc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Adaptive Path Planning and Collision Avoidance for Autonomous Vehicles on Unstructured Indian Roads</a:t>
            </a:r>
          </a:p>
          <a:p>
            <a:pPr marL="282721" indent="-282721" algn="l">
              <a:lnSpc>
                <a:spcPct val="115000"/>
              </a:lnSpc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Theme – Smart Vehicles</a:t>
            </a:r>
          </a:p>
          <a:p>
            <a:pPr marL="282721" indent="-282721" algn="l">
              <a:lnSpc>
                <a:spcPct val="115000"/>
              </a:lnSpc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 – Software</a:t>
            </a:r>
          </a:p>
          <a:p>
            <a:pPr marL="282721" indent="-282721" algn="l">
              <a:lnSpc>
                <a:spcPct val="115000"/>
              </a:lnSpc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ID – 161638</a:t>
            </a:r>
          </a:p>
          <a:p>
            <a:pPr marL="282721" indent="-282721" algn="l">
              <a:lnSpc>
                <a:spcPct val="115000"/>
              </a:lnSpc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Name – Ctrl Alt Elite</a:t>
            </a:r>
          </a:p>
          <a:p>
            <a:pPr marL="282721" indent="-282721" algn="l">
              <a:lnSpc>
                <a:spcPct val="115000"/>
              </a:lnSpc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Solution – PathSense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0857" y="1484"/>
            <a:ext cx="2225893" cy="105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299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82880"/>
            <a:ext cx="12801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F5FA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201168" y="18288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 Alt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</a:t>
            </a:r>
            <a:endParaRPr lang="en-US" sz="15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45720"/>
            <a:ext cx="2276856" cy="978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327648"/>
            <a:ext cx="12191695" cy="45720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3200400" y="632764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327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8" name="Text 5"/>
          <p:cNvSpPr txBox="1"/>
          <p:nvPr/>
        </p:nvSpPr>
        <p:spPr>
          <a:xfrm>
            <a:off x="2194560" y="54864"/>
            <a:ext cx="6400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PATHSENSE</a:t>
            </a:r>
          </a:p>
        </p:txBody>
      </p:sp>
      <p:sp>
        <p:nvSpPr>
          <p:cNvPr id="9" name="Text 6"/>
          <p:cNvSpPr txBox="1"/>
          <p:nvPr/>
        </p:nvSpPr>
        <p:spPr>
          <a:xfrm>
            <a:off x="1828800" y="676656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Path Planning &amp; Collision Avoidance for Unstructured Indian Roads</a:t>
            </a:r>
          </a:p>
        </p:txBody>
      </p:sp>
      <p:pic>
        <p:nvPicPr>
          <p:cNvPr id="10" name="Image 1" descr="ic_bul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188720"/>
            <a:ext cx="475488" cy="4023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50392" y="1188720"/>
            <a:ext cx="3630168" cy="402336"/>
          </a:xfrm>
          <a:prstGeom prst="rect">
            <a:avLst/>
          </a:prstGeom>
          <a:solidFill>
            <a:srgbClr val="9CC7EC"/>
          </a:solidFill>
          <a:ln w="12700">
            <a:solidFill>
              <a:srgbClr val="9CC7E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78408" y="1188720"/>
            <a:ext cx="3410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320040" y="1627632"/>
            <a:ext cx="4160520" cy="870000"/>
          </a:xfrm>
          <a:prstGeom prst="rect">
            <a:avLst/>
          </a:prstGeom>
          <a:solidFill>
            <a:srgbClr val="E8F1FB"/>
          </a:solidFill>
          <a:ln w="12700">
            <a:solidFill>
              <a:srgbClr val="8FA8C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48056" y="1636776"/>
            <a:ext cx="3904488" cy="8517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PathSense</a:t>
            </a:r>
            <a:r>
              <a:rPr lang="en-US" sz="9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an adaptive autonomous-driving intelligence system for Indian roads where lane markings may be absent and traffic behaviour is irregular.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idea: </a:t>
            </a:r>
            <a:r>
              <a:rPr lang="en-US" sz="9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perceive every road user, understand its motion, reason about the vehicle’s real drivable corridor and keep re-planning a collision-free trajectory.</a:t>
            </a:r>
          </a:p>
        </p:txBody>
      </p:sp>
      <p:pic>
        <p:nvPicPr>
          <p:cNvPr id="15" name="Image 2" descr="ic_puzz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2570784"/>
            <a:ext cx="411480" cy="40233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50392" y="2570784"/>
            <a:ext cx="3630168" cy="402336"/>
          </a:xfrm>
          <a:prstGeom prst="rect">
            <a:avLst/>
          </a:prstGeom>
          <a:solidFill>
            <a:srgbClr val="9FD3C9"/>
          </a:solidFill>
          <a:ln w="12700">
            <a:solidFill>
              <a:srgbClr val="9FD3C9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978408" y="2570784"/>
            <a:ext cx="3410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It Addresses</a:t>
            </a:r>
            <a:endParaRPr lang="en-US" sz="1900" dirty="0"/>
          </a:p>
        </p:txBody>
      </p:sp>
      <p:sp>
        <p:nvSpPr>
          <p:cNvPr id="18" name="Shape 13"/>
          <p:cNvSpPr/>
          <p:nvPr/>
        </p:nvSpPr>
        <p:spPr>
          <a:xfrm>
            <a:off x="320040" y="3009696"/>
            <a:ext cx="4160520" cy="2494992"/>
          </a:xfrm>
          <a:prstGeom prst="rect">
            <a:avLst/>
          </a:prstGeom>
          <a:solidFill>
            <a:srgbClr val="E4F4F1"/>
          </a:solidFill>
          <a:ln w="12700">
            <a:solidFill>
              <a:srgbClr val="86B8B0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48056" y="3027984"/>
            <a:ext cx="3904488" cy="24767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Unmarked Roads: </a:t>
            </a:r>
            <a:r>
              <a:rPr lang="en-US" sz="9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 markings are faded, partial or absent, so lane-following assumptions break.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 Traffic: </a:t>
            </a:r>
            <a:r>
              <a:rPr lang="en-US" sz="9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Cars, buses, trucks, two-wheelers, auto-rickshaws, cyclists and pedestrians share one space.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Informal Merges: </a:t>
            </a:r>
            <a:r>
              <a:rPr lang="en-US" sz="9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Vehicles cut in from either side without signalling or lane discipline.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Sudden Direction Changes: </a:t>
            </a:r>
            <a:r>
              <a:rPr lang="en-US" sz="9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Two-wheelers and autos weave, U-turn or stop abruptly.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Wrong-Way Movement: </a:t>
            </a:r>
            <a:r>
              <a:rPr lang="en-US" sz="9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Riders and vehicles travel against the flow on the vehicle’s own side.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Pedestrian / Cyclist Interaction: </a:t>
            </a:r>
            <a:r>
              <a:rPr lang="en-US" sz="9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walk along and across the carriageway without crossings.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 Crossings: </a:t>
            </a:r>
            <a:r>
              <a:rPr lang="en-US" sz="9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Cattle and dogs stand on, or wander into, the road.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Temporary Obstacles: </a:t>
            </a:r>
            <a:r>
              <a:rPr lang="en-US" sz="9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zones, parked vehicles, handcarts and debris block the usual path.</a:t>
            </a:r>
          </a:p>
        </p:txBody>
      </p:sp>
      <p:pic>
        <p:nvPicPr>
          <p:cNvPr id="20" name="Image 3" descr="Notebook-style pane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051560"/>
            <a:ext cx="7205472" cy="445312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846320" y="1463040"/>
            <a:ext cx="4110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Differentiation &amp; Key Value Proposition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4846320" y="1920240"/>
            <a:ext cx="411068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6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4901184" y="1920240"/>
            <a:ext cx="384048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</a:p>
        </p:txBody>
      </p:sp>
      <p:sp>
        <p:nvSpPr>
          <p:cNvPr id="24" name="Text 18"/>
          <p:cNvSpPr txBox="1"/>
          <p:nvPr/>
        </p:nvSpPr>
        <p:spPr>
          <a:xfrm>
            <a:off x="5349240" y="1920240"/>
            <a:ext cx="3543752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Lane-Independent Path Planning</a:t>
            </a:r>
          </a:p>
          <a:p>
            <a:pPr marL="0" indent="0">
              <a:buNone/>
            </a:pPr>
            <a:r>
              <a:rPr lang="en-US" sz="950" dirty="0" b="0">
                <a:solidFill>
                  <a:srgbClr val="333F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around the actual drivable corridor instead of depending only on painted lane markings.</a:t>
            </a:r>
          </a:p>
        </p:txBody>
      </p:sp>
      <p:sp>
        <p:nvSpPr>
          <p:cNvPr id="25" name="Shape 19"/>
          <p:cNvSpPr/>
          <p:nvPr/>
        </p:nvSpPr>
        <p:spPr>
          <a:xfrm>
            <a:off x="4846320" y="2475280"/>
            <a:ext cx="411068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6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901184" y="2475280"/>
            <a:ext cx="384048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</a:p>
        </p:txBody>
      </p:sp>
      <p:sp>
        <p:nvSpPr>
          <p:cNvPr id="27" name="Text 21"/>
          <p:cNvSpPr txBox="1"/>
          <p:nvPr/>
        </p:nvSpPr>
        <p:spPr>
          <a:xfrm>
            <a:off x="5349240" y="2475280"/>
            <a:ext cx="3543752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Mixed-Traffic Awareness</a:t>
            </a:r>
          </a:p>
          <a:p>
            <a:pPr marL="0" indent="0">
              <a:buNone/>
            </a:pPr>
            <a:r>
              <a:rPr lang="en-US" sz="950" dirty="0" b="0">
                <a:solidFill>
                  <a:srgbClr val="333F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for cars, buses, trucks, motorcycles, auto-rickshaws, pedestrians, bicycles and animals.</a:t>
            </a:r>
          </a:p>
        </p:txBody>
      </p:sp>
      <p:sp>
        <p:nvSpPr>
          <p:cNvPr id="28" name="Shape 22"/>
          <p:cNvSpPr/>
          <p:nvPr/>
        </p:nvSpPr>
        <p:spPr>
          <a:xfrm>
            <a:off x="4846320" y="3030321"/>
            <a:ext cx="411068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6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901184" y="3030321"/>
            <a:ext cx="384048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</a:p>
        </p:txBody>
      </p:sp>
      <p:sp>
        <p:nvSpPr>
          <p:cNvPr id="30" name="Text 24"/>
          <p:cNvSpPr txBox="1"/>
          <p:nvPr/>
        </p:nvSpPr>
        <p:spPr>
          <a:xfrm>
            <a:off x="5349240" y="3030321"/>
            <a:ext cx="3543752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Behaviour-Aware Collision Avoidance</a:t>
            </a:r>
          </a:p>
          <a:p>
            <a:pPr marL="0" indent="0">
              <a:buNone/>
            </a:pPr>
            <a:r>
              <a:rPr lang="en-US" sz="950" dirty="0" b="0">
                <a:solidFill>
                  <a:srgbClr val="333F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Considers object movement and potential path conflict rather than distance alone.</a:t>
            </a:r>
          </a:p>
        </p:txBody>
      </p:sp>
      <p:sp>
        <p:nvSpPr>
          <p:cNvPr id="31" name="Shape 25"/>
          <p:cNvSpPr/>
          <p:nvPr/>
        </p:nvSpPr>
        <p:spPr>
          <a:xfrm>
            <a:off x="4846320" y="3585362"/>
            <a:ext cx="411068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6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901184" y="3585362"/>
            <a:ext cx="384048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</a:p>
        </p:txBody>
      </p:sp>
      <p:sp>
        <p:nvSpPr>
          <p:cNvPr id="33" name="Text 27"/>
          <p:cNvSpPr txBox="1"/>
          <p:nvPr/>
        </p:nvSpPr>
        <p:spPr>
          <a:xfrm>
            <a:off x="5349240" y="3585362"/>
            <a:ext cx="3543752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Replanning</a:t>
            </a:r>
          </a:p>
          <a:p>
            <a:pPr marL="0" indent="0">
              <a:buNone/>
            </a:pPr>
            <a:r>
              <a:rPr lang="en-US" sz="950" dirty="0" b="0">
                <a:solidFill>
                  <a:srgbClr val="333F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Continuously evaluates candidate trajectories as the road scene changes.</a:t>
            </a:r>
          </a:p>
        </p:txBody>
      </p:sp>
      <p:sp>
        <p:nvSpPr>
          <p:cNvPr id="34" name="Shape 28"/>
          <p:cNvSpPr/>
          <p:nvPr/>
        </p:nvSpPr>
        <p:spPr>
          <a:xfrm>
            <a:off x="4846320" y="4140403"/>
            <a:ext cx="411068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6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4901184" y="4140403"/>
            <a:ext cx="384048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</a:p>
        </p:txBody>
      </p:sp>
      <p:sp>
        <p:nvSpPr>
          <p:cNvPr id="36" name="Text 30"/>
          <p:cNvSpPr txBox="1"/>
          <p:nvPr/>
        </p:nvSpPr>
        <p:spPr>
          <a:xfrm>
            <a:off x="5349240" y="4140403"/>
            <a:ext cx="3543752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Unstructured-Road Operation</a:t>
            </a:r>
          </a:p>
          <a:p>
            <a:pPr marL="0" indent="0">
              <a:buNone/>
            </a:pPr>
            <a:r>
              <a:rPr lang="en-US" sz="950" dirty="0" b="0">
                <a:solidFill>
                  <a:srgbClr val="333F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Targets roads where conventional lane-based assumptions are unreliable.</a:t>
            </a:r>
          </a:p>
        </p:txBody>
      </p:sp>
      <p:sp>
        <p:nvSpPr>
          <p:cNvPr id="37" name="Shape 31"/>
          <p:cNvSpPr/>
          <p:nvPr/>
        </p:nvSpPr>
        <p:spPr>
          <a:xfrm>
            <a:off x="4846320" y="4695444"/>
            <a:ext cx="411068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6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4901184" y="4695444"/>
            <a:ext cx="384048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</a:p>
        </p:txBody>
      </p:sp>
      <p:sp>
        <p:nvSpPr>
          <p:cNvPr id="39" name="Text 33"/>
          <p:cNvSpPr txBox="1"/>
          <p:nvPr/>
        </p:nvSpPr>
        <p:spPr>
          <a:xfrm>
            <a:off x="5349240" y="4695444"/>
            <a:ext cx="3543752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Safety-First Decision Layer</a:t>
            </a:r>
          </a:p>
          <a:p>
            <a:pPr marL="0" indent="0">
              <a:buNone/>
            </a:pPr>
            <a:r>
              <a:rPr lang="en-US" sz="950" dirty="0" b="0">
                <a:solidFill>
                  <a:srgbClr val="333F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Escalates from normal travel to caution, steering, braking and no-safe-path according to path threat.</a:t>
            </a:r>
          </a:p>
        </p:txBody>
      </p:sp>
      <p:sp>
        <p:nvSpPr>
          <p:cNvPr id="43" name="Shape 37"/>
          <p:cNvSpPr/>
          <p:nvPr/>
        </p:nvSpPr>
        <p:spPr>
          <a:xfrm>
            <a:off x="9067032" y="1447800"/>
            <a:ext cx="2619000" cy="39130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6"/>
            </a:solidFill>
            <a:prstDash val="solid"/>
          </a:ln>
        </p:spPr>
      </p:sp>
      <p:sp>
        <p:nvSpPr>
          <p:cNvPr id="49" name="Right Arrow 48"/>
          <p:cNvSpPr/>
          <p:nvPr/>
        </p:nvSpPr>
        <p:spPr>
          <a:xfrm>
            <a:off x="3262884" y="5806440"/>
            <a:ext cx="219456" cy="237744"/>
          </a:xfrm>
          <a:prstGeom prst="rightArrow">
            <a:avLst/>
          </a:prstGeom>
          <a:solidFill>
            <a:srgbClr val="44546A"/>
          </a:solidFill>
          <a:ln w="6350"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ight Arrow 51"/>
          <p:cNvSpPr/>
          <p:nvPr/>
        </p:nvSpPr>
        <p:spPr>
          <a:xfrm>
            <a:off x="4989576" y="5806440"/>
            <a:ext cx="219456" cy="237744"/>
          </a:xfrm>
          <a:prstGeom prst="rightArrow">
            <a:avLst/>
          </a:prstGeom>
          <a:solidFill>
            <a:srgbClr val="44546A"/>
          </a:solidFill>
          <a:ln w="6350"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ight Arrow 54"/>
          <p:cNvSpPr/>
          <p:nvPr/>
        </p:nvSpPr>
        <p:spPr>
          <a:xfrm>
            <a:off x="6716268" y="5806440"/>
            <a:ext cx="219456" cy="237744"/>
          </a:xfrm>
          <a:prstGeom prst="rightArrow">
            <a:avLst/>
          </a:prstGeom>
          <a:solidFill>
            <a:srgbClr val="44546A"/>
          </a:solidFill>
          <a:ln w="6350"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ight Arrow 57"/>
          <p:cNvSpPr/>
          <p:nvPr/>
        </p:nvSpPr>
        <p:spPr>
          <a:xfrm>
            <a:off x="8442960" y="5806440"/>
            <a:ext cx="219456" cy="237744"/>
          </a:xfrm>
          <a:prstGeom prst="rightArrow">
            <a:avLst/>
          </a:prstGeom>
          <a:solidFill>
            <a:srgbClr val="44546A"/>
          </a:solidFill>
          <a:ln w="6350"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ight Arrow 60"/>
          <p:cNvSpPr/>
          <p:nvPr/>
        </p:nvSpPr>
        <p:spPr>
          <a:xfrm>
            <a:off x="10169652" y="5806440"/>
            <a:ext cx="219456" cy="237744"/>
          </a:xfrm>
          <a:prstGeom prst="rightArrow">
            <a:avLst/>
          </a:prstGeom>
          <a:solidFill>
            <a:srgbClr val="44546A"/>
          </a:solidFill>
          <a:ln w="6350"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320040" y="5596128"/>
            <a:ext cx="1665732" cy="658368"/>
          </a:xfrm>
          <a:prstGeom prst="rect">
            <a:avLst/>
          </a:prstGeom>
          <a:solidFill>
            <a:srgbClr val="CFE3F6"/>
          </a:solidFill>
          <a:ln w="9525">
            <a:solidFill>
              <a:srgbClr val="8FB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393192" y="5596128"/>
            <a:ext cx="151942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1B2A41"/>
                </a:solidFill>
                <a:latin typeface="Arial"/>
              </a:rPr>
              <a:t>Perception</a:t>
            </a:r>
          </a:p>
          <a:p>
            <a:pPr algn="ctr"/>
            <a:r>
              <a:rPr sz="900" b="0">
                <a:solidFill>
                  <a:srgbClr val="333F55"/>
                </a:solidFill>
                <a:latin typeface="Arial"/>
              </a:rPr>
              <a:t>Detects road users &amp; obstacles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2013203" y="5797296"/>
            <a:ext cx="256032" cy="256032"/>
          </a:xfrm>
          <a:prstGeom prst="rightArrow">
            <a:avLst/>
          </a:prstGeom>
          <a:solidFill>
            <a:srgbClr val="44546A"/>
          </a:solidFill>
          <a:ln w="6350"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2296668" y="5596128"/>
            <a:ext cx="1665732" cy="658368"/>
          </a:xfrm>
          <a:prstGeom prst="rect">
            <a:avLst/>
          </a:prstGeom>
          <a:solidFill>
            <a:srgbClr val="C6E7DE"/>
          </a:solidFill>
          <a:ln w="9525">
            <a:solidFill>
              <a:srgbClr val="8CC9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369820" y="5596128"/>
            <a:ext cx="151942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1B2A41"/>
                </a:solidFill>
                <a:latin typeface="Arial"/>
              </a:rPr>
              <a:t>Tracking</a:t>
            </a:r>
          </a:p>
          <a:p>
            <a:pPr algn="ctr"/>
            <a:r>
              <a:rPr sz="900" b="0">
                <a:solidFill>
                  <a:srgbClr val="333F55"/>
                </a:solidFill>
                <a:latin typeface="Arial"/>
              </a:rPr>
              <a:t>Keeps identities &amp; motion over time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3989832" y="5797296"/>
            <a:ext cx="256032" cy="256032"/>
          </a:xfrm>
          <a:prstGeom prst="rightArrow">
            <a:avLst/>
          </a:prstGeom>
          <a:solidFill>
            <a:srgbClr val="44546A"/>
          </a:solidFill>
          <a:ln w="6350"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4273296" y="5596128"/>
            <a:ext cx="1665732" cy="658368"/>
          </a:xfrm>
          <a:prstGeom prst="rect">
            <a:avLst/>
          </a:prstGeom>
          <a:solidFill>
            <a:srgbClr val="FBE7B0"/>
          </a:solidFill>
          <a:ln w="9525">
            <a:solidFill>
              <a:srgbClr val="E2C4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346448" y="5596128"/>
            <a:ext cx="151942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1B2A41"/>
                </a:solidFill>
                <a:latin typeface="Arial"/>
              </a:rPr>
              <a:t>Motion Understanding</a:t>
            </a:r>
          </a:p>
          <a:p>
            <a:pPr algn="ctr"/>
            <a:r>
              <a:rPr sz="900" b="0">
                <a:solidFill>
                  <a:srgbClr val="333F55"/>
                </a:solidFill>
                <a:latin typeface="Arial"/>
              </a:rPr>
              <a:t>Short-term movement &amp; interaction risk</a:t>
            </a:r>
          </a:p>
        </p:txBody>
      </p:sp>
      <p:sp>
        <p:nvSpPr>
          <p:cNvPr id="70" name="Right Arrow 69"/>
          <p:cNvSpPr/>
          <p:nvPr/>
        </p:nvSpPr>
        <p:spPr>
          <a:xfrm>
            <a:off x="5966459" y="5797296"/>
            <a:ext cx="256032" cy="256032"/>
          </a:xfrm>
          <a:prstGeom prst="rightArrow">
            <a:avLst/>
          </a:prstGeom>
          <a:solidFill>
            <a:srgbClr val="44546A"/>
          </a:solidFill>
          <a:ln w="6350"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6249923" y="5596128"/>
            <a:ext cx="1665732" cy="658368"/>
          </a:xfrm>
          <a:prstGeom prst="rect">
            <a:avLst/>
          </a:prstGeom>
          <a:solidFill>
            <a:srgbClr val="DDD4EF"/>
          </a:solidFill>
          <a:ln w="9525">
            <a:solidFill>
              <a:srgbClr val="B3A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323075" y="5596128"/>
            <a:ext cx="151942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1B2A41"/>
                </a:solidFill>
                <a:latin typeface="Arial"/>
              </a:rPr>
              <a:t>Ego-Path Understanding</a:t>
            </a:r>
          </a:p>
          <a:p>
            <a:pPr algn="ctr"/>
            <a:r>
              <a:rPr sz="900" b="0">
                <a:solidFill>
                  <a:srgbClr val="333F55"/>
                </a:solidFill>
                <a:latin typeface="Arial"/>
              </a:rPr>
              <a:t>The vehicle’s real drivable corridor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7943087" y="5797296"/>
            <a:ext cx="256032" cy="256032"/>
          </a:xfrm>
          <a:prstGeom prst="rightArrow">
            <a:avLst/>
          </a:prstGeom>
          <a:solidFill>
            <a:srgbClr val="44546A"/>
          </a:solidFill>
          <a:ln w="6350"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8226551" y="5596128"/>
            <a:ext cx="1665732" cy="658368"/>
          </a:xfrm>
          <a:prstGeom prst="rect">
            <a:avLst/>
          </a:prstGeom>
          <a:solidFill>
            <a:srgbClr val="D2EAC6"/>
          </a:solidFill>
          <a:ln w="9525">
            <a:solidFill>
              <a:srgbClr val="9CCB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299704" y="5596128"/>
            <a:ext cx="151942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1B2A41"/>
                </a:solidFill>
                <a:latin typeface="Arial"/>
              </a:rPr>
              <a:t>Adaptive Planning</a:t>
            </a:r>
          </a:p>
          <a:p>
            <a:pPr algn="ctr"/>
            <a:r>
              <a:rPr sz="900" b="0">
                <a:solidFill>
                  <a:srgbClr val="333F55"/>
                </a:solidFill>
                <a:latin typeface="Arial"/>
              </a:rPr>
              <a:t>Generates &amp; scores collision-free paths</a:t>
            </a:r>
          </a:p>
        </p:txBody>
      </p:sp>
      <p:sp>
        <p:nvSpPr>
          <p:cNvPr id="76" name="Right Arrow 75"/>
          <p:cNvSpPr/>
          <p:nvPr/>
        </p:nvSpPr>
        <p:spPr>
          <a:xfrm>
            <a:off x="9919716" y="5797296"/>
            <a:ext cx="256032" cy="256032"/>
          </a:xfrm>
          <a:prstGeom prst="rightArrow">
            <a:avLst/>
          </a:prstGeom>
          <a:solidFill>
            <a:srgbClr val="44546A"/>
          </a:solidFill>
          <a:ln w="6350"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10203180" y="5596128"/>
            <a:ext cx="1665732" cy="658368"/>
          </a:xfrm>
          <a:prstGeom prst="rect">
            <a:avLst/>
          </a:prstGeom>
          <a:solidFill>
            <a:srgbClr val="F8D5BD"/>
          </a:solidFill>
          <a:ln w="9525">
            <a:solidFill>
              <a:srgbClr val="E2A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276332" y="5596128"/>
            <a:ext cx="151942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1B2A41"/>
                </a:solidFill>
                <a:latin typeface="Arial"/>
              </a:rPr>
              <a:t>Decision</a:t>
            </a:r>
          </a:p>
          <a:p>
            <a:pPr algn="ctr"/>
            <a:r>
              <a:rPr sz="900" b="0">
                <a:solidFill>
                  <a:srgbClr val="333F55"/>
                </a:solidFill>
                <a:latin typeface="Arial"/>
              </a:rPr>
              <a:t>GO / SLOW / STEER / BRAKE / NO SAFE PATH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34856" y="1499616"/>
            <a:ext cx="24871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1A1A1A"/>
                </a:solidFill>
                <a:latin typeface="Arial"/>
              </a:rPr>
              <a:t>How It Works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34856" y="1709928"/>
            <a:ext cx="24871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 u="none">
                <a:solidFill>
                  <a:srgbClr val="333F55"/>
                </a:solidFill>
                <a:latin typeface="Arial"/>
              </a:rPr>
              <a:t>From the camera view to a safe, explainable path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134856" y="1901952"/>
            <a:ext cx="2487168" cy="192024"/>
          </a:xfrm>
          <a:prstGeom prst="roundRect">
            <a:avLst>
              <a:gd name="adj" fmla="val 19047"/>
            </a:avLst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171432" y="1924812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71432" y="1924812"/>
            <a:ext cx="146304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 u="none">
                <a:solidFill>
                  <a:srgbClr val="2F6DB5"/>
                </a:solidFill>
                <a:latin typeface="Arial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63456" y="1901952"/>
            <a:ext cx="118872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 u="none">
                <a:solidFill>
                  <a:srgbClr val="FFFFFF"/>
                </a:solidFill>
                <a:latin typeface="Arial"/>
              </a:rPr>
              <a:t>Perceive &amp; Track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69296" y="1901952"/>
            <a:ext cx="1207008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 u="none">
                <a:solidFill>
                  <a:srgbClr val="FFFFFF"/>
                </a:solidFill>
                <a:latin typeface="Arial"/>
              </a:rPr>
              <a:t>Every road user, every frame</a:t>
            </a:r>
          </a:p>
        </p:txBody>
      </p:sp>
      <p:pic>
        <p:nvPicPr>
          <p:cNvPr id="86" name="Picture 85" descr="hw_perceiv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4856" y="2112264"/>
            <a:ext cx="2487168" cy="786384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87" name="Rounded Rectangle 86"/>
          <p:cNvSpPr/>
          <p:nvPr/>
        </p:nvSpPr>
        <p:spPr>
          <a:xfrm>
            <a:off x="9134856" y="2953512"/>
            <a:ext cx="2487168" cy="192024"/>
          </a:xfrm>
          <a:prstGeom prst="roundRect">
            <a:avLst>
              <a:gd name="adj" fmla="val 19047"/>
            </a:avLst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171432" y="2976372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171432" y="2976372"/>
            <a:ext cx="146304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 u="none">
                <a:solidFill>
                  <a:srgbClr val="0F9E8E"/>
                </a:solidFill>
                <a:latin typeface="Arial"/>
              </a:rPr>
              <a:t>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363456" y="2953512"/>
            <a:ext cx="118872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 u="none">
                <a:solidFill>
                  <a:srgbClr val="FFFFFF"/>
                </a:solidFill>
                <a:latin typeface="Arial"/>
              </a:rPr>
              <a:t>Predict &amp; Plan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69296" y="2953512"/>
            <a:ext cx="1207008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 u="none">
                <a:solidFill>
                  <a:srgbClr val="FFFFFF"/>
                </a:solidFill>
                <a:latin typeface="Arial"/>
              </a:rPr>
              <a:t>Candidate paths, conflicts rejected</a:t>
            </a:r>
          </a:p>
        </p:txBody>
      </p:sp>
      <p:pic>
        <p:nvPicPr>
          <p:cNvPr id="92" name="Picture 91" descr="hw_plan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34856" y="3163824"/>
            <a:ext cx="2487168" cy="786384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93" name="Rounded Rectangle 92"/>
          <p:cNvSpPr/>
          <p:nvPr/>
        </p:nvSpPr>
        <p:spPr>
          <a:xfrm>
            <a:off x="9134856" y="4005072"/>
            <a:ext cx="2487168" cy="192024"/>
          </a:xfrm>
          <a:prstGeom prst="roundRect">
            <a:avLst>
              <a:gd name="adj" fmla="val 19047"/>
            </a:avLst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9171432" y="4027932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171432" y="4027932"/>
            <a:ext cx="146304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 u="none">
                <a:solidFill>
                  <a:srgbClr val="E07B39"/>
                </a:solidFill>
                <a:latin typeface="Arial"/>
              </a:rP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363456" y="4005072"/>
            <a:ext cx="118872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 u="none">
                <a:solidFill>
                  <a:srgbClr val="FFFFFF"/>
                </a:solidFill>
                <a:latin typeface="Arial"/>
              </a:rPr>
              <a:t>Decide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369296" y="4005072"/>
            <a:ext cx="1207008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 u="none">
                <a:solidFill>
                  <a:srgbClr val="FFFFFF"/>
                </a:solidFill>
                <a:latin typeface="Arial"/>
              </a:rPr>
              <a:t>GO · SLOW · STEER · BRAKE</a:t>
            </a:r>
          </a:p>
        </p:txBody>
      </p:sp>
      <p:pic>
        <p:nvPicPr>
          <p:cNvPr id="98" name="Picture 97" descr="hw_decid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4856" y="4215384"/>
            <a:ext cx="2487168" cy="786384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99" name="Rounded Rectangle 98"/>
          <p:cNvSpPr/>
          <p:nvPr/>
        </p:nvSpPr>
        <p:spPr>
          <a:xfrm>
            <a:off x="9134856" y="5074919"/>
            <a:ext cx="2487168" cy="219456"/>
          </a:xfrm>
          <a:prstGeom prst="roundRect">
            <a:avLst>
              <a:gd name="adj" fmla="val 20833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134856" y="5074919"/>
            <a:ext cx="24871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 u="none">
                <a:solidFill>
                  <a:srgbClr val="FFFFFF"/>
                </a:solidFill>
                <a:latin typeface="Arial"/>
              </a:rPr>
              <a:t>SEE · PREDICT · PLAN — SAFE PATHS ON EVERY ROAD</a:t>
            </a:r>
          </a:p>
        </p:txBody>
      </p:sp>
    </p:spTree>
    <p:extLst>
      <p:ext uri="{BB962C8B-B14F-4D97-AF65-F5344CB8AC3E}">
        <p14:creationId xmlns:p14="http://schemas.microsoft.com/office/powerpoint/2010/main" val="3968465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82880"/>
            <a:ext cx="12801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F5FA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201168" y="18288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 Alt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</a:t>
            </a:r>
            <a:endParaRPr lang="en-US" sz="15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45720"/>
            <a:ext cx="2276856" cy="978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327648"/>
            <a:ext cx="12191695" cy="45720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3200400" y="632764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327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8" name="Text 5"/>
          <p:cNvSpPr txBox="1"/>
          <p:nvPr/>
        </p:nvSpPr>
        <p:spPr>
          <a:xfrm>
            <a:off x="1828800" y="73152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APPROACH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1828800" y="713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45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PathSense  |  Adaptive Perception-to-Planning Pipeline</a:t>
            </a:r>
          </a:p>
        </p:txBody>
      </p:sp>
      <p:sp>
        <p:nvSpPr>
          <p:cNvPr id="10" name="Shape 7"/>
          <p:cNvSpPr/>
          <p:nvPr/>
        </p:nvSpPr>
        <p:spPr>
          <a:xfrm>
            <a:off x="320040" y="1097280"/>
            <a:ext cx="8375344" cy="5138928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2920" y="1152144"/>
            <a:ext cx="80095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u="sng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8832544" y="1097280"/>
            <a:ext cx="3036368" cy="2311594"/>
          </a:xfrm>
          <a:prstGeom prst="rect">
            <a:avLst/>
          </a:prstGeom>
          <a:solidFill>
            <a:srgbClr val="FFFFFF"/>
          </a:solidFill>
          <a:ln w="19050">
            <a:solidFill>
              <a:srgbClr val="44546A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8832544" y="3500314"/>
            <a:ext cx="3036368" cy="2735894"/>
          </a:xfrm>
          <a:prstGeom prst="rect">
            <a:avLst/>
          </a:prstGeom>
          <a:solidFill>
            <a:srgbClr val="FFFFFF"/>
          </a:solidFill>
          <a:ln w="19050">
            <a:solidFill>
              <a:srgbClr val="44546A"/>
            </a:solidFill>
            <a:prstDash val="solid"/>
          </a:ln>
        </p:spPr>
      </p:sp>
      <p:sp>
        <p:nvSpPr>
          <p:cNvPr id="17" name="Rectangle 16"/>
          <p:cNvSpPr/>
          <p:nvPr/>
        </p:nvSpPr>
        <p:spPr>
          <a:xfrm>
            <a:off x="475488" y="1645920"/>
            <a:ext cx="1783080" cy="237744"/>
          </a:xfrm>
          <a:prstGeom prst="rect">
            <a:avLst/>
          </a:prstGeom>
          <a:solidFill>
            <a:srgbClr val="CFE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1645920"/>
            <a:ext cx="1783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 u="none">
                <a:solidFill>
                  <a:srgbClr val="1B2A41"/>
                </a:solidFill>
                <a:latin typeface="Arial"/>
              </a:rPr>
              <a:t>Inputs / Road Scene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" y="1920240"/>
            <a:ext cx="1783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n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064" y="1956816"/>
            <a:ext cx="658368" cy="4937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25295" y="200253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u="none">
                <a:solidFill>
                  <a:srgbClr val="1B2A41"/>
                </a:solidFill>
                <a:latin typeface="Arial"/>
              </a:rPr>
              <a:t>Front camera video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5" y="2185416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i="0" u="none">
                <a:solidFill>
                  <a:srgbClr val="333F55"/>
                </a:solidFill>
                <a:latin typeface="Arial"/>
              </a:rPr>
              <a:t>Monocular dashcam or phone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58568" y="2203704"/>
            <a:ext cx="210312" cy="0"/>
          </a:xfrm>
          <a:prstGeom prst="line">
            <a:avLst/>
          </a:prstGeom>
          <a:ln w="1143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75488" y="2523744"/>
            <a:ext cx="1783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n_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2064" y="2560320"/>
            <a:ext cx="658368" cy="49377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25295" y="260604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u="none">
                <a:solidFill>
                  <a:srgbClr val="1B2A41"/>
                </a:solidFill>
                <a:latin typeface="Arial"/>
              </a:rPr>
              <a:t>Mixed traffic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5" y="27889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i="0" u="none">
                <a:solidFill>
                  <a:srgbClr val="333F55"/>
                </a:solidFill>
                <a:latin typeface="Arial"/>
              </a:rPr>
              <a:t>Cars, 2W, autos, people, animals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258568" y="2807208"/>
            <a:ext cx="210312" cy="0"/>
          </a:xfrm>
          <a:prstGeom prst="line">
            <a:avLst/>
          </a:prstGeom>
          <a:ln w="1143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475488" y="3127248"/>
            <a:ext cx="1783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n_2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2064" y="3163824"/>
            <a:ext cx="658368" cy="49377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25295" y="320954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u="none">
                <a:solidFill>
                  <a:srgbClr val="1B2A41"/>
                </a:solidFill>
                <a:latin typeface="Arial"/>
              </a:rPr>
              <a:t>Road context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5" y="3392424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i="0" u="none">
                <a:solidFill>
                  <a:srgbClr val="333F55"/>
                </a:solidFill>
                <a:latin typeface="Arial"/>
              </a:rPr>
              <a:t>Unmarked roads, shoulders, junctions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258568" y="3410712"/>
            <a:ext cx="210312" cy="0"/>
          </a:xfrm>
          <a:prstGeom prst="line">
            <a:avLst/>
          </a:prstGeom>
          <a:ln w="1143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475488" y="3730752"/>
            <a:ext cx="1783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21792" y="3794760"/>
            <a:ext cx="438912" cy="43891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speed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9574" y="3882542"/>
            <a:ext cx="263347" cy="26334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225295" y="38130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u="none">
                <a:solidFill>
                  <a:srgbClr val="1B2A41"/>
                </a:solidFill>
                <a:latin typeface="Arial"/>
              </a:rPr>
              <a:t>Ego motion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5" y="399592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i="0" u="none">
                <a:solidFill>
                  <a:srgbClr val="333F55"/>
                </a:solidFill>
                <a:latin typeface="Arial"/>
              </a:rPr>
              <a:t>From video; CAN / IMU in pilot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258568" y="4014215"/>
            <a:ext cx="210312" cy="0"/>
          </a:xfrm>
          <a:prstGeom prst="line">
            <a:avLst/>
          </a:prstGeom>
          <a:ln w="1143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6729984" y="1645920"/>
            <a:ext cx="1783080" cy="237744"/>
          </a:xfrm>
          <a:prstGeom prst="rect">
            <a:avLst/>
          </a:prstGeom>
          <a:solidFill>
            <a:srgbClr val="D5E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03136" y="1645920"/>
            <a:ext cx="1783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 u="none">
                <a:solidFill>
                  <a:srgbClr val="1B2A41"/>
                </a:solidFill>
                <a:latin typeface="Arial"/>
              </a:rPr>
              <a:t>Outputs / Decisions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29984" y="1920240"/>
            <a:ext cx="1783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out_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6560" y="1956816"/>
            <a:ext cx="658368" cy="49377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479792" y="200253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u="none">
                <a:solidFill>
                  <a:srgbClr val="1B2A41"/>
                </a:solidFill>
                <a:latin typeface="Arial"/>
              </a:rPr>
              <a:t>Safe trajectory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9792" y="2185416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i="0" u="none">
                <a:solidFill>
                  <a:srgbClr val="333F55"/>
                </a:solidFill>
                <a:latin typeface="Arial"/>
              </a:rPr>
              <a:t>Selected collision-free path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6528816" y="2203704"/>
            <a:ext cx="201168" cy="1810511"/>
          </a:xfrm>
          <a:prstGeom prst="line">
            <a:avLst/>
          </a:prstGeom>
          <a:ln w="1143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6729984" y="2523744"/>
            <a:ext cx="1783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876288" y="2587752"/>
            <a:ext cx="438912" cy="438912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shield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64070" y="2675534"/>
            <a:ext cx="263347" cy="263347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7479792" y="260604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u="none">
                <a:solidFill>
                  <a:srgbClr val="1B2A41"/>
                </a:solidFill>
                <a:latin typeface="Arial"/>
              </a:rPr>
              <a:t>Driving decision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79792" y="27889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i="0" u="none">
                <a:solidFill>
                  <a:srgbClr val="333F55"/>
                </a:solidFill>
                <a:latin typeface="Arial"/>
              </a:rPr>
              <a:t>GO · SLOW · STEER · BRAKE · NO SAFE PATH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6528816" y="2807208"/>
            <a:ext cx="201168" cy="1207007"/>
          </a:xfrm>
          <a:prstGeom prst="line">
            <a:avLst/>
          </a:prstGeom>
          <a:ln w="1143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6729984" y="3127248"/>
            <a:ext cx="1783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out_2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66560" y="3163824"/>
            <a:ext cx="658368" cy="493776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479792" y="320954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u="none">
                <a:solidFill>
                  <a:srgbClr val="1B2A41"/>
                </a:solidFill>
                <a:latin typeface="Arial"/>
              </a:rPr>
              <a:t>Threat alerts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79792" y="3392424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i="0" u="none">
                <a:solidFill>
                  <a:srgbClr val="333F55"/>
                </a:solidFill>
                <a:latin typeface="Arial"/>
              </a:rPr>
              <a:t>Which road user, why, how soon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6528816" y="3410712"/>
            <a:ext cx="201168" cy="603503"/>
          </a:xfrm>
          <a:prstGeom prst="line">
            <a:avLst/>
          </a:prstGeom>
          <a:ln w="1143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729984" y="3730752"/>
            <a:ext cx="1783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876288" y="3794760"/>
            <a:ext cx="438912" cy="438912"/>
          </a:xfrm>
          <a:prstGeom prst="ellipse">
            <a:avLst/>
          </a:prstGeom>
          <a:solidFill>
            <a:srgbClr val="6A4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timeline_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64070" y="3882542"/>
            <a:ext cx="263347" cy="26334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7479792" y="38130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u="none">
                <a:solidFill>
                  <a:srgbClr val="1B2A41"/>
                </a:solidFill>
                <a:latin typeface="Arial"/>
              </a:rPr>
              <a:t>Decision log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79792" y="399592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i="0" u="none">
                <a:solidFill>
                  <a:srgbClr val="333F55"/>
                </a:solidFill>
                <a:latin typeface="Arial"/>
              </a:rPr>
              <a:t>Explainable, replayable reasons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528816" y="4014215"/>
            <a:ext cx="201168" cy="0"/>
          </a:xfrm>
          <a:prstGeom prst="line">
            <a:avLst/>
          </a:prstGeom>
          <a:ln w="1143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2432304" y="1645920"/>
            <a:ext cx="4151376" cy="457200"/>
          </a:xfrm>
          <a:prstGeom prst="rect">
            <a:avLst/>
          </a:prstGeom>
          <a:solidFill>
            <a:srgbClr val="F7FAFE"/>
          </a:solidFill>
          <a:ln w="9525">
            <a:solidFill>
              <a:srgbClr val="8FB5D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432304" y="1664208"/>
            <a:ext cx="415137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 u="none">
                <a:solidFill>
                  <a:srgbClr val="1B2A41"/>
                </a:solidFill>
                <a:latin typeface="Arial"/>
              </a:rPr>
              <a:t>Runtime (GPU-accelerated inference, open pretrained models)</a:t>
            </a:r>
          </a:p>
        </p:txBody>
      </p:sp>
      <p:pic>
        <p:nvPicPr>
          <p:cNvPr id="66" name="Picture 65" descr="python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697480" y="1856231"/>
            <a:ext cx="182880" cy="18288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2916936" y="1856231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 u="none">
                <a:solidFill>
                  <a:srgbClr val="1B2A41"/>
                </a:solidFill>
                <a:latin typeface="Arial"/>
              </a:rPr>
              <a:t>Python</a:t>
            </a:r>
          </a:p>
        </p:txBody>
      </p:sp>
      <p:pic>
        <p:nvPicPr>
          <p:cNvPr id="68" name="Picture 67" descr="pytorch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85032" y="1856231"/>
            <a:ext cx="182880" cy="18288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3904488" y="1856231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 u="none">
                <a:solidFill>
                  <a:srgbClr val="1B2A41"/>
                </a:solidFill>
                <a:latin typeface="Arial"/>
              </a:rPr>
              <a:t>PyTorch</a:t>
            </a:r>
          </a:p>
        </p:txBody>
      </p:sp>
      <p:pic>
        <p:nvPicPr>
          <p:cNvPr id="70" name="Picture 69" descr="nvidi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72584" y="1856231"/>
            <a:ext cx="182880" cy="18288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892040" y="1856231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 u="none">
                <a:solidFill>
                  <a:srgbClr val="1B2A41"/>
                </a:solidFill>
                <a:latin typeface="Arial"/>
              </a:rPr>
              <a:t>CUDA</a:t>
            </a:r>
          </a:p>
        </p:txBody>
      </p:sp>
      <p:pic>
        <p:nvPicPr>
          <p:cNvPr id="72" name="Picture 71" descr="opencv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660136" y="1856231"/>
            <a:ext cx="182880" cy="18288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79592" y="1856231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 u="none">
                <a:solidFill>
                  <a:srgbClr val="1B2A41"/>
                </a:solidFill>
                <a:latin typeface="Arial"/>
              </a:rPr>
              <a:t>OpenCV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487168" y="2231136"/>
            <a:ext cx="12984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397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2551176" y="2322576"/>
            <a:ext cx="310896" cy="310896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amera_w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613355" y="2384755"/>
            <a:ext cx="186537" cy="186537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2907792" y="2295144"/>
            <a:ext cx="841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u="none">
                <a:solidFill>
                  <a:srgbClr val="1B2A41"/>
                </a:solidFill>
                <a:latin typeface="Arial"/>
              </a:rPr>
              <a:t>Camera input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07792" y="2569464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0" i="0" u="none">
                <a:solidFill>
                  <a:srgbClr val="333F55"/>
                </a:solidFill>
                <a:latin typeface="Arial"/>
              </a:rPr>
              <a:t>front view, every frame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858768" y="2231136"/>
            <a:ext cx="12984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397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922776" y="2322576"/>
            <a:ext cx="310896" cy="310896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visibility_w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984955" y="2384755"/>
            <a:ext cx="186537" cy="186537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4279392" y="2295144"/>
            <a:ext cx="841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u="none">
                <a:solidFill>
                  <a:srgbClr val="1B2A41"/>
                </a:solidFill>
                <a:latin typeface="Arial"/>
              </a:rPr>
              <a:t>Object detection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79392" y="2569464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0" i="0" u="none">
                <a:solidFill>
                  <a:srgbClr val="333F55"/>
                </a:solidFill>
                <a:latin typeface="Arial"/>
              </a:rPr>
              <a:t>vehicles, people, animals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230368" y="2231136"/>
            <a:ext cx="12984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397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294376" y="2322576"/>
            <a:ext cx="310896" cy="310896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timeline_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56555" y="2384755"/>
            <a:ext cx="186537" cy="186537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5650992" y="2295144"/>
            <a:ext cx="841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u="none">
                <a:solidFill>
                  <a:srgbClr val="1B2A41"/>
                </a:solidFill>
                <a:latin typeface="Arial"/>
              </a:rPr>
              <a:t>Multi-object tracking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50992" y="2569464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0" i="0" u="none">
                <a:solidFill>
                  <a:srgbClr val="333F55"/>
                </a:solidFill>
                <a:latin typeface="Arial"/>
              </a:rPr>
              <a:t>IDs &amp; history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230368" y="2980944"/>
            <a:ext cx="12984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3970">
            <a:solidFill>
              <a:srgbClr val="6A4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294376" y="3072384"/>
            <a:ext cx="310896" cy="310896"/>
          </a:xfrm>
          <a:prstGeom prst="ellipse">
            <a:avLst/>
          </a:prstGeom>
          <a:solidFill>
            <a:srgbClr val="6A4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layers_w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356555" y="3134563"/>
            <a:ext cx="186537" cy="186537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5650992" y="3044951"/>
            <a:ext cx="841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u="none">
                <a:solidFill>
                  <a:srgbClr val="1B2A41"/>
                </a:solidFill>
                <a:latin typeface="Arial"/>
              </a:rPr>
              <a:t>Depth &amp; scene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650992" y="3319272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0" i="0" u="none">
                <a:solidFill>
                  <a:srgbClr val="333F55"/>
                </a:solidFill>
                <a:latin typeface="Arial"/>
              </a:rPr>
              <a:t>distance, free space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858768" y="2980944"/>
            <a:ext cx="12984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3970">
            <a:solidFill>
              <a:srgbClr val="6A4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922776" y="3072384"/>
            <a:ext cx="310896" cy="310896"/>
          </a:xfrm>
          <a:prstGeom prst="ellipse">
            <a:avLst/>
          </a:prstGeom>
          <a:solidFill>
            <a:srgbClr val="6A4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brain_w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984955" y="3134563"/>
            <a:ext cx="186537" cy="186537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4279392" y="3044951"/>
            <a:ext cx="841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u="none">
                <a:solidFill>
                  <a:srgbClr val="1B2A41"/>
                </a:solidFill>
                <a:latin typeface="Arial"/>
              </a:rPr>
              <a:t>Motion / threat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79392" y="3319272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0" i="0" u="none">
                <a:solidFill>
                  <a:srgbClr val="333F55"/>
                </a:solidFill>
                <a:latin typeface="Arial"/>
              </a:rPr>
              <a:t>who is moving where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487168" y="2980944"/>
            <a:ext cx="12984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3970">
            <a:solidFill>
              <a:srgbClr val="6A4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551176" y="3072384"/>
            <a:ext cx="310896" cy="310896"/>
          </a:xfrm>
          <a:prstGeom prst="ellipse">
            <a:avLst/>
          </a:prstGeom>
          <a:solidFill>
            <a:srgbClr val="6A4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route_w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613355" y="3134563"/>
            <a:ext cx="186537" cy="186537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2907792" y="3044951"/>
            <a:ext cx="841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u="none">
                <a:solidFill>
                  <a:srgbClr val="1B2A41"/>
                </a:solidFill>
                <a:latin typeface="Arial"/>
              </a:rPr>
              <a:t>Ego-path &amp; corridor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907792" y="3319272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0" i="0" u="none">
                <a:solidFill>
                  <a:srgbClr val="333F55"/>
                </a:solidFill>
                <a:latin typeface="Arial"/>
              </a:rPr>
              <a:t>real drivable corridor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487168" y="3730752"/>
            <a:ext cx="12984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3970">
            <a:solidFill>
              <a:srgbClr val="0F9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2551176" y="3822191"/>
            <a:ext cx="310896" cy="310896"/>
          </a:xfrm>
          <a:prstGeom prst="ellipse">
            <a:avLst/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loop_w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613355" y="3884371"/>
            <a:ext cx="186537" cy="186537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2907792" y="3794760"/>
            <a:ext cx="841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u="none">
                <a:solidFill>
                  <a:srgbClr val="1B2A41"/>
                </a:solidFill>
                <a:latin typeface="Arial"/>
              </a:rPr>
              <a:t>Candidate trajectories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07792" y="4069080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0" i="0" u="none">
                <a:solidFill>
                  <a:srgbClr val="333F55"/>
                </a:solidFill>
                <a:latin typeface="Arial"/>
              </a:rPr>
              <a:t>kinematic path set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858768" y="3730752"/>
            <a:ext cx="12984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3970">
            <a:solidFill>
              <a:srgbClr val="0F9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3922776" y="3822191"/>
            <a:ext cx="310896" cy="310896"/>
          </a:xfrm>
          <a:prstGeom prst="ellipse">
            <a:avLst/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" name="Picture 110" descr="warning_w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984955" y="3884371"/>
            <a:ext cx="186537" cy="186537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4279392" y="3794760"/>
            <a:ext cx="841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u="none">
                <a:solidFill>
                  <a:srgbClr val="1B2A41"/>
                </a:solidFill>
                <a:latin typeface="Arial"/>
              </a:rPr>
              <a:t>Risk-aware selection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279392" y="4069080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0" i="0" u="none">
                <a:solidFill>
                  <a:srgbClr val="333F55"/>
                </a:solidFill>
                <a:latin typeface="Arial"/>
              </a:rPr>
              <a:t>reject conflicts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5230368" y="3730752"/>
            <a:ext cx="12984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397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294376" y="3822191"/>
            <a:ext cx="310896" cy="310896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shield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56555" y="3884371"/>
            <a:ext cx="186537" cy="186537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5650992" y="3794760"/>
            <a:ext cx="841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u="none">
                <a:solidFill>
                  <a:srgbClr val="1B2A41"/>
                </a:solidFill>
                <a:latin typeface="Arial"/>
              </a:rPr>
              <a:t>Steering / decision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50992" y="4069080"/>
            <a:ext cx="84124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0" i="0" u="none">
                <a:solidFill>
                  <a:srgbClr val="333F55"/>
                </a:solidFill>
                <a:latin typeface="Arial"/>
              </a:rPr>
              <a:t>path + GO…BRAKE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3785616" y="2514600"/>
            <a:ext cx="73152" cy="0"/>
          </a:xfrm>
          <a:prstGeom prst="line">
            <a:avLst/>
          </a:prstGeom>
          <a:ln w="15875">
            <a:solidFill>
              <a:srgbClr val="2F6D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5157216" y="2514600"/>
            <a:ext cx="73152" cy="0"/>
          </a:xfrm>
          <a:prstGeom prst="line">
            <a:avLst/>
          </a:prstGeom>
          <a:ln w="15875">
            <a:solidFill>
              <a:srgbClr val="2F6D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5879592" y="2798064"/>
            <a:ext cx="0" cy="182880"/>
          </a:xfrm>
          <a:prstGeom prst="line">
            <a:avLst/>
          </a:prstGeom>
          <a:ln w="15875">
            <a:solidFill>
              <a:srgbClr val="2F6D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>
            <a:off x="5157216" y="3264408"/>
            <a:ext cx="73152" cy="0"/>
          </a:xfrm>
          <a:prstGeom prst="line">
            <a:avLst/>
          </a:prstGeom>
          <a:ln w="15875">
            <a:solidFill>
              <a:srgbClr val="2F6D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H="1">
            <a:off x="3785616" y="3264408"/>
            <a:ext cx="73152" cy="0"/>
          </a:xfrm>
          <a:prstGeom prst="line">
            <a:avLst/>
          </a:prstGeom>
          <a:ln w="15875">
            <a:solidFill>
              <a:srgbClr val="2F6D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136392" y="3547872"/>
            <a:ext cx="0" cy="182880"/>
          </a:xfrm>
          <a:prstGeom prst="line">
            <a:avLst/>
          </a:prstGeom>
          <a:ln w="15875">
            <a:solidFill>
              <a:srgbClr val="2F6D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785616" y="4014215"/>
            <a:ext cx="73152" cy="0"/>
          </a:xfrm>
          <a:prstGeom prst="line">
            <a:avLst/>
          </a:prstGeom>
          <a:ln w="15875">
            <a:solidFill>
              <a:srgbClr val="2F6D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5157216" y="4014215"/>
            <a:ext cx="73152" cy="0"/>
          </a:xfrm>
          <a:prstGeom prst="line">
            <a:avLst/>
          </a:prstGeom>
          <a:ln w="15875">
            <a:solidFill>
              <a:srgbClr val="2F6D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ectangle 126"/>
          <p:cNvSpPr/>
          <p:nvPr/>
        </p:nvSpPr>
        <p:spPr>
          <a:xfrm>
            <a:off x="2788920" y="4425696"/>
            <a:ext cx="34747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8" name="Picture 127" descr="shield_n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852928" y="4462272"/>
            <a:ext cx="256032" cy="256032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3154680" y="4425696"/>
            <a:ext cx="3063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u="none">
                <a:solidFill>
                  <a:srgbClr val="1B2A41"/>
                </a:solidFill>
                <a:latin typeface="Arial"/>
              </a:rPr>
              <a:t>Safety-First Decision Layer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154680" y="4590288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0" i="0" u="none">
                <a:solidFill>
                  <a:srgbClr val="333F55"/>
                </a:solidFill>
                <a:latin typeface="Arial"/>
              </a:rPr>
              <a:t>path-threat reasoning  |  persistence &amp; hysteresis  |  reasons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4526280" y="4315968"/>
            <a:ext cx="0" cy="109728"/>
          </a:xfrm>
          <a:prstGeom prst="line">
            <a:avLst/>
          </a:prstGeom>
          <a:ln w="12700">
            <a:solidFill>
              <a:srgbClr val="1B2A4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Rectangle 131"/>
          <p:cNvSpPr/>
          <p:nvPr/>
        </p:nvSpPr>
        <p:spPr>
          <a:xfrm>
            <a:off x="1463040" y="4841748"/>
            <a:ext cx="6080760" cy="9144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4526280" y="4754880"/>
            <a:ext cx="0" cy="91440"/>
          </a:xfrm>
          <a:prstGeom prst="line">
            <a:avLst/>
          </a:prstGeom>
          <a:ln w="1143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1472184" y="4846320"/>
            <a:ext cx="0" cy="91440"/>
          </a:xfrm>
          <a:prstGeom prst="line">
            <a:avLst/>
          </a:prstGeom>
          <a:ln w="1143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ectangle 134"/>
          <p:cNvSpPr/>
          <p:nvPr/>
        </p:nvSpPr>
        <p:spPr>
          <a:xfrm>
            <a:off x="502920" y="4937760"/>
            <a:ext cx="1938528" cy="1152144"/>
          </a:xfrm>
          <a:prstGeom prst="rect">
            <a:avLst/>
          </a:prstGeom>
          <a:solidFill>
            <a:srgbClr val="F8FAFD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6" name="Picture 135" descr="bus_n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66928" y="4983480"/>
            <a:ext cx="182880" cy="182880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795528" y="49743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 u="none">
                <a:solidFill>
                  <a:srgbClr val="1B2A41"/>
                </a:solidFill>
                <a:latin typeface="Arial"/>
              </a:rPr>
              <a:t>Urban dense traffic</a:t>
            </a:r>
          </a:p>
        </p:txBody>
      </p:sp>
      <p:pic>
        <p:nvPicPr>
          <p:cNvPr id="138" name="Picture 137" descr="env_0.jp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57784" y="5193792"/>
            <a:ext cx="1828800" cy="658368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576072" y="5879592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i="0" u="none">
                <a:solidFill>
                  <a:srgbClr val="333F55"/>
                </a:solidFill>
                <a:latin typeface="Arial"/>
              </a:rPr>
              <a:t>• Crowds, vendors, turning buses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3483864" y="4846320"/>
            <a:ext cx="0" cy="91440"/>
          </a:xfrm>
          <a:prstGeom prst="line">
            <a:avLst/>
          </a:prstGeom>
          <a:ln w="1143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/>
          <p:cNvSpPr/>
          <p:nvPr/>
        </p:nvSpPr>
        <p:spPr>
          <a:xfrm>
            <a:off x="2514600" y="4937760"/>
            <a:ext cx="1938528" cy="1152144"/>
          </a:xfrm>
          <a:prstGeom prst="rect">
            <a:avLst/>
          </a:prstGeom>
          <a:solidFill>
            <a:srgbClr val="F8FAFD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cow_n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578608" y="4983480"/>
            <a:ext cx="182880" cy="182880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2807208" y="49743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 u="none">
                <a:solidFill>
                  <a:srgbClr val="1B2A41"/>
                </a:solidFill>
                <a:latin typeface="Arial"/>
              </a:rPr>
              <a:t>Village roads</a:t>
            </a:r>
          </a:p>
        </p:txBody>
      </p:sp>
      <p:pic>
        <p:nvPicPr>
          <p:cNvPr id="144" name="Picture 143" descr="env_1.jp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569464" y="5193792"/>
            <a:ext cx="1828800" cy="658368"/>
          </a:xfrm>
          <a:prstGeom prst="rect">
            <a:avLst/>
          </a:prstGeom>
        </p:spPr>
      </p:pic>
      <p:sp>
        <p:nvSpPr>
          <p:cNvPr id="145" name="TextBox 144"/>
          <p:cNvSpPr txBox="1"/>
          <p:nvPr/>
        </p:nvSpPr>
        <p:spPr>
          <a:xfrm>
            <a:off x="2587752" y="5879592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i="0" u="none">
                <a:solidFill>
                  <a:srgbClr val="333F55"/>
                </a:solidFill>
                <a:latin typeface="Arial"/>
              </a:rPr>
              <a:t>• Narrow, unmarked, cattle, tractors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5495544" y="4846320"/>
            <a:ext cx="0" cy="91440"/>
          </a:xfrm>
          <a:prstGeom prst="line">
            <a:avLst/>
          </a:prstGeom>
          <a:ln w="1143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146"/>
          <p:cNvSpPr/>
          <p:nvPr/>
        </p:nvSpPr>
        <p:spPr>
          <a:xfrm>
            <a:off x="4526280" y="4937760"/>
            <a:ext cx="1938528" cy="1152144"/>
          </a:xfrm>
          <a:prstGeom prst="rect">
            <a:avLst/>
          </a:prstGeom>
          <a:solidFill>
            <a:srgbClr val="F8FAFD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8" name="Picture 147" descr="truck_n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590288" y="4983480"/>
            <a:ext cx="182880" cy="182880"/>
          </a:xfrm>
          <a:prstGeom prst="rect">
            <a:avLst/>
          </a:prstGeom>
        </p:spPr>
      </p:pic>
      <p:sp>
        <p:nvSpPr>
          <p:cNvPr id="149" name="TextBox 148"/>
          <p:cNvSpPr txBox="1"/>
          <p:nvPr/>
        </p:nvSpPr>
        <p:spPr>
          <a:xfrm>
            <a:off x="4818888" y="49743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 u="none">
                <a:solidFill>
                  <a:srgbClr val="1B2A41"/>
                </a:solidFill>
                <a:latin typeface="Arial"/>
              </a:rPr>
              <a:t>Highways &amp; transitions</a:t>
            </a:r>
          </a:p>
        </p:txBody>
      </p:sp>
      <p:pic>
        <p:nvPicPr>
          <p:cNvPr id="150" name="Picture 149" descr="env_2.jp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581144" y="5193792"/>
            <a:ext cx="1828800" cy="658368"/>
          </a:xfrm>
          <a:prstGeom prst="rect">
            <a:avLst/>
          </a:prstGeom>
        </p:spPr>
      </p:pic>
      <p:sp>
        <p:nvSpPr>
          <p:cNvPr id="151" name="TextBox 150"/>
          <p:cNvSpPr txBox="1"/>
          <p:nvPr/>
        </p:nvSpPr>
        <p:spPr>
          <a:xfrm>
            <a:off x="4599432" y="5879592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i="0" u="none">
                <a:solidFill>
                  <a:srgbClr val="333F55"/>
                </a:solidFill>
                <a:latin typeface="Arial"/>
              </a:rPr>
              <a:t>• Merges, trucks, higher speeds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7507224" y="4846320"/>
            <a:ext cx="0" cy="91440"/>
          </a:xfrm>
          <a:prstGeom prst="line">
            <a:avLst/>
          </a:prstGeom>
          <a:ln w="1143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/>
          <p:cNvSpPr/>
          <p:nvPr/>
        </p:nvSpPr>
        <p:spPr>
          <a:xfrm>
            <a:off x="6537960" y="4937760"/>
            <a:ext cx="1938528" cy="1152144"/>
          </a:xfrm>
          <a:prstGeom prst="rect">
            <a:avLst/>
          </a:prstGeom>
          <a:solidFill>
            <a:srgbClr val="F8FAFD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route_n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601968" y="4983480"/>
            <a:ext cx="182880" cy="182880"/>
          </a:xfrm>
          <a:prstGeom prst="rect">
            <a:avLst/>
          </a:prstGeom>
        </p:spPr>
      </p:pic>
      <p:sp>
        <p:nvSpPr>
          <p:cNvPr id="155" name="TextBox 154"/>
          <p:cNvSpPr txBox="1"/>
          <p:nvPr/>
        </p:nvSpPr>
        <p:spPr>
          <a:xfrm>
            <a:off x="6830568" y="49743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 u="none">
                <a:solidFill>
                  <a:srgbClr val="1B2A41"/>
                </a:solidFill>
                <a:latin typeface="Arial"/>
              </a:rPr>
              <a:t>Unmarked city roads</a:t>
            </a:r>
          </a:p>
        </p:txBody>
      </p:sp>
      <p:pic>
        <p:nvPicPr>
          <p:cNvPr id="156" name="Picture 155" descr="env_3.jp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592824" y="5193792"/>
            <a:ext cx="1828800" cy="658368"/>
          </a:xfrm>
          <a:prstGeom prst="rect">
            <a:avLst/>
          </a:prstGeom>
        </p:spPr>
      </p:pic>
      <p:sp>
        <p:nvSpPr>
          <p:cNvPr id="157" name="TextBox 156"/>
          <p:cNvSpPr txBox="1"/>
          <p:nvPr/>
        </p:nvSpPr>
        <p:spPr>
          <a:xfrm>
            <a:off x="6611112" y="5879592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i="0" u="none">
                <a:solidFill>
                  <a:srgbClr val="333F55"/>
                </a:solidFill>
                <a:latin typeface="Arial"/>
              </a:rPr>
              <a:t>• Work zones, wrong-way riders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942832" y="1143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u="none">
                <a:solidFill>
                  <a:srgbClr val="1A1A1A"/>
                </a:solidFill>
                <a:latin typeface="Arial"/>
              </a:rPr>
              <a:t>TECH STACK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8942832" y="1417320"/>
            <a:ext cx="2816352" cy="10972"/>
          </a:xfrm>
          <a:prstGeom prst="rect">
            <a:avLst/>
          </a:prstGeom>
          <a:solidFill>
            <a:srgbClr val="9AA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8924544" y="1490472"/>
            <a:ext cx="914400" cy="886968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8924544" y="1490472"/>
            <a:ext cx="914400" cy="173736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924544" y="149047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30" b="1" i="0" u="none">
                <a:solidFill>
                  <a:srgbClr val="FFFFFF"/>
                </a:solidFill>
                <a:latin typeface="Arial"/>
              </a:rPr>
              <a:t>PERCEPTION</a:t>
            </a:r>
          </a:p>
        </p:txBody>
      </p:sp>
      <p:pic>
        <p:nvPicPr>
          <p:cNvPr id="163" name="Picture 162" descr="ultralytics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997696" y="1728216"/>
            <a:ext cx="201168" cy="201168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9235440" y="1728216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1" i="0" u="none">
                <a:solidFill>
                  <a:srgbClr val="1B2A41"/>
                </a:solidFill>
                <a:latin typeface="Arial"/>
              </a:rPr>
              <a:t>YOLO</a:t>
            </a:r>
          </a:p>
        </p:txBody>
      </p:sp>
      <p:pic>
        <p:nvPicPr>
          <p:cNvPr id="165" name="Picture 164" descr="opencv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997696" y="1984248"/>
            <a:ext cx="201168" cy="201168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9235440" y="1984248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1" i="0" u="none">
                <a:solidFill>
                  <a:srgbClr val="1B2A41"/>
                </a:solidFill>
                <a:latin typeface="Arial"/>
              </a:rPr>
              <a:t>OpenCV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961119" y="2194559"/>
            <a:ext cx="8412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50" b="0" i="0" u="none">
                <a:solidFill>
                  <a:srgbClr val="333F55"/>
                </a:solidFill>
                <a:latin typeface="Arial"/>
              </a:rPr>
              <a:t>Object detection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9875520" y="1490472"/>
            <a:ext cx="914400" cy="886968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9875520" y="1490472"/>
            <a:ext cx="914400" cy="17373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9875520" y="149047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30" b="1" i="0" u="none">
                <a:solidFill>
                  <a:srgbClr val="FFFFFF"/>
                </a:solidFill>
                <a:latin typeface="Arial"/>
              </a:rPr>
              <a:t>TRACKING</a:t>
            </a:r>
          </a:p>
        </p:txBody>
      </p:sp>
      <p:pic>
        <p:nvPicPr>
          <p:cNvPr id="171" name="Picture 170" descr="timeline_g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948672" y="1728216"/>
            <a:ext cx="201168" cy="201168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10186416" y="1728216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1" i="0" u="none">
                <a:solidFill>
                  <a:srgbClr val="1B2A41"/>
                </a:solidFill>
                <a:latin typeface="Arial"/>
              </a:rPr>
              <a:t>ByteTrack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9912096" y="2194559"/>
            <a:ext cx="8412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50" b="0" i="0" u="none">
                <a:solidFill>
                  <a:srgbClr val="333F55"/>
                </a:solidFill>
                <a:latin typeface="Arial"/>
              </a:rPr>
              <a:t>Multi-object tracking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10826496" y="1490472"/>
            <a:ext cx="914400" cy="886968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826496" y="1490472"/>
            <a:ext cx="914400" cy="173736"/>
          </a:xfrm>
          <a:prstGeom prst="rect">
            <a:avLst/>
          </a:prstGeom>
          <a:solidFill>
            <a:srgbClr val="6A4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10826496" y="149047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30" b="1" i="0" u="none">
                <a:solidFill>
                  <a:srgbClr val="FFFFFF"/>
                </a:solidFill>
                <a:latin typeface="Arial"/>
              </a:rPr>
              <a:t>DEPTH / VISION</a:t>
            </a:r>
          </a:p>
        </p:txBody>
      </p:sp>
      <p:pic>
        <p:nvPicPr>
          <p:cNvPr id="177" name="Picture 176" descr="layers_n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0899648" y="1728216"/>
            <a:ext cx="201168" cy="201168"/>
          </a:xfrm>
          <a:prstGeom prst="rect">
            <a:avLst/>
          </a:prstGeom>
        </p:spPr>
      </p:pic>
      <p:sp>
        <p:nvSpPr>
          <p:cNvPr id="178" name="TextBox 177"/>
          <p:cNvSpPr txBox="1"/>
          <p:nvPr/>
        </p:nvSpPr>
        <p:spPr>
          <a:xfrm>
            <a:off x="11137392" y="1728216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1" i="0" u="none">
                <a:solidFill>
                  <a:srgbClr val="1B2A41"/>
                </a:solidFill>
                <a:latin typeface="Arial"/>
              </a:rPr>
              <a:t>Depth Anything</a:t>
            </a:r>
          </a:p>
        </p:txBody>
      </p:sp>
      <p:pic>
        <p:nvPicPr>
          <p:cNvPr id="179" name="Picture 178" descr="visibility_n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0899648" y="1984248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11137392" y="1984248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1" i="0" u="none">
                <a:solidFill>
                  <a:srgbClr val="1B2A41"/>
                </a:solidFill>
                <a:latin typeface="Arial"/>
              </a:rPr>
              <a:t>CLIP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863072" y="2194559"/>
            <a:ext cx="8412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50" b="0" i="0" u="none">
                <a:solidFill>
                  <a:srgbClr val="333F55"/>
                </a:solidFill>
                <a:latin typeface="Arial"/>
              </a:rPr>
              <a:t>Depth &amp; scene cues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8924544" y="2423160"/>
            <a:ext cx="914400" cy="886968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924544" y="2423160"/>
            <a:ext cx="914400" cy="17373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8924544" y="24231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30" b="1" i="0" u="none">
                <a:solidFill>
                  <a:srgbClr val="FFFFFF"/>
                </a:solidFill>
                <a:latin typeface="Arial"/>
              </a:rPr>
              <a:t>PLANNING</a:t>
            </a:r>
          </a:p>
        </p:txBody>
      </p:sp>
      <p:pic>
        <p:nvPicPr>
          <p:cNvPr id="185" name="Picture 184" descr="python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97696" y="2660904"/>
            <a:ext cx="201168" cy="201168"/>
          </a:xfrm>
          <a:prstGeom prst="rect">
            <a:avLst/>
          </a:prstGeom>
        </p:spPr>
      </p:pic>
      <p:sp>
        <p:nvSpPr>
          <p:cNvPr id="186" name="TextBox 185"/>
          <p:cNvSpPr txBox="1"/>
          <p:nvPr/>
        </p:nvSpPr>
        <p:spPr>
          <a:xfrm>
            <a:off x="9235440" y="2660904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1" i="0" u="none">
                <a:solidFill>
                  <a:srgbClr val="1B2A41"/>
                </a:solidFill>
                <a:latin typeface="Arial"/>
              </a:rPr>
              <a:t>Python</a:t>
            </a:r>
          </a:p>
        </p:txBody>
      </p:sp>
      <p:pic>
        <p:nvPicPr>
          <p:cNvPr id="187" name="Picture 186" descr="numpy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8997696" y="2916936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9235440" y="2916936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1" i="0" u="none">
                <a:solidFill>
                  <a:srgbClr val="1B2A41"/>
                </a:solidFill>
                <a:latin typeface="Arial"/>
              </a:rPr>
              <a:t>NumPy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961119" y="3127248"/>
            <a:ext cx="8412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50" b="0" i="0" u="none">
                <a:solidFill>
                  <a:srgbClr val="333F55"/>
                </a:solidFill>
                <a:latin typeface="Arial"/>
              </a:rPr>
              <a:t>Trajectory &amp; risk logic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9875520" y="2423160"/>
            <a:ext cx="914400" cy="886968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9875520" y="2423160"/>
            <a:ext cx="914400" cy="1737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9875520" y="24231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30" b="1" i="0" u="none">
                <a:solidFill>
                  <a:srgbClr val="FFFFFF"/>
                </a:solidFill>
                <a:latin typeface="Arial"/>
              </a:rPr>
              <a:t>WEB / DEMO</a:t>
            </a:r>
          </a:p>
        </p:txBody>
      </p:sp>
      <p:pic>
        <p:nvPicPr>
          <p:cNvPr id="193" name="Picture 192" descr="flask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921240" y="2660904"/>
            <a:ext cx="164592" cy="164592"/>
          </a:xfrm>
          <a:prstGeom prst="rect">
            <a:avLst/>
          </a:prstGeom>
        </p:spPr>
      </p:pic>
      <p:sp>
        <p:nvSpPr>
          <p:cNvPr id="194" name="TextBox 193"/>
          <p:cNvSpPr txBox="1"/>
          <p:nvPr/>
        </p:nvSpPr>
        <p:spPr>
          <a:xfrm>
            <a:off x="10122408" y="2660904"/>
            <a:ext cx="25603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1" i="0" u="none">
                <a:solidFill>
                  <a:srgbClr val="1B2A41"/>
                </a:solidFill>
                <a:latin typeface="Arial"/>
              </a:rPr>
              <a:t>Flask</a:t>
            </a:r>
          </a:p>
        </p:txBody>
      </p:sp>
      <p:pic>
        <p:nvPicPr>
          <p:cNvPr id="195" name="Picture 194" descr="html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360152" y="2660904"/>
            <a:ext cx="164592" cy="164592"/>
          </a:xfrm>
          <a:prstGeom prst="rect">
            <a:avLst/>
          </a:prstGeom>
        </p:spPr>
      </p:pic>
      <p:sp>
        <p:nvSpPr>
          <p:cNvPr id="196" name="TextBox 195"/>
          <p:cNvSpPr txBox="1"/>
          <p:nvPr/>
        </p:nvSpPr>
        <p:spPr>
          <a:xfrm>
            <a:off x="10561320" y="2660904"/>
            <a:ext cx="25603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1" i="0" u="none">
                <a:solidFill>
                  <a:srgbClr val="1B2A41"/>
                </a:solidFill>
                <a:latin typeface="Arial"/>
              </a:rPr>
              <a:t>HTML</a:t>
            </a:r>
          </a:p>
        </p:txBody>
      </p:sp>
      <p:pic>
        <p:nvPicPr>
          <p:cNvPr id="197" name="Picture 196" descr="css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9921240" y="2916936"/>
            <a:ext cx="164592" cy="164592"/>
          </a:xfrm>
          <a:prstGeom prst="rect">
            <a:avLst/>
          </a:prstGeom>
        </p:spPr>
      </p:pic>
      <p:sp>
        <p:nvSpPr>
          <p:cNvPr id="198" name="TextBox 197"/>
          <p:cNvSpPr txBox="1"/>
          <p:nvPr/>
        </p:nvSpPr>
        <p:spPr>
          <a:xfrm>
            <a:off x="10122408" y="2916936"/>
            <a:ext cx="25603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1" i="0" u="none">
                <a:solidFill>
                  <a:srgbClr val="1B2A41"/>
                </a:solidFill>
                <a:latin typeface="Arial"/>
              </a:rPr>
              <a:t>CSS</a:t>
            </a:r>
          </a:p>
        </p:txBody>
      </p:sp>
      <p:pic>
        <p:nvPicPr>
          <p:cNvPr id="199" name="Picture 198" descr="javascript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0360152" y="2916936"/>
            <a:ext cx="164592" cy="164592"/>
          </a:xfrm>
          <a:prstGeom prst="rect">
            <a:avLst/>
          </a:prstGeom>
        </p:spPr>
      </p:pic>
      <p:sp>
        <p:nvSpPr>
          <p:cNvPr id="200" name="TextBox 199"/>
          <p:cNvSpPr txBox="1"/>
          <p:nvPr/>
        </p:nvSpPr>
        <p:spPr>
          <a:xfrm>
            <a:off x="10561320" y="2916936"/>
            <a:ext cx="25603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1" i="0" u="none">
                <a:solidFill>
                  <a:srgbClr val="1B2A41"/>
                </a:solidFill>
                <a:latin typeface="Arial"/>
              </a:rPr>
              <a:t>JS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912096" y="3127248"/>
            <a:ext cx="8412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50" b="0" i="0" u="none">
                <a:solidFill>
                  <a:srgbClr val="333F55"/>
                </a:solidFill>
                <a:latin typeface="Arial"/>
              </a:rPr>
              <a:t>Review dashboard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10826496" y="2423160"/>
            <a:ext cx="914400" cy="886968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0826496" y="2423160"/>
            <a:ext cx="914400" cy="173736"/>
          </a:xfrm>
          <a:prstGeom prst="rect">
            <a:avLst/>
          </a:prstGeom>
          <a:solidFill>
            <a:srgbClr val="2C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826496" y="24231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30" b="1" i="0" u="none">
                <a:solidFill>
                  <a:srgbClr val="FFFFFF"/>
                </a:solidFill>
                <a:latin typeface="Arial"/>
              </a:rPr>
              <a:t>RUNTIME</a:t>
            </a:r>
          </a:p>
        </p:txBody>
      </p:sp>
      <p:pic>
        <p:nvPicPr>
          <p:cNvPr id="205" name="Picture 204" descr="pytorch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899648" y="2660904"/>
            <a:ext cx="201168" cy="201168"/>
          </a:xfrm>
          <a:prstGeom prst="rect">
            <a:avLst/>
          </a:prstGeom>
        </p:spPr>
      </p:pic>
      <p:sp>
        <p:nvSpPr>
          <p:cNvPr id="206" name="TextBox 205"/>
          <p:cNvSpPr txBox="1"/>
          <p:nvPr/>
        </p:nvSpPr>
        <p:spPr>
          <a:xfrm>
            <a:off x="11137392" y="2660904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1" i="0" u="none">
                <a:solidFill>
                  <a:srgbClr val="1B2A41"/>
                </a:solidFill>
                <a:latin typeface="Arial"/>
              </a:rPr>
              <a:t>PyTorch</a:t>
            </a:r>
          </a:p>
        </p:txBody>
      </p:sp>
      <p:pic>
        <p:nvPicPr>
          <p:cNvPr id="207" name="Picture 206" descr="nvidi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899648" y="2916936"/>
            <a:ext cx="201168" cy="201168"/>
          </a:xfrm>
          <a:prstGeom prst="rect">
            <a:avLst/>
          </a:prstGeom>
        </p:spPr>
      </p:pic>
      <p:sp>
        <p:nvSpPr>
          <p:cNvPr id="208" name="TextBox 207"/>
          <p:cNvSpPr txBox="1"/>
          <p:nvPr/>
        </p:nvSpPr>
        <p:spPr>
          <a:xfrm>
            <a:off x="11137392" y="2916936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1" i="0" u="none">
                <a:solidFill>
                  <a:srgbClr val="1B2A41"/>
                </a:solidFill>
                <a:latin typeface="Arial"/>
              </a:rPr>
              <a:t>CUDA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0863072" y="3127248"/>
            <a:ext cx="8412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50" b="0" i="0" u="none">
                <a:solidFill>
                  <a:srgbClr val="333F55"/>
                </a:solidFill>
                <a:latin typeface="Arial"/>
              </a:rPr>
              <a:t>GPU inference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8869680" y="3547872"/>
            <a:ext cx="29626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u="sng">
                <a:solidFill>
                  <a:srgbClr val="1F3E7A"/>
                </a:solidFill>
                <a:latin typeface="Arial"/>
              </a:rPr>
              <a:t>METHODOLOGY</a:t>
            </a:r>
          </a:p>
        </p:txBody>
      </p:sp>
      <p:sp>
        <p:nvSpPr>
          <p:cNvPr id="211" name="Oval 210"/>
          <p:cNvSpPr/>
          <p:nvPr/>
        </p:nvSpPr>
        <p:spPr>
          <a:xfrm>
            <a:off x="9326880" y="4133087"/>
            <a:ext cx="2048256" cy="1572768"/>
          </a:xfrm>
          <a:prstGeom prst="ellipse">
            <a:avLst/>
          </a:prstGeom>
          <a:noFill/>
          <a:ln w="12700">
            <a:solidFill>
              <a:srgbClr val="B8C4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0149840" y="3931920"/>
            <a:ext cx="402336" cy="402336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3" name="Picture 212" descr="camera_w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238353" y="4020433"/>
            <a:ext cx="225308" cy="225308"/>
          </a:xfrm>
          <a:prstGeom prst="rect">
            <a:avLst/>
          </a:prstGeom>
        </p:spPr>
      </p:pic>
      <p:sp>
        <p:nvSpPr>
          <p:cNvPr id="214" name="Oval 213"/>
          <p:cNvSpPr/>
          <p:nvPr/>
        </p:nvSpPr>
        <p:spPr>
          <a:xfrm>
            <a:off x="10113264" y="3895344"/>
            <a:ext cx="137160" cy="137160"/>
          </a:xfrm>
          <a:prstGeom prst="ellipse">
            <a:avLst/>
          </a:prstGeom>
          <a:solidFill>
            <a:srgbClr val="2F6DB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0113264" y="3895344"/>
            <a:ext cx="13716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 u="none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9848088" y="3776472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 u="none">
                <a:solidFill>
                  <a:srgbClr val="1B2A41"/>
                </a:solidFill>
                <a:latin typeface="Arial"/>
              </a:rPr>
              <a:t>Sense</a:t>
            </a:r>
          </a:p>
        </p:txBody>
      </p:sp>
      <p:sp>
        <p:nvSpPr>
          <p:cNvPr id="217" name="Oval 216"/>
          <p:cNvSpPr/>
          <p:nvPr/>
        </p:nvSpPr>
        <p:spPr>
          <a:xfrm>
            <a:off x="11036760" y="4325112"/>
            <a:ext cx="402336" cy="402336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8" name="Picture 217" descr="visibility_w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125274" y="4413625"/>
            <a:ext cx="225308" cy="225308"/>
          </a:xfrm>
          <a:prstGeom prst="rect">
            <a:avLst/>
          </a:prstGeom>
        </p:spPr>
      </p:pic>
      <p:sp>
        <p:nvSpPr>
          <p:cNvPr id="219" name="Oval 218"/>
          <p:cNvSpPr/>
          <p:nvPr/>
        </p:nvSpPr>
        <p:spPr>
          <a:xfrm>
            <a:off x="11000184" y="4288536"/>
            <a:ext cx="137160" cy="137160"/>
          </a:xfrm>
          <a:prstGeom prst="ellipse">
            <a:avLst/>
          </a:prstGeom>
          <a:solidFill>
            <a:srgbClr val="2E8B5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11000184" y="4288536"/>
            <a:ext cx="13716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 u="none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735008" y="4169664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 u="none">
                <a:solidFill>
                  <a:srgbClr val="1B2A41"/>
                </a:solidFill>
                <a:latin typeface="Arial"/>
              </a:rPr>
              <a:t>Detect &amp; track</a:t>
            </a:r>
          </a:p>
        </p:txBody>
      </p:sp>
      <p:sp>
        <p:nvSpPr>
          <p:cNvPr id="222" name="Oval 221"/>
          <p:cNvSpPr/>
          <p:nvPr/>
        </p:nvSpPr>
        <p:spPr>
          <a:xfrm>
            <a:off x="11036760" y="5111496"/>
            <a:ext cx="402336" cy="402336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3" name="Picture 222" descr="brain_w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125274" y="5200009"/>
            <a:ext cx="225308" cy="225308"/>
          </a:xfrm>
          <a:prstGeom prst="rect">
            <a:avLst/>
          </a:prstGeom>
        </p:spPr>
      </p:pic>
      <p:sp>
        <p:nvSpPr>
          <p:cNvPr id="224" name="Oval 223"/>
          <p:cNvSpPr/>
          <p:nvPr/>
        </p:nvSpPr>
        <p:spPr>
          <a:xfrm>
            <a:off x="11000184" y="5074920"/>
            <a:ext cx="137160" cy="137160"/>
          </a:xfrm>
          <a:prstGeom prst="ellipse">
            <a:avLst/>
          </a:prstGeom>
          <a:solidFill>
            <a:srgbClr val="E07B3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11000184" y="5074920"/>
            <a:ext cx="13716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 u="none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0735008" y="5522975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 u="none">
                <a:solidFill>
                  <a:srgbClr val="1B2A41"/>
                </a:solidFill>
                <a:latin typeface="Arial"/>
              </a:rPr>
              <a:t>Predict motion</a:t>
            </a:r>
          </a:p>
        </p:txBody>
      </p:sp>
      <p:sp>
        <p:nvSpPr>
          <p:cNvPr id="227" name="Oval 226"/>
          <p:cNvSpPr/>
          <p:nvPr/>
        </p:nvSpPr>
        <p:spPr>
          <a:xfrm>
            <a:off x="10149840" y="5504688"/>
            <a:ext cx="402336" cy="402336"/>
          </a:xfrm>
          <a:prstGeom prst="ellipse">
            <a:avLst/>
          </a:prstGeom>
          <a:solidFill>
            <a:srgbClr val="6A4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8" name="Picture 227" descr="warning_w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238353" y="5593201"/>
            <a:ext cx="225308" cy="225308"/>
          </a:xfrm>
          <a:prstGeom prst="rect">
            <a:avLst/>
          </a:prstGeom>
        </p:spPr>
      </p:pic>
      <p:sp>
        <p:nvSpPr>
          <p:cNvPr id="229" name="Oval 228"/>
          <p:cNvSpPr/>
          <p:nvPr/>
        </p:nvSpPr>
        <p:spPr>
          <a:xfrm>
            <a:off x="10113264" y="5468112"/>
            <a:ext cx="137160" cy="137160"/>
          </a:xfrm>
          <a:prstGeom prst="ellipse">
            <a:avLst/>
          </a:prstGeom>
          <a:solidFill>
            <a:srgbClr val="6A4C9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10113264" y="5468112"/>
            <a:ext cx="13716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 u="none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9848088" y="5916168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 u="none">
                <a:solidFill>
                  <a:srgbClr val="1B2A41"/>
                </a:solidFill>
                <a:latin typeface="Arial"/>
              </a:rPr>
              <a:t>Assess path threat</a:t>
            </a:r>
          </a:p>
        </p:txBody>
      </p:sp>
      <p:sp>
        <p:nvSpPr>
          <p:cNvPr id="232" name="Oval 231"/>
          <p:cNvSpPr/>
          <p:nvPr/>
        </p:nvSpPr>
        <p:spPr>
          <a:xfrm>
            <a:off x="9262919" y="5111496"/>
            <a:ext cx="402336" cy="402336"/>
          </a:xfrm>
          <a:prstGeom prst="ellipse">
            <a:avLst/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3" name="Picture 232" descr="route_w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351433" y="5200009"/>
            <a:ext cx="225308" cy="225308"/>
          </a:xfrm>
          <a:prstGeom prst="rect">
            <a:avLst/>
          </a:prstGeom>
        </p:spPr>
      </p:pic>
      <p:sp>
        <p:nvSpPr>
          <p:cNvPr id="234" name="Oval 233"/>
          <p:cNvSpPr/>
          <p:nvPr/>
        </p:nvSpPr>
        <p:spPr>
          <a:xfrm>
            <a:off x="9226343" y="5074920"/>
            <a:ext cx="137160" cy="137160"/>
          </a:xfrm>
          <a:prstGeom prst="ellipse">
            <a:avLst/>
          </a:prstGeom>
          <a:solidFill>
            <a:srgbClr val="0F9E8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9226343" y="5074920"/>
            <a:ext cx="13716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 u="none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8961167" y="5522976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 u="none">
                <a:solidFill>
                  <a:srgbClr val="1B2A41"/>
                </a:solidFill>
                <a:latin typeface="Arial"/>
              </a:rPr>
              <a:t>Plan trajectory</a:t>
            </a:r>
          </a:p>
        </p:txBody>
      </p:sp>
      <p:sp>
        <p:nvSpPr>
          <p:cNvPr id="237" name="Oval 236"/>
          <p:cNvSpPr/>
          <p:nvPr/>
        </p:nvSpPr>
        <p:spPr>
          <a:xfrm>
            <a:off x="9262919" y="4325112"/>
            <a:ext cx="402336" cy="40233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8" name="Picture 237" descr="loop_w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351433" y="4413625"/>
            <a:ext cx="225308" cy="225308"/>
          </a:xfrm>
          <a:prstGeom prst="rect">
            <a:avLst/>
          </a:prstGeom>
        </p:spPr>
      </p:pic>
      <p:sp>
        <p:nvSpPr>
          <p:cNvPr id="239" name="Oval 238"/>
          <p:cNvSpPr/>
          <p:nvPr/>
        </p:nvSpPr>
        <p:spPr>
          <a:xfrm>
            <a:off x="9226343" y="4288536"/>
            <a:ext cx="137160" cy="137160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226343" y="4288536"/>
            <a:ext cx="13716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 u="none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8961167" y="4169664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 u="none">
                <a:solidFill>
                  <a:srgbClr val="1B2A41"/>
                </a:solidFill>
                <a:latin typeface="Arial"/>
              </a:rPr>
              <a:t>Act &amp; re-plan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9784080" y="4736592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1F3E7A"/>
                </a:solidFill>
                <a:latin typeface="Arial"/>
              </a:rPr>
              <a:t>PATHSENSE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9784080" y="4937759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80" b="0" i="0" u="none">
                <a:solidFill>
                  <a:srgbClr val="333F55"/>
                </a:solidFill>
                <a:latin typeface="Arial"/>
              </a:rPr>
              <a:t>Continuous perception-to-planning loop</a:t>
            </a:r>
          </a:p>
        </p:txBody>
      </p:sp>
    </p:spTree>
    <p:extLst>
      <p:ext uri="{BB962C8B-B14F-4D97-AF65-F5344CB8AC3E}">
        <p14:creationId xmlns:p14="http://schemas.microsoft.com/office/powerpoint/2010/main" val="3450581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64912" y="6287095"/>
            <a:ext cx="12062177" cy="497879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en-US" sz="178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391173" y="-419280"/>
            <a:ext cx="10855960" cy="1130829"/>
          </a:xfrm>
        </p:spPr>
        <p:txBody>
          <a:bodyPr/>
          <a:lstStyle/>
          <a:p>
            <a:pPr eaLnBrk="1" hangingPunct="1"/>
            <a:br>
              <a:rPr lang="en-US" sz="3562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562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Prototype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4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63617" y="6340456"/>
            <a:ext cx="3659116" cy="361237"/>
          </a:xfrm>
        </p:spPr>
        <p:txBody>
          <a:bodyPr/>
          <a:lstStyle/>
          <a:p>
            <a:pPr>
              <a:defRPr/>
            </a:pPr>
            <a:r>
              <a:rPr lang="en-US" sz="1400" dirty="0">
                <a:solidFill>
                  <a:schemeClr val="bg1"/>
                </a:solidFill>
              </a:rPr>
              <a:t>@SIH Idea submission- Template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0857" y="1484"/>
            <a:ext cx="2225893" cy="1051025"/>
          </a:xfrm>
          <a:prstGeom prst="rect">
            <a:avLst/>
          </a:prstGeom>
        </p:spPr>
      </p:pic>
      <p:sp>
        <p:nvSpPr>
          <p:cNvPr id="100" name="Heading Wireframes"/>
          <p:cNvSpPr txBox="1"/>
          <p:nvPr/>
        </p:nvSpPr>
        <p:spPr>
          <a:xfrm>
            <a:off x="420624" y="1097280"/>
            <a:ext cx="3957407" cy="277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979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Views</a:t>
            </a:r>
          </a:p>
        </p:txBody>
      </p:sp>
      <p:sp>
        <p:nvSpPr>
          <p:cNvPr id="302" name="Caption Home Wireframe"/>
          <p:cNvSpPr txBox="1"/>
          <p:nvPr/>
        </p:nvSpPr>
        <p:spPr>
          <a:xfrm>
            <a:off x="6035040" y="1188720"/>
            <a:ext cx="2286000" cy="237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286" b="1" dirty="0">
                <a:solidFill>
                  <a:srgbClr val="333F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 View</a:t>
            </a:r>
          </a:p>
        </p:txBody>
      </p:sp>
      <p:sp>
        <p:nvSpPr>
          <p:cNvPr id="104" name="Current Development Box"/>
          <p:cNvSpPr txBox="1"/>
          <p:nvPr/>
        </p:nvSpPr>
        <p:spPr>
          <a:xfrm>
            <a:off x="9326880" y="1481328"/>
            <a:ext cx="2743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00"/>
              </a:spcAft>
            </a:pPr>
            <a:r>
              <a:rPr sz="1800" b="1" i="0" u="none">
                <a:solidFill>
                  <a:srgbClr val="1A1A1A"/>
                </a:solidFill>
                <a:latin typeface="Arial"/>
              </a:rPr>
              <a:t>Current Development</a:t>
            </a:r>
            <a:endParaRPr lang="en-US" sz="1781" dirty="0"/>
          </a:p>
          <a:p>
            <a:pPr>
              <a:spcAft>
                <a:spcPts val="600"/>
              </a:spcAft>
            </a:pPr>
            <a:r>
              <a:rPr sz="1100" b="1" i="0" u="none">
                <a:solidFill>
                  <a:srgbClr val="1A1A1A"/>
                </a:solidFill>
                <a:latin typeface="Arial"/>
              </a:rPr>
              <a:t>Working prototype: </a:t>
            </a:r>
            <a:r>
              <a:rPr sz="1100" b="0" i="0" u="none">
                <a:solidFill>
                  <a:srgbClr val="1A1A1A"/>
                </a:solidFill>
                <a:latin typeface="Arial"/>
              </a:rPr>
              <a:t>camera-based perception, tracking, motion understanding and adaptive path planning</a:t>
            </a:r>
          </a:p>
          <a:p>
            <a:pPr>
              <a:spcAft>
                <a:spcPts val="600"/>
              </a:spcAft>
            </a:pPr>
            <a:r>
              <a:rPr sz="1100" b="1" i="0" u="none">
                <a:solidFill>
                  <a:srgbClr val="1A1A1A"/>
                </a:solidFill>
                <a:latin typeface="Arial"/>
              </a:rPr>
              <a:t>Code repository:</a:t>
            </a:r>
          </a:p>
          <a:p>
            <a:pPr>
              <a:spcAft>
                <a:spcPts val="600"/>
              </a:spcAft>
            </a:pPr>
            <a:r>
              <a:rPr sz="1000" b="0" i="0" u="sng">
                <a:solidFill>
                  <a:srgbClr val="1155CC"/>
                </a:solidFill>
                <a:latin typeface="Arial"/>
                <a:hlinkClick r:id="rId13"/>
              </a:rPr>
              <a:t>github.com/MalyalaKarthik66/pathsense-prototype</a:t>
            </a:r>
          </a:p>
          <a:p>
            <a:pPr>
              <a:spcAft>
                <a:spcPts val="600"/>
              </a:spcAft>
            </a:pPr>
            <a:r>
              <a:rPr sz="1000" b="0" i="1" u="none">
                <a:solidFill>
                  <a:srgbClr val="333F55"/>
                </a:solidFill>
                <a:latin typeface="Arial"/>
              </a:rPr>
              <a:t>Live demonstration shown separately during evaluation.</a:t>
            </a:r>
          </a:p>
        </p:txBody>
      </p:sp>
      <p:sp>
        <p:nvSpPr>
          <p:cNvPr id="105" name="Heading Expected Delivery"/>
          <p:cNvSpPr txBox="1"/>
          <p:nvPr/>
        </p:nvSpPr>
        <p:spPr>
          <a:xfrm>
            <a:off x="420624" y="3547872"/>
            <a:ext cx="4452083" cy="277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979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vs After</a:t>
            </a:r>
          </a:p>
        </p:txBody>
      </p:sp>
      <p:sp>
        <p:nvSpPr>
          <p:cNvPr id="108" name="Caption Login Final"/>
          <p:cNvSpPr txBox="1"/>
          <p:nvPr/>
        </p:nvSpPr>
        <p:spPr>
          <a:xfrm>
            <a:off x="2377440" y="1188720"/>
            <a:ext cx="2286000" cy="237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286" b="1" dirty="0">
                <a:solidFill>
                  <a:srgbClr val="333F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 View</a:t>
            </a: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D698FA3-7CB7-EC21-2157-54451C113FB8}"/>
              </a:ext>
            </a:extLst>
          </p:cNvPr>
          <p:cNvSpPr/>
          <p:nvPr/>
        </p:nvSpPr>
        <p:spPr>
          <a:xfrm>
            <a:off x="284757" y="129798"/>
            <a:ext cx="1252574" cy="9230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030A0"/>
            </a:solidFill>
            <a:prstDash val="solid"/>
          </a:ln>
        </p:spPr>
        <p:txBody>
          <a:bodyPr/>
          <a:lstStyle/>
          <a:p>
            <a:r>
              <a:rPr lang="en-IN" dirty="0"/>
              <a:t>Ctrl Alt    Elite</a:t>
            </a:r>
          </a:p>
        </p:txBody>
      </p:sp>
      <p:pic>
        <p:nvPicPr>
          <p:cNvPr id="15362" name="Picture 15361" descr="p_perception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" y="1481328"/>
            <a:ext cx="4206240" cy="1920240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pic>
        <p:nvPicPr>
          <p:cNvPr id="15363" name="Picture 15362" descr="p_planning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46320" y="1481328"/>
            <a:ext cx="4206240" cy="1920240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15364" name="TextBox 15363"/>
          <p:cNvSpPr txBox="1"/>
          <p:nvPr/>
        </p:nvSpPr>
        <p:spPr>
          <a:xfrm>
            <a:off x="475488" y="3419856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1" u="none">
                <a:solidFill>
                  <a:srgbClr val="333F55"/>
                </a:solidFill>
                <a:latin typeface="Arial"/>
              </a:rPr>
              <a:t>Road users detected as 3D boxes; predicted motion as dashed arrows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4901184" y="3419856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1" u="none">
                <a:solidFill>
                  <a:srgbClr val="333F55"/>
                </a:solidFill>
                <a:latin typeface="Arial"/>
              </a:rPr>
              <a:t>Candidate paths fanned out; conflicting paths (red) rejected; safe path (teal) kept</a:t>
            </a:r>
          </a:p>
        </p:txBody>
      </p:sp>
      <p:pic>
        <p:nvPicPr>
          <p:cNvPr id="15366" name="Picture 15365" descr="p_befor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0624" y="3931920"/>
            <a:ext cx="4206240" cy="2240280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pic>
        <p:nvPicPr>
          <p:cNvPr id="15367" name="Picture 15366" descr="p_after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46320" y="3931920"/>
            <a:ext cx="4206240" cy="2240280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cxnSp>
        <p:nvCxnSpPr>
          <p:cNvPr id="15368" name="Connector 15367"/>
          <p:cNvCxnSpPr/>
          <p:nvPr/>
        </p:nvCxnSpPr>
        <p:spPr>
          <a:xfrm>
            <a:off x="4645152" y="5047488"/>
            <a:ext cx="182880" cy="0"/>
          </a:xfrm>
          <a:prstGeom prst="line">
            <a:avLst/>
          </a:prstGeom>
          <a:ln w="25400">
            <a:solidFill>
              <a:srgbClr val="1B2A4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9" name="Rounded Rectangle 15368"/>
          <p:cNvSpPr/>
          <p:nvPr/>
        </p:nvSpPr>
        <p:spPr>
          <a:xfrm>
            <a:off x="512064" y="4005072"/>
            <a:ext cx="4023360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0" name="TextBox 15369"/>
          <p:cNvSpPr txBox="1"/>
          <p:nvPr/>
        </p:nvSpPr>
        <p:spPr>
          <a:xfrm>
            <a:off x="512064" y="4005072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 u="none">
                <a:solidFill>
                  <a:srgbClr val="C0392B"/>
                </a:solidFill>
                <a:latin typeface="Arial"/>
              </a:rPr>
              <a:t>BEFORE  ·  lane-following assumption: path runs into the work zone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4937760" y="4005072"/>
            <a:ext cx="4023360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2700">
            <a:solidFill>
              <a:srgbClr val="0F9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2" name="TextBox 15371"/>
          <p:cNvSpPr txBox="1"/>
          <p:nvPr/>
        </p:nvSpPr>
        <p:spPr>
          <a:xfrm>
            <a:off x="4937760" y="4005072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 u="none">
                <a:solidFill>
                  <a:srgbClr val="0F9E8E"/>
                </a:solidFill>
                <a:latin typeface="Arial"/>
              </a:rPr>
              <a:t>AFTER  ·  PathSense adapts the corridor around the obstacle</a:t>
            </a:r>
          </a:p>
        </p:txBody>
      </p:sp>
      <p:sp>
        <p:nvSpPr>
          <p:cNvPr id="15373" name="Rectangle 15372"/>
          <p:cNvSpPr/>
          <p:nvPr/>
        </p:nvSpPr>
        <p:spPr>
          <a:xfrm>
            <a:off x="9326880" y="3977639"/>
            <a:ext cx="2697480" cy="1645920"/>
          </a:xfrm>
          <a:prstGeom prst="rect">
            <a:avLst/>
          </a:prstGeom>
          <a:solidFill>
            <a:srgbClr val="EAF2FB"/>
          </a:solidFill>
          <a:ln w="9525">
            <a:solidFill>
              <a:srgbClr val="8FB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4" name="TextBox 15373"/>
          <p:cNvSpPr txBox="1"/>
          <p:nvPr/>
        </p:nvSpPr>
        <p:spPr>
          <a:xfrm>
            <a:off x="9454896" y="4050791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2A41"/>
                </a:solidFill>
                <a:latin typeface="Arial"/>
              </a:rPr>
              <a:t>What the prototype demonstrates</a:t>
            </a:r>
          </a:p>
        </p:txBody>
      </p:sp>
      <p:sp>
        <p:nvSpPr>
          <p:cNvPr id="15375" name="TextBox 15374"/>
          <p:cNvSpPr txBox="1"/>
          <p:nvPr/>
        </p:nvSpPr>
        <p:spPr>
          <a:xfrm>
            <a:off x="9454896" y="4343400"/>
            <a:ext cx="248716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9728" indent="-109728">
              <a:spcAft>
                <a:spcPts val="300"/>
              </a:spcAft>
              <a:buFont typeface="Arial"/>
              <a:buChar char="•"/>
            </a:pPr>
            <a:r>
              <a:rPr sz="850" b="0" i="0" u="none">
                <a:solidFill>
                  <a:srgbClr val="1A1A1A"/>
                </a:solidFill>
                <a:latin typeface="Arial"/>
              </a:rPr>
              <a:t>Detection &amp; tracking of mixed Indian road users</a:t>
            </a:r>
          </a:p>
          <a:p>
            <a:pPr algn="l" marL="109728" indent="-109728">
              <a:spcAft>
                <a:spcPts val="300"/>
              </a:spcAft>
              <a:buFont typeface="Arial"/>
              <a:buChar char="•"/>
            </a:pPr>
            <a:r>
              <a:rPr sz="850" b="0" i="0" u="none">
                <a:solidFill>
                  <a:srgbClr val="1A1A1A"/>
                </a:solidFill>
                <a:latin typeface="Arial"/>
              </a:rPr>
              <a:t>Path-threat reasoning: oncoming vs. entering the path</a:t>
            </a:r>
          </a:p>
          <a:p>
            <a:pPr algn="l" marL="109728" indent="-109728">
              <a:spcAft>
                <a:spcPts val="300"/>
              </a:spcAft>
              <a:buFont typeface="Arial"/>
              <a:buChar char="•"/>
            </a:pPr>
            <a:r>
              <a:rPr sz="850" b="0" i="0" u="none">
                <a:solidFill>
                  <a:srgbClr val="1A1A1A"/>
                </a:solidFill>
                <a:latin typeface="Arial"/>
              </a:rPr>
              <a:t>Adaptive candidate-path planning around obstacles</a:t>
            </a:r>
          </a:p>
          <a:p>
            <a:pPr algn="l" marL="109728" indent="-109728">
              <a:spcAft>
                <a:spcPts val="300"/>
              </a:spcAft>
              <a:buFont typeface="Arial"/>
              <a:buChar char="•"/>
            </a:pPr>
            <a:r>
              <a:rPr sz="850" b="0" i="0" u="none">
                <a:solidFill>
                  <a:srgbClr val="1A1A1A"/>
                </a:solidFill>
                <a:latin typeface="Arial"/>
              </a:rPr>
              <a:t>Explainable decisions with replay</a:t>
            </a:r>
          </a:p>
        </p:txBody>
      </p:sp>
      <p:sp>
        <p:nvSpPr>
          <p:cNvPr id="15376" name="TextBox 15375"/>
          <p:cNvSpPr txBox="1"/>
          <p:nvPr/>
        </p:nvSpPr>
        <p:spPr>
          <a:xfrm>
            <a:off x="9326880" y="5760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1" u="none">
                <a:solidFill>
                  <a:srgbClr val="6B7280"/>
                </a:solidFill>
                <a:latin typeface="Arial"/>
              </a:rPr>
              <a:t>Visuals on this slide are original concept renders, not application screenshots.</a:t>
            </a:r>
          </a:p>
        </p:txBody>
      </p:sp>
      <p:sp>
        <p:nvSpPr>
          <p:cNvPr id="7" name="Text 4"/>
          <p:cNvSpPr txBox="1"/>
          <p:nvPr/>
        </p:nvSpPr>
        <p:spPr>
          <a:xfrm>
            <a:off x="11155680" y="6327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659954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82880"/>
            <a:ext cx="12801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F5FA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201168" y="201168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 Alt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</a:t>
            </a:r>
            <a:endParaRPr lang="en-US" sz="15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45720"/>
            <a:ext cx="2276856" cy="978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327648"/>
            <a:ext cx="12191695" cy="45720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3200400" y="632764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327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</a:p>
        </p:txBody>
      </p:sp>
      <p:sp>
        <p:nvSpPr>
          <p:cNvPr id="8" name="Text 5"/>
          <p:cNvSpPr txBox="1"/>
          <p:nvPr/>
        </p:nvSpPr>
        <p:spPr>
          <a:xfrm>
            <a:off x="1737360" y="10972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AND VIABILITY</a:t>
            </a:r>
            <a:endParaRPr lang="en-US" sz="3600" dirty="0"/>
          </a:p>
        </p:txBody>
      </p:sp>
      <p:pic>
        <p:nvPicPr>
          <p:cNvPr id="9" name="Image 1" descr="Notebook-style content block: RISKS → MITIGATI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097280"/>
            <a:ext cx="6583680" cy="16916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15361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→ MITIGATION</a:t>
            </a:r>
          </a:p>
        </p:txBody>
      </p:sp>
      <p:sp>
        <p:nvSpPr>
          <p:cNvPr id="11" name="Text 7"/>
          <p:cNvSpPr txBox="1"/>
          <p:nvPr/>
        </p:nvSpPr>
        <p:spPr>
          <a:xfrm>
            <a:off x="640080" y="1828800"/>
            <a:ext cx="594360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Unstructured road geometry → </a:t>
            </a:r>
            <a:r>
              <a:rPr lang="en-US" sz="1050" dirty="0" b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Drivable-corridor estimation and path-aware planning.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Unpredictable road-user behaviour → </a:t>
            </a:r>
            <a:r>
              <a:rPr lang="en-US" sz="1050" dirty="0" b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tracking and short-term motion reasoning.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 uncertainty → </a:t>
            </a:r>
            <a:r>
              <a:rPr lang="en-US" sz="1050" dirty="0" b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Confidence-aware decisions and future sensor fusion.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validation complexity → </a:t>
            </a:r>
            <a:r>
              <a:rPr lang="en-US" sz="1050" dirty="0" b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library + simulation + controlled field testing.</a:t>
            </a:r>
          </a:p>
        </p:txBody>
      </p:sp>
      <p:pic>
        <p:nvPicPr>
          <p:cNvPr id="12" name="Image 2" descr="Notebook-style content block: FEASIBILIT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2880360"/>
            <a:ext cx="6583680" cy="15544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40080" y="331927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</a:p>
        </p:txBody>
      </p:sp>
      <p:sp>
        <p:nvSpPr>
          <p:cNvPr id="14" name="Text 9"/>
          <p:cNvSpPr txBox="1"/>
          <p:nvPr/>
        </p:nvSpPr>
        <p:spPr>
          <a:xfrm>
            <a:off x="640080" y="3611880"/>
            <a:ext cx="5943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Technology: </a:t>
            </a:r>
            <a:r>
              <a:rPr lang="en-US" sz="1050" dirty="0" b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Established computer-vision and motion-planning building blocks; camera-based perception to start.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Architecture: </a:t>
            </a:r>
            <a:r>
              <a:rPr lang="en-US" sz="1050" dirty="0" b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 perception → prediction → planning; radar / LiDAR and vehicle-state inputs added progressively; scenario-based simulation supports development.</a:t>
            </a:r>
          </a:p>
        </p:txBody>
      </p:sp>
      <p:pic>
        <p:nvPicPr>
          <p:cNvPr id="15" name="Image 3" descr="Notebook-style content block: DATA-DRIVEN VIABILIT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4526280"/>
            <a:ext cx="6583680" cy="16916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40080" y="49651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VIABILITY</a:t>
            </a:r>
          </a:p>
        </p:txBody>
      </p:sp>
      <p:sp>
        <p:nvSpPr>
          <p:cNvPr id="17" name="Text 11"/>
          <p:cNvSpPr txBox="1"/>
          <p:nvPr/>
        </p:nvSpPr>
        <p:spPr>
          <a:xfrm>
            <a:off x="640080" y="5257800"/>
            <a:ext cx="594360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Relevance: </a:t>
            </a:r>
            <a:r>
              <a:rPr lang="en-US" sz="1050" dirty="0" b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Mixed, irregular traffic on urban roads, village roads, highways and dense traffic.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Deployment: </a:t>
            </a:r>
            <a:r>
              <a:rPr lang="en-US" sz="1050" dirty="0" b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 architecture supports incremental deployment through controlled pilots.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fit: </a:t>
            </a:r>
            <a:r>
              <a:rPr lang="en-US" sz="1050" dirty="0" b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integrate with future intelligent-vehicle platforms.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1152144"/>
            <a:ext cx="3017520" cy="914400"/>
          </a:xfrm>
          <a:prstGeom prst="rect">
            <a:avLst/>
          </a:prstGeom>
          <a:solidFill>
            <a:srgbClr val="F6E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87768" y="1197864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 u="none">
                <a:solidFill>
                  <a:srgbClr val="1A1A1A"/>
                </a:solidFill>
                <a:latin typeface="Calibri"/>
              </a:rPr>
              <a:t>PROTOTYPE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6055" y="1591056"/>
            <a:ext cx="2816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Calibri"/>
              </a:rPr>
              <a:t>●  </a:t>
            </a:r>
            <a:r>
              <a:rPr sz="1050" b="1" i="0" u="none">
                <a:solidFill>
                  <a:srgbClr val="1A1A1A"/>
                </a:solidFill>
                <a:latin typeface="Calibri"/>
              </a:rPr>
              <a:t>Camera-based proof of concept</a:t>
            </a:r>
            <a:r>
              <a:rPr sz="1050" b="0" i="0" u="none">
                <a:solidFill>
                  <a:srgbClr val="1A1A1A"/>
                </a:solidFill>
                <a:latin typeface="Calibri"/>
              </a:rPr>
              <a:t> for perception, tracking and adaptive path planning.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96528" y="2212848"/>
            <a:ext cx="3017520" cy="914400"/>
          </a:xfrm>
          <a:prstGeom prst="rect">
            <a:avLst/>
          </a:prstGeom>
          <a:solidFill>
            <a:srgbClr val="F6E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06255" y="225856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 u="none">
                <a:solidFill>
                  <a:srgbClr val="1A1A1A"/>
                </a:solidFill>
                <a:latin typeface="Calibri"/>
              </a:rPr>
              <a:t>PILOT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4544" y="2651760"/>
            <a:ext cx="2816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Calibri"/>
              </a:rPr>
              <a:t>●  </a:t>
            </a:r>
            <a:r>
              <a:rPr sz="1050" b="1" i="0" u="none">
                <a:solidFill>
                  <a:srgbClr val="1A1A1A"/>
                </a:solidFill>
                <a:latin typeface="Calibri"/>
              </a:rPr>
              <a:t>Multi-scenario validation</a:t>
            </a:r>
            <a:r>
              <a:rPr sz="1050" b="0" i="0" u="none">
                <a:solidFill>
                  <a:srgbClr val="1A1A1A"/>
                </a:solidFill>
                <a:latin typeface="Calibri"/>
              </a:rPr>
              <a:t> with richer sensing, simulation and controlled road testing.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59168" y="3273552"/>
            <a:ext cx="3017520" cy="914400"/>
          </a:xfrm>
          <a:prstGeom prst="rect">
            <a:avLst/>
          </a:prstGeom>
          <a:solidFill>
            <a:srgbClr val="F6E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68896" y="3319272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 u="none">
                <a:solidFill>
                  <a:srgbClr val="1A1A1A"/>
                </a:solidFill>
                <a:latin typeface="Calibri"/>
              </a:rPr>
              <a:t>PRODUCTION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87183" y="3712464"/>
            <a:ext cx="2816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Calibri"/>
              </a:rPr>
              <a:t>●  </a:t>
            </a:r>
            <a:r>
              <a:rPr sz="1050" b="1" i="0" u="none">
                <a:solidFill>
                  <a:srgbClr val="1A1A1A"/>
                </a:solidFill>
                <a:latin typeface="Calibri"/>
              </a:rPr>
              <a:t>Vehicle-grade multi-sensor integration</a:t>
            </a:r>
            <a:r>
              <a:rPr sz="1050" b="0" i="0" u="none">
                <a:solidFill>
                  <a:srgbClr val="1A1A1A"/>
                </a:solidFill>
                <a:latin typeface="Calibri"/>
              </a:rPr>
              <a:t>, closed-loop validation and automotive safety engineering.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287000" y="1417320"/>
            <a:ext cx="640080" cy="758952"/>
          </a:xfrm>
          <a:prstGeom prst="curvedConnector3">
            <a:avLst/>
          </a:prstGeom>
          <a:ln w="3810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229600" y="2560320"/>
            <a:ext cx="502920" cy="676656"/>
          </a:xfrm>
          <a:prstGeom prst="curvedConnector3">
            <a:avLst/>
          </a:prstGeom>
          <a:ln w="3810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086600" y="4370832"/>
            <a:ext cx="47823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 u="sng">
                <a:solidFill>
                  <a:srgbClr val="1A1A1A"/>
                </a:solidFill>
                <a:latin typeface="Cambria"/>
              </a:rPr>
              <a:t>Potential Collaborators / Partners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0" y="4754880"/>
            <a:ext cx="1517904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205472" y="4910328"/>
            <a:ext cx="347472" cy="34747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car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74966" y="4979822"/>
            <a:ext cx="208483" cy="208483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607808" y="486460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u="none">
                <a:solidFill>
                  <a:srgbClr val="1B2A41"/>
                </a:solidFill>
                <a:latin typeface="Arial"/>
              </a:rPr>
              <a:t>Automotive OEMs &amp; Tier-1s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07808" y="515721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0" i="0" u="none">
                <a:solidFill>
                  <a:srgbClr val="333F55"/>
                </a:solidFill>
                <a:latin typeface="Arial"/>
              </a:rPr>
              <a:t>ADAS / AV integration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714232" y="4754880"/>
            <a:ext cx="1517904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87384" y="4910328"/>
            <a:ext cx="347472" cy="347472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cienc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6878" y="4979822"/>
            <a:ext cx="208483" cy="208483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189719" y="486460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u="none">
                <a:solidFill>
                  <a:srgbClr val="1B2A41"/>
                </a:solidFill>
                <a:latin typeface="Arial"/>
              </a:rPr>
              <a:t>Research institutes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19" y="515721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0" i="0" u="none">
                <a:solidFill>
                  <a:srgbClr val="333F55"/>
                </a:solidFill>
                <a:latin typeface="Arial"/>
              </a:rPr>
              <a:t>IITs, IISc, AV labs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96144" y="4754880"/>
            <a:ext cx="1517904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369296" y="4910328"/>
            <a:ext cx="347472" cy="347472"/>
          </a:xfrm>
          <a:prstGeom prst="ellipse">
            <a:avLst/>
          </a:prstGeom>
          <a:solidFill>
            <a:srgbClr val="6A4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layers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8790" y="4979822"/>
            <a:ext cx="208483" cy="208483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771632" y="486460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u="none">
                <a:solidFill>
                  <a:srgbClr val="1B2A41"/>
                </a:solidFill>
                <a:latin typeface="Arial"/>
              </a:rPr>
              <a:t>Simulation partners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71632" y="515721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0" i="0" u="none">
                <a:solidFill>
                  <a:srgbClr val="333F55"/>
                </a:solidFill>
                <a:latin typeface="Arial"/>
              </a:rPr>
              <a:t>e.g. MathWorks toolchain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132320" y="5486400"/>
            <a:ext cx="1517904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205472" y="5641848"/>
            <a:ext cx="347472" cy="347472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hield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74966" y="5711342"/>
            <a:ext cx="208483" cy="20848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607808" y="559612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u="none">
                <a:solidFill>
                  <a:srgbClr val="1B2A41"/>
                </a:solidFill>
                <a:latin typeface="Arial"/>
              </a:rPr>
              <a:t>Road-safety bodies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07808" y="588873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0" i="0" u="none">
                <a:solidFill>
                  <a:srgbClr val="333F55"/>
                </a:solidFill>
                <a:latin typeface="Arial"/>
              </a:rPr>
              <a:t>MoRTH, state transport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14232" y="5486400"/>
            <a:ext cx="1517904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787384" y="5641848"/>
            <a:ext cx="347472" cy="347472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bus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56878" y="5711342"/>
            <a:ext cx="208483" cy="20848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189719" y="559612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u="none">
                <a:solidFill>
                  <a:srgbClr val="1B2A41"/>
                </a:solidFill>
                <a:latin typeface="Arial"/>
              </a:rPr>
              <a:t>Fleet operators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89719" y="588873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0" i="0" u="none">
                <a:solidFill>
                  <a:srgbClr val="333F55"/>
                </a:solidFill>
                <a:latin typeface="Arial"/>
              </a:rPr>
              <a:t>Buses, taxis, logistics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296144" y="5486400"/>
            <a:ext cx="1517904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369296" y="5641848"/>
            <a:ext cx="347472" cy="347472"/>
          </a:xfrm>
          <a:prstGeom prst="ellipse">
            <a:avLst/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map_w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38790" y="5711342"/>
            <a:ext cx="208483" cy="208483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771632" y="559612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 u="none">
                <a:solidFill>
                  <a:srgbClr val="1B2A41"/>
                </a:solidFill>
                <a:latin typeface="Arial"/>
              </a:rPr>
              <a:t>Mapping &amp; data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71632" y="588873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0" i="0" u="none">
                <a:solidFill>
                  <a:srgbClr val="333F55"/>
                </a:solidFill>
                <a:latin typeface="Arial"/>
              </a:rPr>
              <a:t>OpenStreetMap, IDD</a:t>
            </a:r>
          </a:p>
        </p:txBody>
      </p:sp>
    </p:spTree>
    <p:extLst>
      <p:ext uri="{BB962C8B-B14F-4D97-AF65-F5344CB8AC3E}">
        <p14:creationId xmlns:p14="http://schemas.microsoft.com/office/powerpoint/2010/main" val="35358687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82880"/>
            <a:ext cx="12801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F5FA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201168" y="18288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 Alt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</a:t>
            </a:r>
            <a:endParaRPr lang="en-US" sz="15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45720"/>
            <a:ext cx="2276856" cy="978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327648"/>
            <a:ext cx="12191695" cy="45720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3200400" y="632764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327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</a:p>
        </p:txBody>
      </p:sp>
      <p:sp>
        <p:nvSpPr>
          <p:cNvPr id="8" name="Text 5"/>
          <p:cNvSpPr txBox="1"/>
          <p:nvPr/>
        </p:nvSpPr>
        <p:spPr>
          <a:xfrm>
            <a:off x="1645920" y="1097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OF CONCEPT, IMPACT &amp; BENEFITS</a:t>
            </a:r>
            <a:endParaRPr lang="en-US" sz="2600" dirty="0"/>
          </a:p>
        </p:txBody>
      </p:sp>
      <p:pic>
        <p:nvPicPr>
          <p:cNvPr id="101" name="Panel 101" descr="Notebook-style panel"/>
          <p:cNvPicPr>
            <a:picLocks noChangeAspect="1"/>
          </p:cNvPicPr>
          <p:nvPr/>
        </p:nvPicPr>
        <p:blipFill>
          <a:blip r:embed="rId4"/>
          <a:srcRect b="92000"/>
          <a:stretch>
            <a:fillRect/>
          </a:stretch>
        </p:blipFill>
        <p:spPr>
          <a:xfrm>
            <a:off x="320040" y="1024128"/>
            <a:ext cx="6200000" cy="391099"/>
          </a:xfrm>
          <a:prstGeom prst="rect">
            <a:avLst/>
          </a:prstGeom>
        </p:spPr>
      </p:pic>
      <p:pic>
        <p:nvPicPr>
          <p:cNvPr id="102" name="Panel 102" descr="Notebook-style panel"/>
          <p:cNvPicPr>
            <a:picLocks noChangeAspect="1"/>
          </p:cNvPicPr>
          <p:nvPr/>
        </p:nvPicPr>
        <p:blipFill>
          <a:blip r:embed="rId4"/>
          <a:srcRect t="40000" b="40000"/>
          <a:stretch>
            <a:fillRect/>
          </a:stretch>
        </p:blipFill>
        <p:spPr>
          <a:xfrm>
            <a:off x="320040" y="1414227"/>
            <a:ext cx="6200000" cy="1740908"/>
          </a:xfrm>
          <a:prstGeom prst="rect">
            <a:avLst/>
          </a:prstGeom>
        </p:spPr>
      </p:pic>
      <p:pic>
        <p:nvPicPr>
          <p:cNvPr id="103" name="Panel 103" descr="Notebook-style panel"/>
          <p:cNvPicPr>
            <a:picLocks noChangeAspect="1"/>
          </p:cNvPicPr>
          <p:nvPr/>
        </p:nvPicPr>
        <p:blipFill>
          <a:blip r:embed="rId4"/>
          <a:srcRect t="95500"/>
          <a:stretch>
            <a:fillRect/>
          </a:stretch>
        </p:blipFill>
        <p:spPr>
          <a:xfrm>
            <a:off x="320040" y="3154135"/>
            <a:ext cx="6200000" cy="219993"/>
          </a:xfrm>
          <a:prstGeom prst="rect">
            <a:avLst/>
          </a:prstGeom>
        </p:spPr>
      </p:pic>
      <p:sp>
        <p:nvSpPr>
          <p:cNvPr id="104" name="Shape 104"/>
          <p:cNvSpPr/>
          <p:nvPr/>
        </p:nvSpPr>
        <p:spPr>
          <a:xfrm>
            <a:off x="685800" y="1334128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05" name="Shape 105"/>
          <p:cNvSpPr/>
          <p:nvPr/>
        </p:nvSpPr>
        <p:spPr>
          <a:xfrm>
            <a:off x="768096" y="1416424"/>
            <a:ext cx="219456" cy="21945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06" name="Shape 106"/>
          <p:cNvSpPr/>
          <p:nvPr/>
        </p:nvSpPr>
        <p:spPr>
          <a:xfrm>
            <a:off x="832104" y="1480432"/>
            <a:ext cx="91440" cy="91440"/>
          </a:xfrm>
          <a:prstGeom prst="ellipse">
            <a:avLst/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07" name="Text 107"/>
          <p:cNvSpPr txBox="1"/>
          <p:nvPr/>
        </p:nvSpPr>
        <p:spPr>
          <a:xfrm>
            <a:off x="1234440" y="1315840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IMPACTS</a:t>
            </a:r>
            <a:endParaRPr lang="en-US" sz="1700" dirty="0"/>
          </a:p>
        </p:txBody>
      </p:sp>
      <p:sp>
        <p:nvSpPr>
          <p:cNvPr id="108" name="Text 108"/>
          <p:cNvSpPr txBox="1"/>
          <p:nvPr/>
        </p:nvSpPr>
        <p:spPr>
          <a:xfrm>
            <a:off x="685800" y="1764128"/>
            <a:ext cx="546848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u="sng" dirty="0">
                <a:solidFill>
                  <a:srgbClr val="0B5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09" name="Text 109"/>
          <p:cNvSpPr txBox="1"/>
          <p:nvPr/>
        </p:nvSpPr>
        <p:spPr>
          <a:xfrm>
            <a:off x="685800" y="2034128"/>
            <a:ext cx="5468480" cy="1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5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Drivers / Passengers: </a:t>
            </a:r>
            <a:r>
              <a:rPr lang="en-US" sz="11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Improved handling of unpredictable road interactions</a:t>
            </a:r>
          </a:p>
          <a:p>
            <a:pPr marL="0" indent="0">
              <a:spcAft>
                <a:spcPts val="45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Mobility: </a:t>
            </a:r>
            <a:r>
              <a:rPr lang="en-US" sz="11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adaptive navigation in dense mixed traffic</a:t>
            </a:r>
          </a:p>
          <a:p>
            <a:pPr marL="0" indent="0">
              <a:spcAft>
                <a:spcPts val="45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Rural Mobility: </a:t>
            </a:r>
            <a:r>
              <a:rPr lang="en-US" sz="11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operation on roads with limited lane structure</a:t>
            </a:r>
          </a:p>
          <a:p>
            <a:pPr marL="0" indent="0">
              <a:spcAft>
                <a:spcPts val="45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Safety: </a:t>
            </a:r>
            <a:r>
              <a:rPr lang="en-US" sz="11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recognition of path conflicts and adaptive response</a:t>
            </a:r>
          </a:p>
          <a:p>
            <a:pPr marL="0" indent="0">
              <a:spcAft>
                <a:spcPts val="45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Autonomous Vehicles: </a:t>
            </a:r>
            <a:r>
              <a:rPr lang="en-US" sz="11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foundation for Indian-road-aware navigation</a:t>
            </a:r>
          </a:p>
        </p:txBody>
      </p:sp>
      <p:pic>
        <p:nvPicPr>
          <p:cNvPr id="110" name="Panel 110" descr="Notebook-style panel"/>
          <p:cNvPicPr>
            <a:picLocks noChangeAspect="1"/>
          </p:cNvPicPr>
          <p:nvPr/>
        </p:nvPicPr>
        <p:blipFill>
          <a:blip r:embed="rId4"/>
          <a:srcRect b="92000"/>
          <a:stretch>
            <a:fillRect/>
          </a:stretch>
        </p:blipFill>
        <p:spPr>
          <a:xfrm>
            <a:off x="320040" y="3474712"/>
            <a:ext cx="6200000" cy="391099"/>
          </a:xfrm>
          <a:prstGeom prst="rect">
            <a:avLst/>
          </a:prstGeom>
        </p:spPr>
      </p:pic>
      <p:pic>
        <p:nvPicPr>
          <p:cNvPr id="111" name="Panel 111" descr="Notebook-style panel"/>
          <p:cNvPicPr>
            <a:picLocks noChangeAspect="1"/>
          </p:cNvPicPr>
          <p:nvPr/>
        </p:nvPicPr>
        <p:blipFill>
          <a:blip r:embed="rId4"/>
          <a:srcRect t="40000" b="40000"/>
          <a:stretch>
            <a:fillRect/>
          </a:stretch>
        </p:blipFill>
        <p:spPr>
          <a:xfrm>
            <a:off x="320040" y="3864811"/>
            <a:ext cx="6200000" cy="2140324"/>
          </a:xfrm>
          <a:prstGeom prst="rect">
            <a:avLst/>
          </a:prstGeom>
        </p:spPr>
      </p:pic>
      <p:pic>
        <p:nvPicPr>
          <p:cNvPr id="112" name="Panel 112" descr="Notebook-style panel"/>
          <p:cNvPicPr>
            <a:picLocks noChangeAspect="1"/>
          </p:cNvPicPr>
          <p:nvPr/>
        </p:nvPicPr>
        <p:blipFill>
          <a:blip r:embed="rId4"/>
          <a:srcRect t="95500"/>
          <a:stretch>
            <a:fillRect/>
          </a:stretch>
        </p:blipFill>
        <p:spPr>
          <a:xfrm>
            <a:off x="320040" y="6004135"/>
            <a:ext cx="6200000" cy="219993"/>
          </a:xfrm>
          <a:prstGeom prst="rect">
            <a:avLst/>
          </a:prstGeom>
        </p:spPr>
      </p:pic>
      <p:sp>
        <p:nvSpPr>
          <p:cNvPr id="113" name="Shape 113"/>
          <p:cNvSpPr/>
          <p:nvPr/>
        </p:nvSpPr>
        <p:spPr>
          <a:xfrm>
            <a:off x="685800" y="3784712"/>
            <a:ext cx="384048" cy="384048"/>
          </a:xfrm>
          <a:prstGeom prst="ellipse">
            <a:avLst/>
          </a:prstGeom>
          <a:solidFill>
            <a:srgbClr val="F9E2A1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14" name="Text 114"/>
          <p:cNvSpPr txBox="1"/>
          <p:nvPr/>
        </p:nvSpPr>
        <p:spPr>
          <a:xfrm>
            <a:off x="685800" y="3784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</a:t>
            </a:r>
            <a:endParaRPr lang="en-US" sz="1400" dirty="0"/>
          </a:p>
        </p:txBody>
      </p:sp>
      <p:sp>
        <p:nvSpPr>
          <p:cNvPr id="115" name="Text 115"/>
          <p:cNvSpPr txBox="1"/>
          <p:nvPr/>
        </p:nvSpPr>
        <p:spPr>
          <a:xfrm>
            <a:off x="1234440" y="3766424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</a:t>
            </a:r>
            <a:endParaRPr lang="en-US" sz="1700" dirty="0"/>
          </a:p>
        </p:txBody>
      </p:sp>
      <p:sp>
        <p:nvSpPr>
          <p:cNvPr id="116" name="Shape 116"/>
          <p:cNvSpPr/>
          <p:nvPr/>
        </p:nvSpPr>
        <p:spPr>
          <a:xfrm>
            <a:off x="685800" y="4224712"/>
            <a:ext cx="1350000" cy="420000"/>
          </a:xfrm>
          <a:prstGeom prst="rect">
            <a:avLst/>
          </a:prstGeom>
          <a:solidFill>
            <a:srgbClr val="9CC7EC"/>
          </a:solidFill>
          <a:ln w="12700">
            <a:solidFill>
              <a:srgbClr val="9CC7EC"/>
            </a:solidFill>
            <a:prstDash val="solid"/>
          </a:ln>
        </p:spPr>
      </p:sp>
      <p:sp>
        <p:nvSpPr>
          <p:cNvPr id="117" name="Text 117"/>
          <p:cNvSpPr txBox="1"/>
          <p:nvPr/>
        </p:nvSpPr>
        <p:spPr>
          <a:xfrm>
            <a:off x="685800" y="4224712"/>
            <a:ext cx="13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</a:t>
            </a:r>
          </a:p>
        </p:txBody>
      </p:sp>
      <p:sp>
        <p:nvSpPr>
          <p:cNvPr id="118" name="Text 118"/>
          <p:cNvSpPr txBox="1"/>
          <p:nvPr/>
        </p:nvSpPr>
        <p:spPr>
          <a:xfrm>
            <a:off x="2172960" y="4224712"/>
            <a:ext cx="39813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spcAft>
                <a:spcPts val="100"/>
              </a:spcAft>
              <a:buSzPct val="100000"/>
              <a:buChar char="•"/>
            </a:pP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Path-aware collision avoidance</a:t>
            </a:r>
          </a:p>
          <a:p>
            <a:pPr marL="171450" indent="-171450">
              <a:spcAft>
                <a:spcPts val="100"/>
              </a:spcAft>
              <a:buSzPct val="100000"/>
              <a:buChar char="•"/>
            </a:pP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recognition of path conflicts</a:t>
            </a:r>
          </a:p>
        </p:txBody>
      </p:sp>
      <p:sp>
        <p:nvSpPr>
          <p:cNvPr id="119" name="Shape 119"/>
          <p:cNvSpPr/>
          <p:nvPr/>
        </p:nvSpPr>
        <p:spPr>
          <a:xfrm>
            <a:off x="685800" y="4694712"/>
            <a:ext cx="1350000" cy="420000"/>
          </a:xfrm>
          <a:prstGeom prst="rect">
            <a:avLst/>
          </a:prstGeom>
          <a:solidFill>
            <a:srgbClr val="F5D98F"/>
          </a:solidFill>
          <a:ln w="12700">
            <a:solidFill>
              <a:srgbClr val="F5D98F"/>
            </a:solidFill>
            <a:prstDash val="solid"/>
          </a:ln>
        </p:spPr>
      </p:sp>
      <p:sp>
        <p:nvSpPr>
          <p:cNvPr id="120" name="Text 120"/>
          <p:cNvSpPr txBox="1"/>
          <p:nvPr/>
        </p:nvSpPr>
        <p:spPr>
          <a:xfrm>
            <a:off x="685800" y="4694712"/>
            <a:ext cx="13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ADAPTABILITY</a:t>
            </a:r>
          </a:p>
        </p:txBody>
      </p:sp>
      <p:sp>
        <p:nvSpPr>
          <p:cNvPr id="121" name="Text 121"/>
          <p:cNvSpPr txBox="1"/>
          <p:nvPr/>
        </p:nvSpPr>
        <p:spPr>
          <a:xfrm>
            <a:off x="2172960" y="4694712"/>
            <a:ext cx="39813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spcAft>
                <a:spcPts val="100"/>
              </a:spcAft>
              <a:buSzPct val="100000"/>
              <a:buChar char="•"/>
            </a:pP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Handles changing road and traffic conditions</a:t>
            </a:r>
          </a:p>
          <a:p>
            <a:pPr marL="171450" indent="-171450">
              <a:spcAft>
                <a:spcPts val="100"/>
              </a:spcAft>
              <a:buSzPct val="100000"/>
              <a:buChar char="•"/>
            </a:pP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where lane markings are unreliable</a:t>
            </a:r>
          </a:p>
        </p:txBody>
      </p:sp>
      <p:sp>
        <p:nvSpPr>
          <p:cNvPr id="122" name="Shape 122"/>
          <p:cNvSpPr/>
          <p:nvPr/>
        </p:nvSpPr>
        <p:spPr>
          <a:xfrm>
            <a:off x="685800" y="5164712"/>
            <a:ext cx="1350000" cy="420000"/>
          </a:xfrm>
          <a:prstGeom prst="rect">
            <a:avLst/>
          </a:prstGeom>
          <a:solidFill>
            <a:srgbClr val="B8DFA8"/>
          </a:solidFill>
          <a:ln w="12700">
            <a:solidFill>
              <a:srgbClr val="B8DFA8"/>
            </a:solidFill>
            <a:prstDash val="solid"/>
          </a:ln>
        </p:spPr>
      </p:sp>
      <p:sp>
        <p:nvSpPr>
          <p:cNvPr id="123" name="Text 123"/>
          <p:cNvSpPr txBox="1"/>
          <p:nvPr/>
        </p:nvSpPr>
        <p:spPr>
          <a:xfrm>
            <a:off x="685800" y="5164712"/>
            <a:ext cx="13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</a:t>
            </a:r>
          </a:p>
        </p:txBody>
      </p:sp>
      <p:sp>
        <p:nvSpPr>
          <p:cNvPr id="124" name="Text 124"/>
          <p:cNvSpPr txBox="1"/>
          <p:nvPr/>
        </p:nvSpPr>
        <p:spPr>
          <a:xfrm>
            <a:off x="2172960" y="5164712"/>
            <a:ext cx="39813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spcAft>
                <a:spcPts val="100"/>
              </a:spcAft>
              <a:buSzPct val="100000"/>
              <a:buChar char="•"/>
            </a:pP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evolve from prototype → pilot → production</a:t>
            </a:r>
          </a:p>
          <a:p>
            <a:pPr marL="171450" indent="-171450">
              <a:spcAft>
                <a:spcPts val="100"/>
              </a:spcAft>
              <a:buSzPct val="100000"/>
              <a:buChar char="•"/>
            </a:pP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Modular: new sensors and platforms plug in</a:t>
            </a:r>
          </a:p>
        </p:txBody>
      </p:sp>
      <p:sp>
        <p:nvSpPr>
          <p:cNvPr id="125" name="Shape 125"/>
          <p:cNvSpPr/>
          <p:nvPr/>
        </p:nvSpPr>
        <p:spPr>
          <a:xfrm>
            <a:off x="685800" y="5634712"/>
            <a:ext cx="1350000" cy="420000"/>
          </a:xfrm>
          <a:prstGeom prst="rect">
            <a:avLst/>
          </a:prstGeom>
          <a:solidFill>
            <a:srgbClr val="CFC6E8"/>
          </a:solidFill>
          <a:ln w="12700">
            <a:solidFill>
              <a:srgbClr val="CFC6E8"/>
            </a:solidFill>
            <a:prstDash val="solid"/>
          </a:ln>
        </p:spPr>
      </p:sp>
      <p:sp>
        <p:nvSpPr>
          <p:cNvPr id="126" name="Text 126"/>
          <p:cNvSpPr txBox="1"/>
          <p:nvPr/>
        </p:nvSpPr>
        <p:spPr>
          <a:xfrm>
            <a:off x="685800" y="5634712"/>
            <a:ext cx="135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INDIAN-ROAD RELEVANCE</a:t>
            </a:r>
          </a:p>
        </p:txBody>
      </p:sp>
      <p:sp>
        <p:nvSpPr>
          <p:cNvPr id="127" name="Text 127"/>
          <p:cNvSpPr txBox="1"/>
          <p:nvPr/>
        </p:nvSpPr>
        <p:spPr>
          <a:xfrm>
            <a:off x="2172960" y="5634712"/>
            <a:ext cx="39813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spcAft>
                <a:spcPts val="100"/>
              </a:spcAft>
              <a:buSzPct val="100000"/>
              <a:buChar char="•"/>
            </a:pP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around mixed and irregular road behaviour</a:t>
            </a:r>
          </a:p>
          <a:p>
            <a:pPr marL="171450" indent="-171450">
              <a:spcAft>
                <a:spcPts val="100"/>
              </a:spcAft>
              <a:buSzPct val="100000"/>
              <a:buChar char="•"/>
            </a:pP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Safer shared roads for pedestrians and two-wheelers</a:t>
            </a:r>
          </a:p>
        </p:txBody>
      </p:sp>
      <p:sp>
        <p:nvSpPr>
          <p:cNvPr id="128" name="Shape 128"/>
          <p:cNvSpPr/>
          <p:nvPr/>
        </p:nvSpPr>
        <p:spPr>
          <a:xfrm>
            <a:off x="6761480" y="1334128"/>
            <a:ext cx="384048" cy="384048"/>
          </a:xfrm>
          <a:prstGeom prst="ellipse">
            <a:avLst/>
          </a:prstGeom>
          <a:solidFill>
            <a:srgbClr val="F9E2A1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29" name="Text 129"/>
          <p:cNvSpPr txBox="1"/>
          <p:nvPr/>
        </p:nvSpPr>
        <p:spPr>
          <a:xfrm>
            <a:off x="6761480" y="133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</a:t>
            </a:r>
          </a:p>
        </p:txBody>
      </p:sp>
      <p:sp>
        <p:nvSpPr>
          <p:cNvPr id="130" name="Text 130"/>
          <p:cNvSpPr txBox="1"/>
          <p:nvPr/>
        </p:nvSpPr>
        <p:spPr>
          <a:xfrm>
            <a:off x="7310120" y="1315840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OF CONCEPT</a:t>
            </a:r>
            <a:endParaRPr lang="en-US" sz="1700" dirty="0"/>
          </a:p>
        </p:txBody>
      </p:sp>
      <p:sp>
        <p:nvSpPr>
          <p:cNvPr id="131" name="Shape 131"/>
          <p:cNvSpPr/>
          <p:nvPr/>
        </p:nvSpPr>
        <p:spPr>
          <a:xfrm>
            <a:off x="6670040" y="1884128"/>
            <a:ext cx="5107432" cy="5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6"/>
            </a:solidFill>
            <a:prstDash val="solid"/>
          </a:ln>
        </p:spPr>
      </p:sp>
      <p:sp>
        <p:nvSpPr>
          <p:cNvPr id="132" name="Shape 132"/>
          <p:cNvSpPr/>
          <p:nvPr/>
        </p:nvSpPr>
        <p:spPr>
          <a:xfrm>
            <a:off x="6780040" y="1964128"/>
            <a:ext cx="340000" cy="340000"/>
          </a:xfrm>
          <a:prstGeom prst="ellipse">
            <a:avLst/>
          </a:prstGeom>
          <a:solidFill>
            <a:srgbClr val="9CC7EC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3" name="Text 133"/>
          <p:cNvSpPr txBox="1"/>
          <p:nvPr/>
        </p:nvSpPr>
        <p:spPr>
          <a:xfrm>
            <a:off x="6780040" y="1964128"/>
            <a:ext cx="3400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34" name="Text 134"/>
          <p:cNvSpPr txBox="1"/>
          <p:nvPr/>
        </p:nvSpPr>
        <p:spPr>
          <a:xfrm>
            <a:off x="7230040" y="1884128"/>
            <a:ext cx="44674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</a:p>
          <a:p>
            <a:pPr marL="0" indent="0">
              <a:buNone/>
            </a:pP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Unstructured Indian roads create difficult path-planning conditions</a:t>
            </a:r>
          </a:p>
        </p:txBody>
      </p:sp>
      <p:sp>
        <p:nvSpPr>
          <p:cNvPr id="135" name="Shape 135"/>
          <p:cNvSpPr/>
          <p:nvPr/>
        </p:nvSpPr>
        <p:spPr>
          <a:xfrm>
            <a:off x="9133756" y="2399128"/>
            <a:ext cx="180000" cy="110000"/>
          </a:xfrm>
          <a:prstGeom prst="downArrow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36" name="Shape 136"/>
          <p:cNvSpPr/>
          <p:nvPr/>
        </p:nvSpPr>
        <p:spPr>
          <a:xfrm>
            <a:off x="6670040" y="2524128"/>
            <a:ext cx="5107432" cy="5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6"/>
            </a:solidFill>
            <a:prstDash val="solid"/>
          </a:ln>
        </p:spPr>
      </p:sp>
      <p:sp>
        <p:nvSpPr>
          <p:cNvPr id="137" name="Shape 137"/>
          <p:cNvSpPr/>
          <p:nvPr/>
        </p:nvSpPr>
        <p:spPr>
          <a:xfrm>
            <a:off x="6780040" y="2604128"/>
            <a:ext cx="340000" cy="340000"/>
          </a:xfrm>
          <a:prstGeom prst="ellipse">
            <a:avLst/>
          </a:prstGeom>
          <a:solidFill>
            <a:srgbClr val="F5D98F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8" name="Text 138"/>
          <p:cNvSpPr txBox="1"/>
          <p:nvPr/>
        </p:nvSpPr>
        <p:spPr>
          <a:xfrm>
            <a:off x="6780040" y="2604128"/>
            <a:ext cx="3400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9" name="Text 139"/>
          <p:cNvSpPr txBox="1"/>
          <p:nvPr/>
        </p:nvSpPr>
        <p:spPr>
          <a:xfrm>
            <a:off x="7230040" y="2524128"/>
            <a:ext cx="44674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</a:t>
            </a:r>
          </a:p>
          <a:p>
            <a:pPr marL="0" indent="0">
              <a:buNone/>
            </a:pP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adaptive trajectories without relying solely on lane markings</a:t>
            </a:r>
          </a:p>
        </p:txBody>
      </p:sp>
      <p:sp>
        <p:nvSpPr>
          <p:cNvPr id="140" name="Shape 140"/>
          <p:cNvSpPr/>
          <p:nvPr/>
        </p:nvSpPr>
        <p:spPr>
          <a:xfrm>
            <a:off x="9133756" y="3039128"/>
            <a:ext cx="180000" cy="110000"/>
          </a:xfrm>
          <a:prstGeom prst="downArrow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41" name="Shape 141"/>
          <p:cNvSpPr/>
          <p:nvPr/>
        </p:nvSpPr>
        <p:spPr>
          <a:xfrm>
            <a:off x="6670040" y="3164128"/>
            <a:ext cx="5107432" cy="5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6"/>
            </a:solidFill>
            <a:prstDash val="solid"/>
          </a:ln>
        </p:spPr>
      </p:sp>
      <p:sp>
        <p:nvSpPr>
          <p:cNvPr id="142" name="Shape 142"/>
          <p:cNvSpPr/>
          <p:nvPr/>
        </p:nvSpPr>
        <p:spPr>
          <a:xfrm>
            <a:off x="6780040" y="3244128"/>
            <a:ext cx="340000" cy="340000"/>
          </a:xfrm>
          <a:prstGeom prst="ellipse">
            <a:avLst/>
          </a:prstGeom>
          <a:solidFill>
            <a:srgbClr val="B8DFA8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43" name="Text 143"/>
          <p:cNvSpPr txBox="1"/>
          <p:nvPr/>
        </p:nvSpPr>
        <p:spPr>
          <a:xfrm>
            <a:off x="6780040" y="3244128"/>
            <a:ext cx="3400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4" name="Text 144"/>
          <p:cNvSpPr txBox="1"/>
          <p:nvPr/>
        </p:nvSpPr>
        <p:spPr>
          <a:xfrm>
            <a:off x="7230040" y="3164128"/>
            <a:ext cx="44674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</a:t>
            </a:r>
          </a:p>
          <a:p>
            <a:pPr marL="0" indent="0">
              <a:buNone/>
            </a:pP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Camera-based perception, tracking, motion understanding and adaptive planning</a:t>
            </a:r>
          </a:p>
        </p:txBody>
      </p:sp>
      <p:sp>
        <p:nvSpPr>
          <p:cNvPr id="145" name="Shape 145"/>
          <p:cNvSpPr/>
          <p:nvPr/>
        </p:nvSpPr>
        <p:spPr>
          <a:xfrm>
            <a:off x="9133756" y="3679128"/>
            <a:ext cx="180000" cy="110000"/>
          </a:xfrm>
          <a:prstGeom prst="downArrow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46" name="Shape 146"/>
          <p:cNvSpPr/>
          <p:nvPr/>
        </p:nvSpPr>
        <p:spPr>
          <a:xfrm>
            <a:off x="6670040" y="3804128"/>
            <a:ext cx="5107432" cy="5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6"/>
            </a:solidFill>
            <a:prstDash val="solid"/>
          </a:ln>
        </p:spPr>
      </p:sp>
      <p:sp>
        <p:nvSpPr>
          <p:cNvPr id="147" name="Shape 147"/>
          <p:cNvSpPr/>
          <p:nvPr/>
        </p:nvSpPr>
        <p:spPr>
          <a:xfrm>
            <a:off x="6780040" y="3884128"/>
            <a:ext cx="340000" cy="340000"/>
          </a:xfrm>
          <a:prstGeom prst="ellipse">
            <a:avLst/>
          </a:prstGeom>
          <a:solidFill>
            <a:srgbClr val="CFC6E8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48" name="Text 148"/>
          <p:cNvSpPr txBox="1"/>
          <p:nvPr/>
        </p:nvSpPr>
        <p:spPr>
          <a:xfrm>
            <a:off x="6780040" y="3884128"/>
            <a:ext cx="3400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49" name="Text 149"/>
          <p:cNvSpPr txBox="1"/>
          <p:nvPr/>
        </p:nvSpPr>
        <p:spPr>
          <a:xfrm>
            <a:off x="7230040" y="3804128"/>
            <a:ext cx="44674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</a:p>
          <a:p>
            <a:pPr marL="0" indent="0">
              <a:buNone/>
            </a:pP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Scenario-based evaluation across mixed-traffic road situations</a:t>
            </a:r>
          </a:p>
        </p:txBody>
      </p:sp>
      <p:sp>
        <p:nvSpPr>
          <p:cNvPr id="150" name="Shape 150"/>
          <p:cNvSpPr/>
          <p:nvPr/>
        </p:nvSpPr>
        <p:spPr>
          <a:xfrm>
            <a:off x="9133756" y="4319128"/>
            <a:ext cx="180000" cy="110000"/>
          </a:xfrm>
          <a:prstGeom prst="downArrow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51" name="Shape 151"/>
          <p:cNvSpPr/>
          <p:nvPr/>
        </p:nvSpPr>
        <p:spPr>
          <a:xfrm>
            <a:off x="6670040" y="4444128"/>
            <a:ext cx="5107432" cy="5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6"/>
            </a:solidFill>
            <a:prstDash val="solid"/>
          </a:ln>
        </p:spPr>
      </p:sp>
      <p:sp>
        <p:nvSpPr>
          <p:cNvPr id="152" name="Shape 152"/>
          <p:cNvSpPr/>
          <p:nvPr/>
        </p:nvSpPr>
        <p:spPr>
          <a:xfrm>
            <a:off x="6780040" y="4524128"/>
            <a:ext cx="340000" cy="340000"/>
          </a:xfrm>
          <a:prstGeom prst="ellipse">
            <a:avLst/>
          </a:prstGeom>
          <a:solidFill>
            <a:srgbClr val="F8D5BD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53" name="Text 153"/>
          <p:cNvSpPr txBox="1"/>
          <p:nvPr/>
        </p:nvSpPr>
        <p:spPr>
          <a:xfrm>
            <a:off x="6780040" y="4524128"/>
            <a:ext cx="3400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54" name="Text 154"/>
          <p:cNvSpPr txBox="1"/>
          <p:nvPr/>
        </p:nvSpPr>
        <p:spPr>
          <a:xfrm>
            <a:off x="7230040" y="4444128"/>
            <a:ext cx="44674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CRITERIA</a:t>
            </a:r>
          </a:p>
          <a:p>
            <a:pPr marL="0" indent="0">
              <a:buNone/>
            </a:pP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path selection, appropriate risk response, robust behaviour across roads</a:t>
            </a:r>
          </a:p>
        </p:txBody>
      </p:sp>
      <p:sp>
        <p:nvSpPr>
          <p:cNvPr id="155" name="Shape 155"/>
          <p:cNvSpPr/>
          <p:nvPr/>
        </p:nvSpPr>
        <p:spPr>
          <a:xfrm>
            <a:off x="9133756" y="4959128"/>
            <a:ext cx="180000" cy="110000"/>
          </a:xfrm>
          <a:prstGeom prst="downArrow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56" name="Shape 156"/>
          <p:cNvSpPr/>
          <p:nvPr/>
        </p:nvSpPr>
        <p:spPr>
          <a:xfrm>
            <a:off x="6670040" y="5084128"/>
            <a:ext cx="5107432" cy="5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6"/>
            </a:solidFill>
            <a:prstDash val="solid"/>
          </a:ln>
        </p:spPr>
      </p:sp>
      <p:sp>
        <p:nvSpPr>
          <p:cNvPr id="157" name="Shape 157"/>
          <p:cNvSpPr/>
          <p:nvPr/>
        </p:nvSpPr>
        <p:spPr>
          <a:xfrm>
            <a:off x="6780040" y="5164128"/>
            <a:ext cx="340000" cy="340000"/>
          </a:xfrm>
          <a:prstGeom prst="ellipse">
            <a:avLst/>
          </a:prstGeom>
          <a:solidFill>
            <a:srgbClr val="C9E8DE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58" name="Text 158"/>
          <p:cNvSpPr txBox="1"/>
          <p:nvPr/>
        </p:nvSpPr>
        <p:spPr>
          <a:xfrm>
            <a:off x="6780040" y="5164128"/>
            <a:ext cx="3400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159" name="Text 159"/>
          <p:cNvSpPr txBox="1"/>
          <p:nvPr/>
        </p:nvSpPr>
        <p:spPr>
          <a:xfrm>
            <a:off x="7230040" y="5084128"/>
            <a:ext cx="44674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</a:p>
          <a:p>
            <a:pPr marL="0" indent="0">
              <a:buNone/>
            </a:pP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fusion, closed-loop simulation, broader field trials, vehicle integration</a:t>
            </a:r>
          </a:p>
        </p:txBody>
      </p:sp>
      <p:sp>
        <p:nvSpPr>
          <p:cNvPr id="160" name="Shape 160"/>
          <p:cNvSpPr/>
          <p:nvPr/>
        </p:nvSpPr>
        <p:spPr>
          <a:xfrm>
            <a:off x="6670040" y="5684128"/>
            <a:ext cx="5107432" cy="400000"/>
          </a:xfrm>
          <a:prstGeom prst="rect">
            <a:avLst/>
          </a:prstGeom>
          <a:solidFill>
            <a:srgbClr val="E8F1FB"/>
          </a:solidFill>
          <a:ln w="12700">
            <a:solidFill>
              <a:srgbClr val="8FA8C8"/>
            </a:solidFill>
            <a:prstDash val="solid"/>
          </a:ln>
        </p:spPr>
      </p:sp>
      <p:sp>
        <p:nvSpPr>
          <p:cNvPr id="161" name="Text 161"/>
          <p:cNvSpPr txBox="1"/>
          <p:nvPr/>
        </p:nvSpPr>
        <p:spPr>
          <a:xfrm>
            <a:off x="6780040" y="5684128"/>
            <a:ext cx="4887432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Resources: 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vision &amp; motion planning, road-scene video, simulation tools, compute hardware</a:t>
            </a:r>
          </a:p>
        </p:txBody>
      </p:sp>
    </p:spTree>
    <p:extLst>
      <p:ext uri="{BB962C8B-B14F-4D97-AF65-F5344CB8AC3E}">
        <p14:creationId xmlns:p14="http://schemas.microsoft.com/office/powerpoint/2010/main" val="2204423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82880"/>
            <a:ext cx="12801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F5FA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201168" y="18288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 Alt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</a:t>
            </a:r>
            <a:endParaRPr lang="en-US" sz="15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45720"/>
            <a:ext cx="2276856" cy="978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327648"/>
            <a:ext cx="12191695" cy="45720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3200400" y="632764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327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</a:p>
        </p:txBody>
      </p:sp>
      <p:sp>
        <p:nvSpPr>
          <p:cNvPr id="8" name="Text 5"/>
          <p:cNvSpPr txBox="1"/>
          <p:nvPr/>
        </p:nvSpPr>
        <p:spPr>
          <a:xfrm>
            <a:off x="1828800" y="10972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 CANVAS</a:t>
            </a:r>
            <a:endParaRPr lang="en-US" sz="3600" dirty="0"/>
          </a:p>
        </p:txBody>
      </p:sp>
      <p:sp>
        <p:nvSpPr>
          <p:cNvPr id="9" name="Shape 6"/>
          <p:cNvSpPr/>
          <p:nvPr/>
        </p:nvSpPr>
        <p:spPr>
          <a:xfrm>
            <a:off x="320040" y="1097280"/>
            <a:ext cx="2309774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9768" y="1152144"/>
            <a:ext cx="185257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Partnerships</a:t>
            </a:r>
            <a:endParaRPr lang="en-US" sz="1150" dirty="0"/>
          </a:p>
        </p:txBody>
      </p:sp>
      <p:pic>
        <p:nvPicPr>
          <p:cNvPr id="11" name="Image 1" descr="bmc_k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3981" y="1152144"/>
            <a:ext cx="286106" cy="2926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29768" y="1517904"/>
            <a:ext cx="210860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OEMs:</a:t>
            </a:r>
            <a:r>
              <a:rPr lang="en-US" sz="105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Automotive OEMs &amp; Tier-1 ADAS suppliers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ACADEMIA:</a:t>
            </a:r>
            <a:r>
              <a:rPr lang="en-US" sz="105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IITs, IISc &amp; autonomy research labs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SIMULATION:</a:t>
            </a:r>
            <a:r>
              <a:rPr lang="en-US" sz="105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MathWorks toolchain (RoadRunner, Automated Driving Toolbox)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DATA:</a:t>
            </a:r>
            <a:r>
              <a:rPr lang="en-US" sz="105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Indian driving datasets (IDD), OpenStreetMap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GOVT:</a:t>
            </a:r>
            <a:r>
              <a:rPr lang="en-US" sz="105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MoRTH, state transport &amp; road-safety bodies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FLEETS:</a:t>
            </a:r>
            <a:r>
              <a:rPr lang="en-US" sz="105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Logistics, taxi &amp; public-transport operators</a:t>
            </a:r>
          </a:p>
        </p:txBody>
      </p:sp>
      <p:sp>
        <p:nvSpPr>
          <p:cNvPr id="13" name="Shape 9"/>
          <p:cNvSpPr/>
          <p:nvPr/>
        </p:nvSpPr>
        <p:spPr>
          <a:xfrm>
            <a:off x="2629814" y="1097280"/>
            <a:ext cx="2309774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739542" y="1152144"/>
            <a:ext cx="185257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Activities</a:t>
            </a:r>
            <a:endParaRPr lang="en-US" sz="1150" dirty="0"/>
          </a:p>
        </p:txBody>
      </p:sp>
      <p:pic>
        <p:nvPicPr>
          <p:cNvPr id="15" name="Image 2" descr="bmc_k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606" y="1152144"/>
            <a:ext cx="166255" cy="29260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739542" y="1517904"/>
            <a:ext cx="210860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 R&amp;D: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Detection, tracking &amp; depth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PLANNING: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Adaptive trajectory &amp; risk logic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VALIDATION: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Scenario library &amp; simulation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INTEGRATION: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Vehicle / ADAS interfaces</a:t>
            </a:r>
          </a:p>
        </p:txBody>
      </p:sp>
      <p:sp>
        <p:nvSpPr>
          <p:cNvPr id="17" name="Shape 12"/>
          <p:cNvSpPr/>
          <p:nvPr/>
        </p:nvSpPr>
        <p:spPr>
          <a:xfrm>
            <a:off x="2629814" y="3063240"/>
            <a:ext cx="2309774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739542" y="3118104"/>
            <a:ext cx="185257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Resources</a:t>
            </a:r>
            <a:endParaRPr lang="en-US" sz="1150" dirty="0"/>
          </a:p>
        </p:txBody>
      </p:sp>
      <p:pic>
        <p:nvPicPr>
          <p:cNvPr id="19" name="Image 3" descr="bmc_k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7253" y="3118104"/>
            <a:ext cx="292608" cy="29260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2739542" y="3483864"/>
            <a:ext cx="210860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STACK: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Perception-to-planning pipeline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DATA: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Indian-road scenario library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TEAM: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CV, robotics &amp; software engineers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TOOLS: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Simulation &amp; compute infrastructure</a:t>
            </a:r>
          </a:p>
        </p:txBody>
      </p:sp>
      <p:sp>
        <p:nvSpPr>
          <p:cNvPr id="21" name="Shape 15"/>
          <p:cNvSpPr/>
          <p:nvPr/>
        </p:nvSpPr>
        <p:spPr>
          <a:xfrm>
            <a:off x="4939589" y="1097280"/>
            <a:ext cx="2309774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049317" y="1152144"/>
            <a:ext cx="185257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Propositions</a:t>
            </a:r>
            <a:endParaRPr lang="en-US" sz="1150" dirty="0"/>
          </a:p>
        </p:txBody>
      </p:sp>
      <p:pic>
        <p:nvPicPr>
          <p:cNvPr id="23" name="Image 4" descr="bmc_v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66110" y="1152144"/>
            <a:ext cx="273525" cy="29260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049317" y="1517904"/>
            <a:ext cx="210860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OEMs:</a:t>
            </a:r>
            <a:r>
              <a:rPr lang="en-US" sz="105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 Indian-road-aware planning layer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FLEETS:</a:t>
            </a:r>
            <a:r>
              <a:rPr lang="en-US" sz="105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Fewer conflicts in mixed traffic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 USERS:</a:t>
            </a:r>
            <a:r>
              <a:rPr lang="en-US" sz="105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Earlier recognition of path conflicts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RESEARCHERS:</a:t>
            </a:r>
            <a:r>
              <a:rPr lang="en-US" sz="105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Scenario-based validation workflow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EXPLAINABLE:</a:t>
            </a:r>
            <a:r>
              <a:rPr lang="en-US" sz="105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decision comes with its reason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MODULAR:</a:t>
            </a:r>
            <a:r>
              <a:rPr lang="en-US" sz="105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Camera-first, sensor-ready architecture</a:t>
            </a:r>
          </a:p>
        </p:txBody>
      </p:sp>
      <p:sp>
        <p:nvSpPr>
          <p:cNvPr id="25" name="Shape 18"/>
          <p:cNvSpPr/>
          <p:nvPr/>
        </p:nvSpPr>
        <p:spPr>
          <a:xfrm>
            <a:off x="7249363" y="1097280"/>
            <a:ext cx="2309774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7359091" y="1152144"/>
            <a:ext cx="185257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Relationships</a:t>
            </a:r>
            <a:endParaRPr lang="en-US" sz="1150" dirty="0"/>
          </a:p>
        </p:txBody>
      </p:sp>
      <p:pic>
        <p:nvPicPr>
          <p:cNvPr id="27" name="Image 5" descr="bmc_c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0226" y="1152144"/>
            <a:ext cx="329184" cy="292608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359091" y="1517904"/>
            <a:ext cx="210860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CO-DEVELOPMENT: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Pilot programmes with OEMs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SUPPORT: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Integration &amp; tuning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UPDATES: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Continuous model &amp; scenario updates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TRANSPARENCY: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Decision logs for audit</a:t>
            </a:r>
          </a:p>
        </p:txBody>
      </p:sp>
      <p:sp>
        <p:nvSpPr>
          <p:cNvPr id="29" name="Shape 21"/>
          <p:cNvSpPr/>
          <p:nvPr/>
        </p:nvSpPr>
        <p:spPr>
          <a:xfrm>
            <a:off x="7249363" y="3017520"/>
            <a:ext cx="230977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7359091" y="3072384"/>
            <a:ext cx="185257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Channels</a:t>
            </a:r>
            <a:endParaRPr lang="en-US" sz="1150" dirty="0"/>
          </a:p>
        </p:txBody>
      </p:sp>
      <p:pic>
        <p:nvPicPr>
          <p:cNvPr id="31" name="Image 6" descr="bmc_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71160" y="3072384"/>
            <a:ext cx="378249" cy="292608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7359091" y="3438144"/>
            <a:ext cx="210860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B2B: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OEM &amp; Tier-1 partnerships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PILOTS: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Fleet &amp; campus deployments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RESEARCH: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Academic collaborations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/ API: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Licensable software modules</a:t>
            </a:r>
          </a:p>
        </p:txBody>
      </p:sp>
      <p:sp>
        <p:nvSpPr>
          <p:cNvPr id="33" name="Shape 24"/>
          <p:cNvSpPr/>
          <p:nvPr/>
        </p:nvSpPr>
        <p:spPr>
          <a:xfrm>
            <a:off x="9559138" y="1097280"/>
            <a:ext cx="2309774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9668866" y="1152144"/>
            <a:ext cx="185257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Segments</a:t>
            </a:r>
            <a:endParaRPr lang="en-US" sz="1150" dirty="0"/>
          </a:p>
        </p:txBody>
      </p:sp>
      <p:pic>
        <p:nvPicPr>
          <p:cNvPr id="35" name="Image 7" descr="bmc_c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9357" y="1152144"/>
            <a:ext cx="319827" cy="29260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668866" y="1517904"/>
            <a:ext cx="210860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PRIMARY:</a:t>
            </a:r>
            <a:r>
              <a:rPr lang="en-US" sz="105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Automotive OEMs &amp; ADAS suppliers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SECONDARY:</a:t>
            </a:r>
            <a:r>
              <a:rPr lang="en-US" sz="105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Fleet &amp; logistics operators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PUBLIC:</a:t>
            </a:r>
            <a:r>
              <a:rPr lang="en-US" sz="105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Transport &amp; road-safety agencies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RESEARCH:</a:t>
            </a:r>
            <a:r>
              <a:rPr lang="en-US" sz="105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AV labs &amp; testing bodies</a:t>
            </a:r>
          </a:p>
          <a:p>
            <a:pPr marL="139700" indent="-1397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SCALE-UP:</a:t>
            </a:r>
            <a:r>
              <a:rPr lang="en-US" sz="105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City → state → national deployments</a:t>
            </a:r>
          </a:p>
        </p:txBody>
      </p:sp>
      <p:sp>
        <p:nvSpPr>
          <p:cNvPr id="37" name="Shape 27"/>
          <p:cNvSpPr/>
          <p:nvPr/>
        </p:nvSpPr>
        <p:spPr>
          <a:xfrm>
            <a:off x="320040" y="4892040"/>
            <a:ext cx="5774436" cy="134416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429768" y="4946904"/>
            <a:ext cx="51343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Structure</a:t>
            </a:r>
            <a:endParaRPr lang="en-US" sz="1300" dirty="0"/>
          </a:p>
        </p:txBody>
      </p:sp>
      <p:sp>
        <p:nvSpPr>
          <p:cNvPr id="39" name="Shape 29"/>
          <p:cNvSpPr/>
          <p:nvPr/>
        </p:nvSpPr>
        <p:spPr>
          <a:xfrm>
            <a:off x="5655564" y="4946904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5655564" y="4946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100" dirty="0"/>
          </a:p>
        </p:txBody>
      </p:sp>
      <p:sp>
        <p:nvSpPr>
          <p:cNvPr id="41" name="Text 31"/>
          <p:cNvSpPr txBox="1"/>
          <p:nvPr/>
        </p:nvSpPr>
        <p:spPr>
          <a:xfrm>
            <a:off x="429768" y="5312664"/>
            <a:ext cx="55549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R&amp;D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perception &amp; planning engineering</a:t>
            </a:r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collection, annotation &amp; scenario building</a:t>
            </a:r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training &amp; simulation infrastructure</a:t>
            </a:r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field testing &amp; safety engineering</a:t>
            </a:r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integration, support &amp; updates</a:t>
            </a:r>
          </a:p>
        </p:txBody>
      </p:sp>
      <p:sp>
        <p:nvSpPr>
          <p:cNvPr id="42" name="Shape 32"/>
          <p:cNvSpPr/>
          <p:nvPr/>
        </p:nvSpPr>
        <p:spPr>
          <a:xfrm>
            <a:off x="6094476" y="4892040"/>
            <a:ext cx="5774436" cy="134416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6204204" y="4946904"/>
            <a:ext cx="51343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Streams</a:t>
            </a:r>
            <a:endParaRPr lang="en-US" sz="1300" dirty="0"/>
          </a:p>
        </p:txBody>
      </p:sp>
      <p:sp>
        <p:nvSpPr>
          <p:cNvPr id="44" name="Shape 34"/>
          <p:cNvSpPr/>
          <p:nvPr/>
        </p:nvSpPr>
        <p:spPr>
          <a:xfrm>
            <a:off x="11430000" y="4946904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11430000" y="4946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</a:t>
            </a:r>
            <a:endParaRPr lang="en-US" sz="1100" dirty="0"/>
          </a:p>
        </p:txBody>
      </p:sp>
      <p:sp>
        <p:nvSpPr>
          <p:cNvPr id="46" name="Text 36"/>
          <p:cNvSpPr txBox="1"/>
          <p:nvPr/>
        </p:nvSpPr>
        <p:spPr>
          <a:xfrm>
            <a:off x="6204204" y="5312664"/>
            <a:ext cx="55549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licensing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per-vehicle / per-platform licences for OEMs</a:t>
            </a:r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contracts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fleet &amp; campus deployments</a:t>
            </a:r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Scenario-library access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validation datasets &amp; tools</a:t>
            </a:r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services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customisation &amp; calibration</a:t>
            </a:r>
          </a:p>
          <a:p>
            <a:pPr marL="139700" indent="-1397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&amp; updates</a:t>
            </a:r>
            <a:r>
              <a:rPr lang="en-US" sz="1000" dirty="0" b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annual maintenance subscriptions</a:t>
            </a:r>
          </a:p>
        </p:txBody>
      </p:sp>
    </p:spTree>
    <p:extLst>
      <p:ext uri="{BB962C8B-B14F-4D97-AF65-F5344CB8AC3E}">
        <p14:creationId xmlns:p14="http://schemas.microsoft.com/office/powerpoint/2010/main" val="36591291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45" y="45233"/>
            <a:ext cx="11971410" cy="6694509"/>
          </a:xfrm>
          <a:prstGeom prst="rect">
            <a:avLst/>
          </a:prstGeom>
          <a:ln w="19050">
            <a:solidFill>
              <a:srgbClr val="BFD7E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27750" y="108559"/>
            <a:ext cx="1221296" cy="705637"/>
          </a:xfrm>
          <a:prstGeom prst="ellipse">
            <a:avLst/>
          </a:prstGeom>
          <a:solidFill>
            <a:srgbClr val="FFFFFF"/>
          </a:solidFill>
          <a:ln w="22225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227750" y="108559"/>
            <a:ext cx="1221296" cy="705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86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 Alt</a:t>
            </a:r>
            <a:endParaRPr lang="en-US" sz="1286" dirty="0"/>
          </a:p>
          <a:p>
            <a:pPr algn="ctr"/>
            <a:r>
              <a:rPr lang="en-US" sz="1286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</a:t>
            </a:r>
            <a:endParaRPr lang="en-US" sz="1286" dirty="0"/>
          </a:p>
        </p:txBody>
      </p:sp>
      <p:sp>
        <p:nvSpPr>
          <p:cNvPr id="5" name="Text 3"/>
          <p:cNvSpPr/>
          <p:nvPr/>
        </p:nvSpPr>
        <p:spPr>
          <a:xfrm>
            <a:off x="1602839" y="126652"/>
            <a:ext cx="8865701" cy="651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968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AND REFERENCES</a:t>
            </a:r>
            <a:endParaRPr lang="en-US" sz="2968" dirty="0"/>
          </a:p>
        </p:txBody>
      </p:sp>
      <p:pic>
        <p:nvPicPr>
          <p:cNvPr id="6" name="Image 0" descr="assets/si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3306" y="162839"/>
            <a:ext cx="1402228" cy="4903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543" y="814197"/>
            <a:ext cx="5608913" cy="303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87" b="1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MATERIAL</a:t>
            </a:r>
            <a:endParaRPr lang="en-US" sz="1187" dirty="0"/>
          </a:p>
        </p:txBody>
      </p:sp>
      <p:sp>
        <p:nvSpPr>
          <p:cNvPr id="8" name="Text 5"/>
          <p:cNvSpPr/>
          <p:nvPr/>
        </p:nvSpPr>
        <p:spPr>
          <a:xfrm>
            <a:off x="6261855" y="886570"/>
            <a:ext cx="5518446" cy="289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84" b="1" dirty="0">
                <a:solidFill>
                  <a:srgbClr val="0F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ALIGNMENT</a:t>
            </a:r>
          </a:p>
        </p:txBody>
      </p:sp>
      <p:sp>
        <p:nvSpPr>
          <p:cNvPr id="9" name="Shape 6"/>
          <p:cNvSpPr/>
          <p:nvPr/>
        </p:nvSpPr>
        <p:spPr>
          <a:xfrm>
            <a:off x="288814" y="1013223"/>
            <a:ext cx="5563680" cy="2302721"/>
          </a:xfrm>
          <a:prstGeom prst="rect">
            <a:avLst/>
          </a:prstGeom>
          <a:solidFill>
            <a:srgbClr val="CFE4F7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81" dirty="0"/>
          </a:p>
        </p:txBody>
      </p:sp>
      <p:sp>
        <p:nvSpPr>
          <p:cNvPr id="10" name="Text 7"/>
          <p:cNvSpPr/>
          <p:nvPr/>
        </p:nvSpPr>
        <p:spPr>
          <a:xfrm>
            <a:off x="1871976" y="1112737"/>
            <a:ext cx="5310374" cy="352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8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RESEARCH PAPERS</a:t>
            </a:r>
            <a:endParaRPr lang="en-US" sz="1138" dirty="0"/>
          </a:p>
        </p:txBody>
      </p:sp>
      <p:sp>
        <p:nvSpPr>
          <p:cNvPr id="11" name="Text 8"/>
          <p:cNvSpPr/>
          <p:nvPr/>
        </p:nvSpPr>
        <p:spPr>
          <a:xfrm>
            <a:off x="508196" y="1381827"/>
            <a:ext cx="2582814" cy="916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989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DRIVING &amp; PATH PLANNING</a:t>
            </a:r>
          </a:p>
          <a:p>
            <a:pPr>
              <a:lnSpc>
                <a:spcPct val="105000"/>
              </a:lnSpc>
            </a:pPr>
            <a:r>
              <a:rPr lang="en-US" sz="890" i="1" dirty="0" b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Survey of Motion Planning and Control Techniques for Self-Driving Urban Vehicles”</a:t>
            </a:r>
            <a:r>
              <a:rPr lang="en-US" sz="989" dirty="0" b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Paden et al. — IEEE T-IV, 2016</a:t>
            </a:r>
          </a:p>
          <a:p>
            <a:pPr>
              <a:lnSpc>
                <a:spcPct val="105000"/>
              </a:lnSpc>
            </a:pPr>
            <a:r>
              <a:rPr lang="en-US" sz="989" u="sng" dirty="0" b="0">
                <a:solidFill>
                  <a:srgbClr val="1155C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4"/>
              </a:rPr>
              <a:t>arxiv.org/abs/1604.07446</a:t>
            </a:r>
          </a:p>
        </p:txBody>
      </p:sp>
      <p:sp>
        <p:nvSpPr>
          <p:cNvPr id="12" name="Text 9"/>
          <p:cNvSpPr/>
          <p:nvPr/>
        </p:nvSpPr>
        <p:spPr>
          <a:xfrm>
            <a:off x="3235756" y="1465554"/>
            <a:ext cx="2582814" cy="832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989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DETECTION &amp; TRACKING</a:t>
            </a:r>
          </a:p>
          <a:p>
            <a:pPr>
              <a:lnSpc>
                <a:spcPct val="105000"/>
              </a:lnSpc>
            </a:pPr>
            <a:r>
              <a:rPr lang="en-US" sz="989" i="1" dirty="0" b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“ByteTrack: Multi-Object Tracking by Associating Every Detection Box”</a:t>
            </a:r>
            <a:r>
              <a:rPr lang="en-US" sz="989" dirty="0" b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Zhang et al. — ECCV, 2022</a:t>
            </a:r>
          </a:p>
          <a:p>
            <a:pPr>
              <a:lnSpc>
                <a:spcPct val="105000"/>
              </a:lnSpc>
            </a:pPr>
            <a:r>
              <a:rPr lang="en-US" sz="989" u="sng" dirty="0" b="0">
                <a:solidFill>
                  <a:srgbClr val="1155C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/>
              </a:rPr>
              <a:t>arxiv.org/abs/2110.06864</a:t>
            </a:r>
          </a:p>
        </p:txBody>
      </p:sp>
      <p:sp>
        <p:nvSpPr>
          <p:cNvPr id="13" name="Text 10"/>
          <p:cNvSpPr/>
          <p:nvPr/>
        </p:nvSpPr>
        <p:spPr>
          <a:xfrm>
            <a:off x="508196" y="2452080"/>
            <a:ext cx="2582814" cy="605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989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ESTIMATION</a:t>
            </a:r>
          </a:p>
          <a:p>
            <a:pPr>
              <a:lnSpc>
                <a:spcPct val="105000"/>
              </a:lnSpc>
            </a:pPr>
            <a:r>
              <a:rPr lang="en-US" sz="890" i="1" dirty="0" b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“Depth Anything V2”</a:t>
            </a:r>
            <a:r>
              <a:rPr lang="en-US" sz="890" dirty="0" b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Yang et al. — NeurIPS, 2024</a:t>
            </a:r>
          </a:p>
          <a:p>
            <a:pPr>
              <a:lnSpc>
                <a:spcPct val="105000"/>
              </a:lnSpc>
            </a:pPr>
            <a:r>
              <a:rPr lang="en-US" sz="890" u="sng" dirty="0" b="0">
                <a:solidFill>
                  <a:srgbClr val="1155C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6"/>
              </a:rPr>
              <a:t>arxiv.org/abs/2406.09414</a:t>
            </a:r>
          </a:p>
        </p:txBody>
      </p:sp>
      <p:sp>
        <p:nvSpPr>
          <p:cNvPr id="14" name="Text 11"/>
          <p:cNvSpPr/>
          <p:nvPr/>
        </p:nvSpPr>
        <p:spPr>
          <a:xfrm>
            <a:off x="3235756" y="2420770"/>
            <a:ext cx="2582814" cy="832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989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PREDICTION</a:t>
            </a:r>
          </a:p>
          <a:p>
            <a:pPr>
              <a:lnSpc>
                <a:spcPct val="105000"/>
              </a:lnSpc>
            </a:pPr>
            <a:r>
              <a:rPr lang="en-US" sz="890" i="1" dirty="0" b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“Social LSTM: Human Trajectory Prediction in Crowded Spaces”</a:t>
            </a:r>
            <a:r>
              <a:rPr lang="en-US" sz="890" dirty="0" b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Alahi et al. — CVPR, 2016</a:t>
            </a:r>
          </a:p>
          <a:p>
            <a:pPr>
              <a:lnSpc>
                <a:spcPct val="105000"/>
              </a:lnSpc>
            </a:pPr>
            <a:r>
              <a:rPr lang="en-US" sz="890" u="sng" dirty="0" b="0">
                <a:solidFill>
                  <a:srgbClr val="1155C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/>
              </a:rPr>
              <a:t>openaccess.thecvf.com</a:t>
            </a:r>
          </a:p>
        </p:txBody>
      </p:sp>
      <p:sp>
        <p:nvSpPr>
          <p:cNvPr id="15" name="Shape 12"/>
          <p:cNvSpPr/>
          <p:nvPr/>
        </p:nvSpPr>
        <p:spPr>
          <a:xfrm>
            <a:off x="299681" y="3565260"/>
            <a:ext cx="1758062" cy="2288798"/>
          </a:xfrm>
          <a:prstGeom prst="rect">
            <a:avLst/>
          </a:prstGeom>
          <a:solidFill>
            <a:srgbClr val="D3EFDA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80126" y="3392487"/>
            <a:ext cx="1450920" cy="226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88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ROAD DATA</a:t>
            </a:r>
          </a:p>
        </p:txBody>
      </p:sp>
      <p:sp>
        <p:nvSpPr>
          <p:cNvPr id="17" name="Text 14"/>
          <p:cNvSpPr/>
          <p:nvPr/>
        </p:nvSpPr>
        <p:spPr>
          <a:xfrm>
            <a:off x="472010" y="3627699"/>
            <a:ext cx="1650567" cy="188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000"/>
              </a:lnSpc>
              <a:spcAft>
                <a:spcPts val="297"/>
              </a:spcAft>
            </a:pPr>
            <a:r>
              <a:rPr lang="en-US" sz="89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IDD – Indian Driving Dataset</a:t>
            </a:r>
          </a:p>
          <a:p>
            <a:pPr>
              <a:lnSpc>
                <a:spcPct val="108000"/>
              </a:lnSpc>
              <a:spcAft>
                <a:spcPts val="297"/>
              </a:spcAft>
            </a:pPr>
            <a:r>
              <a:rPr lang="en-US" sz="890" u="sng" dirty="0" b="0">
                <a:solidFill>
                  <a:srgbClr val="1155C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/>
              </a:rPr>
              <a:t>idd.insaan.iiit.ac.in</a:t>
            </a:r>
          </a:p>
          <a:p>
            <a:pPr>
              <a:lnSpc>
                <a:spcPct val="108000"/>
              </a:lnSpc>
              <a:spcAft>
                <a:spcPts val="297"/>
              </a:spcAft>
            </a:pPr>
            <a:r>
              <a:rPr lang="en-US" sz="89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MoRTH – Road Accidents in India</a:t>
            </a:r>
          </a:p>
          <a:p>
            <a:pPr>
              <a:lnSpc>
                <a:spcPct val="108000"/>
              </a:lnSpc>
              <a:spcAft>
                <a:spcPts val="297"/>
              </a:spcAft>
            </a:pPr>
            <a:r>
              <a:rPr lang="en-US" sz="890" u="sng" dirty="0" b="0">
                <a:solidFill>
                  <a:srgbClr val="1155C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/>
              </a:rPr>
              <a:t>morth.nic.in</a:t>
            </a:r>
          </a:p>
          <a:p>
            <a:pPr>
              <a:lnSpc>
                <a:spcPct val="108000"/>
              </a:lnSpc>
              <a:spcAft>
                <a:spcPts val="297"/>
              </a:spcAft>
            </a:pPr>
            <a:r>
              <a:rPr lang="en-US" sz="89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</a:t>
            </a:r>
          </a:p>
          <a:p>
            <a:pPr>
              <a:lnSpc>
                <a:spcPct val="108000"/>
              </a:lnSpc>
              <a:spcAft>
                <a:spcPts val="297"/>
              </a:spcAft>
            </a:pPr>
            <a:r>
              <a:rPr lang="en-US" sz="890" u="sng" dirty="0" b="0">
                <a:solidFill>
                  <a:srgbClr val="1155C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0"/>
              </a:rPr>
              <a:t>openstreetmap.org</a:t>
            </a:r>
          </a:p>
          <a:p>
            <a:pPr>
              <a:lnSpc>
                <a:spcPct val="108000"/>
              </a:lnSpc>
              <a:spcAft>
                <a:spcPts val="297"/>
              </a:spcAft>
            </a:pPr>
            <a:r>
              <a:rPr lang="en-US" sz="89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Wikimedia Commons</a:t>
            </a:r>
          </a:p>
          <a:p>
            <a:pPr>
              <a:lnSpc>
                <a:spcPct val="108000"/>
              </a:lnSpc>
              <a:spcAft>
                <a:spcPts val="297"/>
              </a:spcAft>
            </a:pPr>
            <a:r>
              <a:rPr lang="en-US" sz="890" u="sng" dirty="0" b="0">
                <a:solidFill>
                  <a:srgbClr val="1155C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1"/>
              </a:rPr>
              <a:t>commons.wikimedia.org</a:t>
            </a:r>
          </a:p>
        </p:txBody>
      </p:sp>
      <p:sp>
        <p:nvSpPr>
          <p:cNvPr id="18" name="Shape 15"/>
          <p:cNvSpPr/>
          <p:nvPr/>
        </p:nvSpPr>
        <p:spPr>
          <a:xfrm>
            <a:off x="2266259" y="3576169"/>
            <a:ext cx="1758062" cy="2277889"/>
          </a:xfrm>
          <a:prstGeom prst="rect">
            <a:avLst/>
          </a:prstGeom>
          <a:solidFill>
            <a:srgbClr val="FBEFC2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2501028" y="3407298"/>
            <a:ext cx="1450920" cy="220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88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 &amp; CONTEXT</a:t>
            </a:r>
          </a:p>
        </p:txBody>
      </p:sp>
      <p:sp>
        <p:nvSpPr>
          <p:cNvPr id="20" name="Text 17"/>
          <p:cNvSpPr/>
          <p:nvPr/>
        </p:nvSpPr>
        <p:spPr>
          <a:xfrm>
            <a:off x="2374818" y="3609606"/>
            <a:ext cx="1577130" cy="1935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000"/>
              </a:lnSpc>
              <a:spcAft>
                <a:spcPts val="297"/>
              </a:spcAft>
            </a:pPr>
            <a:r>
              <a:rPr lang="en-US" sz="890" dirty="0" b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 2026 – PS SIH26037</a:t>
            </a:r>
          </a:p>
          <a:p>
            <a:pPr>
              <a:lnSpc>
                <a:spcPct val="108000"/>
              </a:lnSpc>
              <a:spcAft>
                <a:spcPts val="297"/>
              </a:spcAft>
            </a:pPr>
            <a:r>
              <a:rPr lang="en-US" sz="890" u="sng" dirty="0" b="0">
                <a:solidFill>
                  <a:srgbClr val="1155C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2"/>
              </a:rPr>
              <a:t>sih.gov.in</a:t>
            </a:r>
          </a:p>
          <a:p>
            <a:pPr>
              <a:lnSpc>
                <a:spcPct val="108000"/>
              </a:lnSpc>
              <a:spcAft>
                <a:spcPts val="297"/>
              </a:spcAft>
            </a:pPr>
            <a:r>
              <a:rPr lang="en-US" sz="890" dirty="0" b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MathWorks – RoadRunner &amp; ADT</a:t>
            </a:r>
          </a:p>
          <a:p>
            <a:pPr>
              <a:lnSpc>
                <a:spcPct val="108000"/>
              </a:lnSpc>
              <a:spcAft>
                <a:spcPts val="297"/>
              </a:spcAft>
            </a:pPr>
            <a:r>
              <a:rPr lang="en-US" sz="890" u="sng" dirty="0" b="0">
                <a:solidFill>
                  <a:srgbClr val="1155C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3"/>
              </a:rPr>
              <a:t>mathworks.com</a:t>
            </a:r>
          </a:p>
          <a:p>
            <a:pPr>
              <a:lnSpc>
                <a:spcPct val="108000"/>
              </a:lnSpc>
              <a:spcAft>
                <a:spcPts val="297"/>
              </a:spcAft>
            </a:pPr>
            <a:r>
              <a:rPr lang="en-US" sz="89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focus: unmarked roads, mixed traffic, informal merges, obstacles.</a:t>
            </a:r>
          </a:p>
        </p:txBody>
      </p:sp>
      <p:sp>
        <p:nvSpPr>
          <p:cNvPr id="21" name="Shape 18"/>
          <p:cNvSpPr/>
          <p:nvPr/>
        </p:nvSpPr>
        <p:spPr>
          <a:xfrm>
            <a:off x="4187161" y="3565260"/>
            <a:ext cx="1758062" cy="2288798"/>
          </a:xfrm>
          <a:prstGeom prst="rect">
            <a:avLst/>
          </a:prstGeom>
          <a:solidFill>
            <a:srgbClr val="E3D9F5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552750" y="3407298"/>
            <a:ext cx="1302006" cy="220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88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DOCS</a:t>
            </a:r>
          </a:p>
        </p:txBody>
      </p:sp>
      <p:sp>
        <p:nvSpPr>
          <p:cNvPr id="23" name="Text 20"/>
          <p:cNvSpPr/>
          <p:nvPr/>
        </p:nvSpPr>
        <p:spPr>
          <a:xfrm>
            <a:off x="4283481" y="3662556"/>
            <a:ext cx="1577130" cy="1791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000"/>
              </a:lnSpc>
              <a:spcAft>
                <a:spcPts val="297"/>
              </a:spcAft>
            </a:pPr>
            <a:r>
              <a:rPr lang="en-US" sz="89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YOLO</a:t>
            </a:r>
          </a:p>
          <a:p>
            <a:pPr>
              <a:lnSpc>
                <a:spcPct val="108000"/>
              </a:lnSpc>
              <a:spcAft>
                <a:spcPts val="297"/>
              </a:spcAft>
            </a:pPr>
            <a:r>
              <a:rPr lang="en-US" sz="890" u="sng" dirty="0" b="0">
                <a:solidFill>
                  <a:srgbClr val="1155C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4"/>
              </a:rPr>
              <a:t>docs.ultralytics.com</a:t>
            </a:r>
          </a:p>
          <a:p>
            <a:pPr>
              <a:lnSpc>
                <a:spcPct val="108000"/>
              </a:lnSpc>
              <a:spcAft>
                <a:spcPts val="297"/>
              </a:spcAft>
            </a:pPr>
            <a:r>
              <a:rPr lang="en-US" sz="89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</a:p>
          <a:p>
            <a:pPr>
              <a:lnSpc>
                <a:spcPct val="108000"/>
              </a:lnSpc>
              <a:spcAft>
                <a:spcPts val="297"/>
              </a:spcAft>
            </a:pPr>
            <a:r>
              <a:rPr lang="en-US" sz="890" u="sng" dirty="0" b="0">
                <a:solidFill>
                  <a:srgbClr val="1155C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5"/>
              </a:rPr>
              <a:t>pytorch.org/docs</a:t>
            </a:r>
          </a:p>
          <a:p>
            <a:pPr>
              <a:lnSpc>
                <a:spcPct val="108000"/>
              </a:lnSpc>
              <a:spcAft>
                <a:spcPts val="297"/>
              </a:spcAft>
            </a:pPr>
            <a:r>
              <a:rPr lang="en-US" sz="89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</a:p>
          <a:p>
            <a:pPr>
              <a:lnSpc>
                <a:spcPct val="108000"/>
              </a:lnSpc>
              <a:spcAft>
                <a:spcPts val="297"/>
              </a:spcAft>
            </a:pPr>
            <a:r>
              <a:rPr lang="en-US" sz="890" u="sng" dirty="0" b="0">
                <a:solidFill>
                  <a:srgbClr val="1155C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6"/>
              </a:rPr>
              <a:t>docs.opencv.org</a:t>
            </a:r>
          </a:p>
          <a:p>
            <a:pPr>
              <a:lnSpc>
                <a:spcPct val="108000"/>
              </a:lnSpc>
              <a:spcAft>
                <a:spcPts val="297"/>
              </a:spcAft>
            </a:pPr>
            <a:r>
              <a:rPr lang="en-US" sz="89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</a:t>
            </a:r>
          </a:p>
          <a:p>
            <a:pPr>
              <a:lnSpc>
                <a:spcPct val="108000"/>
              </a:lnSpc>
              <a:spcAft>
                <a:spcPts val="297"/>
              </a:spcAft>
            </a:pPr>
            <a:r>
              <a:rPr lang="en-US" sz="890" u="sng" dirty="0" b="0">
                <a:solidFill>
                  <a:srgbClr val="1155C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7"/>
              </a:rPr>
              <a:t>flask.palletsprojects.com</a:t>
            </a:r>
          </a:p>
        </p:txBody>
      </p:sp>
      <p:sp>
        <p:nvSpPr>
          <p:cNvPr id="24" name="Text 21"/>
          <p:cNvSpPr/>
          <p:nvPr/>
        </p:nvSpPr>
        <p:spPr>
          <a:xfrm>
            <a:off x="508196" y="5608025"/>
            <a:ext cx="5437027" cy="1158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89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r>
              <a:rPr lang="en-US" sz="989" b="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T-IV · ECCV · NeurIPS · CVPR · IDD (IIIT-H) · MoRTH · OpenStreetMap · SIH 2026 · Ultralytics · PyTorch · OpenCV</a:t>
            </a:r>
          </a:p>
        </p:txBody>
      </p:sp>
      <p:sp>
        <p:nvSpPr>
          <p:cNvPr id="25" name="Shape 22"/>
          <p:cNvSpPr/>
          <p:nvPr/>
        </p:nvSpPr>
        <p:spPr>
          <a:xfrm>
            <a:off x="6261855" y="1248435"/>
            <a:ext cx="5563680" cy="4260964"/>
          </a:xfrm>
          <a:prstGeom prst="rect">
            <a:avLst/>
          </a:prstGeom>
          <a:solidFill>
            <a:srgbClr val="FBFCFE"/>
          </a:solidFill>
          <a:ln w="127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32" name="Shape 23"/>
          <p:cNvSpPr/>
          <p:nvPr/>
        </p:nvSpPr>
        <p:spPr>
          <a:xfrm>
            <a:off x="64912" y="6377876"/>
            <a:ext cx="12061876" cy="379959"/>
          </a:xfrm>
          <a:prstGeom prst="rect">
            <a:avLst/>
          </a:prstGeom>
          <a:solidFill>
            <a:srgbClr val="0070C0"/>
          </a:solidFill>
          <a:ln/>
        </p:spPr>
        <p:txBody>
          <a:bodyPr/>
          <a:p/>
        </p:txBody>
      </p:sp>
      <p:sp>
        <p:nvSpPr>
          <p:cNvPr id="33" name="Text 24"/>
          <p:cNvSpPr/>
          <p:nvPr/>
        </p:nvSpPr>
        <p:spPr>
          <a:xfrm>
            <a:off x="336310" y="6377876"/>
            <a:ext cx="7237307" cy="3799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8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</a:t>
            </a:r>
            <a:endParaRPr lang="en-US" sz="1088" dirty="0"/>
          </a:p>
        </p:txBody>
      </p:sp>
      <p:sp>
        <p:nvSpPr>
          <p:cNvPr id="34" name="Shape 25"/>
          <p:cNvSpPr/>
          <p:nvPr/>
        </p:nvSpPr>
        <p:spPr>
          <a:xfrm>
            <a:off x="11671741" y="6377876"/>
            <a:ext cx="407099" cy="379959"/>
          </a:xfrm>
          <a:prstGeom prst="rect">
            <a:avLst/>
          </a:prstGeom>
          <a:solidFill>
            <a:srgbClr val="1B4D8C"/>
          </a:solidFill>
          <a:ln/>
        </p:spPr>
        <p:txBody>
          <a:bodyPr/>
          <a:p/>
        </p:txBody>
      </p:sp>
      <p:sp>
        <p:nvSpPr>
          <p:cNvPr id="35" name="Text 26"/>
          <p:cNvSpPr/>
          <p:nvPr/>
        </p:nvSpPr>
        <p:spPr>
          <a:xfrm>
            <a:off x="11671741" y="6377876"/>
            <a:ext cx="407099" cy="3799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8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</a:p>
        </p:txBody>
      </p:sp>
      <p:pic>
        <p:nvPicPr>
          <p:cNvPr id="37" name="Image 0" descr="logo.png">
            <a:extLst>
              <a:ext uri="{FF2B5EF4-FFF2-40B4-BE49-F238E27FC236}">
                <a16:creationId xmlns:a16="http://schemas.microsoft.com/office/drawing/2014/main" id="{EE5466A1-0BCC-3BD6-409D-6A28A191ADAF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609109" y="45233"/>
            <a:ext cx="2252612" cy="96799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6419088" y="1417320"/>
            <a:ext cx="2560320" cy="1216152"/>
          </a:xfrm>
          <a:prstGeom prst="roundRect">
            <a:avLst>
              <a:gd name="adj" fmla="val 4511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79" y="1600200"/>
            <a:ext cx="73152" cy="4572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48272" y="1563624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C0392B"/>
                </a:solidFill>
                <a:latin typeface="Arial"/>
              </a:rPr>
              <a:t>Road Safety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48272" y="1892808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u="none">
                <a:solidFill>
                  <a:srgbClr val="1B2A41"/>
                </a:solidFill>
                <a:latin typeface="Arial"/>
              </a:rPr>
              <a:t>MoRTH road-safety goals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79" y="218541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u="none">
                <a:solidFill>
                  <a:srgbClr val="333F55"/>
                </a:solidFill>
                <a:latin typeface="Arial"/>
              </a:rPr>
              <a:t>Earlier recognition of path conflicts on Indian roads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25712" y="1417320"/>
            <a:ext cx="2560320" cy="1216152"/>
          </a:xfrm>
          <a:prstGeom prst="roundRect">
            <a:avLst>
              <a:gd name="adj" fmla="val 4511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290304" y="1600200"/>
            <a:ext cx="73152" cy="45720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54896" y="1563624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2F6DB5"/>
                </a:solidFill>
                <a:latin typeface="Arial"/>
              </a:rPr>
              <a:t>IndiaAI Mission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54896" y="1892808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u="none">
                <a:solidFill>
                  <a:srgbClr val="1B2A41"/>
                </a:solidFill>
                <a:latin typeface="Arial"/>
              </a:rPr>
              <a:t>AI for Indian conditions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90304" y="218541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u="none">
                <a:solidFill>
                  <a:srgbClr val="333F55"/>
                </a:solidFill>
                <a:latin typeface="Arial"/>
              </a:rPr>
              <a:t>Perception and planning built for Indian traffic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19088" y="2761488"/>
            <a:ext cx="2560320" cy="1216152"/>
          </a:xfrm>
          <a:prstGeom prst="roundRect">
            <a:avLst>
              <a:gd name="adj" fmla="val 4511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583679" y="2944368"/>
            <a:ext cx="73152" cy="457200"/>
          </a:xfrm>
          <a:prstGeom prst="rect">
            <a:avLst/>
          </a:prstGeom>
          <a:solidFill>
            <a:srgbClr val="E87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48272" y="2907792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E8731A"/>
                </a:solidFill>
                <a:latin typeface="Arial"/>
              </a:rPr>
              <a:t>Atmanirbhar Bharat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48272" y="3236976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u="none">
                <a:solidFill>
                  <a:srgbClr val="1B2A41"/>
                </a:solidFill>
                <a:latin typeface="Arial"/>
              </a:rPr>
              <a:t>Self-reliant technology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79" y="352958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u="none">
                <a:solidFill>
                  <a:srgbClr val="333F55"/>
                </a:solidFill>
                <a:latin typeface="Arial"/>
              </a:rPr>
              <a:t>Home-grown autonomous-driving intelligence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25712" y="2761488"/>
            <a:ext cx="2560320" cy="1216152"/>
          </a:xfrm>
          <a:prstGeom prst="roundRect">
            <a:avLst>
              <a:gd name="adj" fmla="val 4511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290304" y="2944368"/>
            <a:ext cx="73152" cy="4572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54896" y="2907792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2E8B57"/>
                </a:solidFill>
                <a:latin typeface="Arial"/>
              </a:rPr>
              <a:t>Make in India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454896" y="3236976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u="none">
                <a:solidFill>
                  <a:srgbClr val="1B2A41"/>
                </a:solidFill>
                <a:latin typeface="Arial"/>
              </a:rPr>
              <a:t>Indigenous automotive tech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90304" y="352958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u="none">
                <a:solidFill>
                  <a:srgbClr val="333F55"/>
                </a:solidFill>
                <a:latin typeface="Arial"/>
              </a:rPr>
              <a:t>ADAS software developed for Indian vehicles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419088" y="4105656"/>
            <a:ext cx="2560320" cy="1216152"/>
          </a:xfrm>
          <a:prstGeom prst="roundRect">
            <a:avLst>
              <a:gd name="adj" fmla="val 4511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583679" y="4288536"/>
            <a:ext cx="73152" cy="457200"/>
          </a:xfrm>
          <a:prstGeom prst="rect">
            <a:avLst/>
          </a:prstGeom>
          <a:solidFill>
            <a:srgbClr val="6A4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748272" y="4251960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6A4C9C"/>
                </a:solidFill>
                <a:latin typeface="Arial"/>
              </a:rPr>
              <a:t>Smart Cities Mission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48272" y="458114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u="none">
                <a:solidFill>
                  <a:srgbClr val="1B2A41"/>
                </a:solidFill>
                <a:latin typeface="Arial"/>
              </a:rPr>
              <a:t>Intelligent urban mobility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79" y="487375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u="none">
                <a:solidFill>
                  <a:srgbClr val="333F55"/>
                </a:solidFill>
                <a:latin typeface="Arial"/>
              </a:rPr>
              <a:t>Adaptive navigation in dense city traffic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125712" y="4105656"/>
            <a:ext cx="2560320" cy="1216152"/>
          </a:xfrm>
          <a:prstGeom prst="roundRect">
            <a:avLst>
              <a:gd name="adj" fmla="val 4511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290304" y="4288536"/>
            <a:ext cx="73152" cy="457200"/>
          </a:xfrm>
          <a:prstGeom prst="rect">
            <a:avLst/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454896" y="4251960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9E8E"/>
                </a:solidFill>
                <a:latin typeface="Arial"/>
              </a:rPr>
              <a:t>Digital India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54896" y="458114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u="none">
                <a:solidFill>
                  <a:srgbClr val="1B2A41"/>
                </a:solidFill>
                <a:latin typeface="Arial"/>
              </a:rPr>
              <a:t>Software-first innovation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90304" y="487375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u="none">
                <a:solidFill>
                  <a:srgbClr val="333F55"/>
                </a:solidFill>
                <a:latin typeface="Arial"/>
              </a:rPr>
              <a:t>Open, modular and explainable mobility software</a:t>
            </a:r>
          </a:p>
        </p:txBody>
      </p:sp>
    </p:spTree>
    <p:extLst>
      <p:ext uri="{BB962C8B-B14F-4D97-AF65-F5344CB8AC3E}">
        <p14:creationId xmlns:p14="http://schemas.microsoft.com/office/powerpoint/2010/main" val="8232493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1583</TotalTime>
  <Words>1748</Words>
  <Application>Microsoft Office PowerPoint</Application>
  <PresentationFormat>Custom</PresentationFormat>
  <Paragraphs>266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Calibri Light</vt:lpstr>
      <vt:lpstr>Cambria</vt:lpstr>
      <vt:lpstr>Garamond</vt:lpstr>
      <vt:lpstr>Times New Roman</vt:lpstr>
      <vt:lpstr>Office Theme</vt:lpstr>
      <vt:lpstr>SMART INDIA HACKATHON 2026</vt:lpstr>
      <vt:lpstr>PowerPoint Presentation</vt:lpstr>
      <vt:lpstr>PowerPoint Presentation</vt:lpstr>
      <vt:lpstr> Prototype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Sahithi Udutha</cp:lastModifiedBy>
  <cp:revision>4</cp:revision>
  <dcterms:created xsi:type="dcterms:W3CDTF">2026-09-20T20:17:48Z</dcterms:created>
  <dcterms:modified xsi:type="dcterms:W3CDTF">2026-09-26T05:43:42Z</dcterms:modified>
</cp:coreProperties>
</file>